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 <Relationship Id="rId3" Type="http://schemas.openxmlformats.org/package/2006/relationships/metadata/core-properties" Target="docProps/core.xml" />
 <Relationship Id="rId1" Type="http://schemas.openxmlformats.org/officeDocument/2006/relationships/officeDocument" Target="ppt/presentation.xml" />
 <Relationship Id="rId4" Type="http://schemas.openxmlformats.org/officeDocument/2006/relationships/extended-properties" Target="docProps/app.xml" 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556500" cy="106807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14" y="-72"/>
      </p:cViewPr>
      <p:guideLst>
        <p:guide orient="horz" pos="3016"/>
        <p:guide pos="23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
<Relationships xmlns="http://schemas.openxmlformats.org/package/2006/relationships">
 <Relationship Id="rId1" Type="http://schemas.openxmlformats.org/officeDocument/2006/relationships/slideMaster" Target="slideMasters/slideMaster1.xml" />
 <Relationship Id="rId2" Type="http://schemas.openxmlformats.org/officeDocument/2006/relationships/slide" Target="slides/slide1.xml" />
 <Relationship Id="rId3" Type="http://schemas.openxmlformats.org/officeDocument/2006/relationships/presProps" Target="presProps.xml" />
 <Relationship Id="rId4" Type="http://schemas.openxmlformats.org/officeDocument/2006/relationships/viewProps" Target="viewProps.xml" />
 <Relationship Id="rId5" Type="http://schemas.openxmlformats.org/officeDocument/2006/relationships/theme" Target="theme/theme1.xml" />
 <Relationship Id="rId6" Type="http://schemas.openxmlformats.org/officeDocument/2006/relationships/tableStyles" Target="tableStyles.xml" 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2450" y="2974705"/>
            <a:ext cx="6261100" cy="20525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5426288"/>
            <a:ext cx="5156200" cy="244714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63" y="6153339"/>
            <a:ext cx="6261100" cy="190186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863" y="4058633"/>
            <a:ext cx="6261100" cy="209470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8300" y="2234355"/>
            <a:ext cx="3253317" cy="63195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44383" y="2234355"/>
            <a:ext cx="3253317" cy="63195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300" y="2143474"/>
            <a:ext cx="3254596" cy="8932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300" y="3036771"/>
            <a:ext cx="3254596" cy="55171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41827" y="2143474"/>
            <a:ext cx="3255874" cy="8932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41827" y="3036771"/>
            <a:ext cx="3255874" cy="55171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01" y="381259"/>
            <a:ext cx="2423363" cy="162256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9901" y="381259"/>
            <a:ext cx="4117799" cy="81726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8301" y="2003825"/>
            <a:ext cx="2423363" cy="65501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788" y="6703060"/>
            <a:ext cx="4419600" cy="79133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43788" y="855615"/>
            <a:ext cx="4419600" cy="57454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788" y="7494394"/>
            <a:ext cx="4419600" cy="11238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40350" y="536423"/>
            <a:ext cx="1657350" cy="1140672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8300" y="536423"/>
            <a:ext cx="4849283" cy="1140672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8300" y="383477"/>
            <a:ext cx="6629400" cy="1595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300" y="2234355"/>
            <a:ext cx="6629400" cy="6319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 />
 <Relationship Id="rId2" Type="http://schemas.openxmlformats.org/officeDocument/2006/relationships/image" Target="../media/image1.jpeg" 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500" cy="10668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558800" y="546100"/>
            <a:ext cx="69977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150"/>
              </a:lnSpc>
            </a:pPr>
            <a:r>
              <a:rPr lang="en-CA" sz="1001" smtClean="0">
                <a:solidFill>
                  <a:srgbClr val="000000"/>
                </a:solidFill>
                <a:latin typeface="Arial"/>
                <a:cs typeface="Arial"/>
              </a:rPr>
              <a:t>One of the Global One money management products or services</a:t>
            </a:r>
          </a:p>
          <a:p>
            <a:pPr>
              <a:lnSpc>
                <a:spcPts val="1150"/>
              </a:lnSpc>
            </a:pPr>
            <a:endParaRPr lang="en-CA" sz="1001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58800" y="863600"/>
            <a:ext cx="69977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840"/>
              </a:lnSpc>
            </a:pPr>
            <a:r>
              <a:rPr lang="en-CA" sz="1611" b="1" smtClean="0">
                <a:solidFill>
                  <a:srgbClr val="000000"/>
                </a:solidFill>
                <a:latin typeface="Arial Bold"/>
                <a:cs typeface="Arial Bold"/>
              </a:rPr>
              <a:t>Proof of Account Details</a:t>
            </a:r>
          </a:p>
          <a:p>
            <a:pPr>
              <a:lnSpc>
                <a:spcPts val="1840"/>
              </a:lnSpc>
            </a:pPr>
            <a:endParaRPr lang="en-CA" sz="1601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247900" y="1574800"/>
            <a:ext cx="5308600" cy="2413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8" smtClean="0">
                <a:solidFill>
                  <a:srgbClr val="7F7F7F"/>
                </a:solidFill>
                <a:latin typeface="Arial"/>
                <a:cs typeface="Arial"/>
              </a:rPr>
              <a:t>Capitec Bank</a:t>
            </a:r>
          </a:p>
          <a:p>
            <a:pPr>
              <a:lnSpc>
                <a:spcPts val="1610"/>
              </a:lnSpc>
            </a:pPr>
            <a:endParaRPr lang="en-CA" sz="1398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425700" y="1905000"/>
            <a:ext cx="51308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lang="en-CA" sz="1098" smtClean="0">
                <a:solidFill>
                  <a:srgbClr val="7F7F7F"/>
                </a:solidFill>
                <a:latin typeface="Arial"/>
                <a:cs typeface="Arial"/>
              </a:rPr>
              <a:t>19/09/2025</a:t>
            </a:r>
          </a:p>
          <a:p>
            <a:pPr>
              <a:lnSpc>
                <a:spcPts val="1265"/>
              </a:lnSpc>
            </a:pPr>
            <a:endParaRPr lang="en-CA" sz="1098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86000" y="2057400"/>
            <a:ext cx="5270500" cy="3683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CA" sz="1098" smtClean="0">
                <a:solidFill>
                  <a:srgbClr val="7F7F7F"/>
                </a:solidFill>
                <a:latin typeface="Arial"/>
                <a:cs typeface="Arial"/>
              </a:rPr>
              <a:t>Branch: 470010</a:t>
            </a:r>
            <a:br>
              <a:rPr lang="en-CA" sz="1098" smtClean="0">
                <a:solidFill>
                  <a:srgbClr val="000000"/>
                </a:solidFill>
                <a:latin typeface="Times New Roman"/>
              </a:rPr>
            </a:br>
            <a:r>
              <a:rPr lang="en-CA" sz="1098" smtClean="0">
                <a:solidFill>
                  <a:srgbClr val="7F7F7F"/>
                </a:solidFill>
                <a:latin typeface="Arial"/>
                <a:cs typeface="Arial"/>
              </a:rPr>
              <a:t>Device: 9003</a:t>
            </a:r>
          </a:p>
          <a:p>
            <a:pPr>
              <a:lnSpc>
                <a:spcPts val="1300"/>
              </a:lnSpc>
            </a:pPr>
            <a:endParaRPr lang="en-CA" sz="1098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3400" y="3771900"/>
            <a:ext cx="7023100" cy="127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808" b="1" smtClean="0">
                <a:solidFill>
                  <a:srgbClr val="000000"/>
                </a:solidFill>
                <a:latin typeface="Arial Bold"/>
                <a:cs typeface="Arial Bold"/>
              </a:rPr>
              <a:t>To Whom it May Concern</a:t>
            </a:r>
          </a:p>
          <a:p>
            <a:pPr>
              <a:lnSpc>
                <a:spcPts val="920"/>
              </a:lnSpc>
            </a:pPr>
            <a:endParaRPr lang="en-CA" sz="798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33400" y="4114800"/>
            <a:ext cx="7023100" cy="127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808" b="1" smtClean="0">
                <a:solidFill>
                  <a:srgbClr val="000000"/>
                </a:solidFill>
                <a:latin typeface="Arial Bold"/>
                <a:cs typeface="Arial Bold"/>
              </a:rPr>
              <a:t>We hereby confirm that Malibongwe Mkela has the following account(s) at Capitec Bank Limited on 19/09/2025</a:t>
            </a:r>
          </a:p>
          <a:p>
            <a:pPr>
              <a:lnSpc>
                <a:spcPts val="920"/>
              </a:lnSpc>
            </a:pPr>
            <a:endParaRPr lang="en-CA" sz="798">
              <a:solidFill>
                <a:srgbClr val="000000"/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58800" y="4381500"/>
            <a:ext cx="6997700" cy="1651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035"/>
              </a:lnSpc>
            </a:pPr>
            <a:r>
              <a:rPr lang="en-CA" sz="910" b="1" smtClean="0">
                <a:solidFill>
                  <a:srgbClr val="000000"/>
                </a:solidFill>
                <a:latin typeface="Arial Bold"/>
                <a:cs typeface="Arial Bold"/>
              </a:rPr>
              <a:t>Client Details</a:t>
            </a:r>
          </a:p>
          <a:p>
            <a:pPr>
              <a:lnSpc>
                <a:spcPts val="1035"/>
              </a:lnSpc>
            </a:pPr>
            <a:endParaRPr lang="en-CA" sz="900">
              <a:solidFill>
                <a:srgbClr val="000000"/>
              </a:solidFill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58800" y="4546600"/>
            <a:ext cx="4318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Name: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2501900" y="4546600"/>
            <a:ext cx="9779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Malibongwe Mkela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12" name="TextBox 12"/>
          <p:cNvSpPr txBox="1"/>
          <p:nvPr/>
        </p:nvSpPr>
        <p:spPr>
          <a:xfrm>
            <a:off x="558800" y="4699000"/>
            <a:ext cx="10795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ID/Passport Number: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13" name="TextBox 13"/>
          <p:cNvSpPr txBox="1"/>
          <p:nvPr/>
        </p:nvSpPr>
        <p:spPr>
          <a:xfrm>
            <a:off x="2501900" y="4699000"/>
            <a:ext cx="8636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8202035872088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14" name="TextBox 14"/>
          <p:cNvSpPr txBox="1"/>
          <p:nvPr/>
        </p:nvSpPr>
        <p:spPr>
          <a:xfrm>
            <a:off x="558800" y="4851400"/>
            <a:ext cx="5334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Address: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15" name="TextBox 15"/>
          <p:cNvSpPr txBox="1"/>
          <p:nvPr/>
        </p:nvSpPr>
        <p:spPr>
          <a:xfrm>
            <a:off x="2501900" y="4851400"/>
            <a:ext cx="39116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9 NEELS STREET, LAMBTON GARDENS, GERMISTON, JOHANNESBURG, 1401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16" name="TextBox 16"/>
          <p:cNvSpPr txBox="1"/>
          <p:nvPr/>
        </p:nvSpPr>
        <p:spPr>
          <a:xfrm>
            <a:off x="558800" y="5016500"/>
            <a:ext cx="8382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Postal Address: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17" name="TextBox 17"/>
          <p:cNvSpPr txBox="1"/>
          <p:nvPr/>
        </p:nvSpPr>
        <p:spPr>
          <a:xfrm>
            <a:off x="2501900" y="5016500"/>
            <a:ext cx="39116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9 NEELS STREET, LAMBTON GARDENS, GERMISTON, JOHANNESBURG, 1401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18" name="TextBox 18"/>
          <p:cNvSpPr txBox="1"/>
          <p:nvPr/>
        </p:nvSpPr>
        <p:spPr>
          <a:xfrm>
            <a:off x="558800" y="5232400"/>
            <a:ext cx="1016000" cy="152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035"/>
              </a:lnSpc>
            </a:pPr>
            <a:r>
              <a:rPr lang="en-CA" sz="910" b="1" smtClean="0">
                <a:solidFill>
                  <a:srgbClr val="000000"/>
                </a:solidFill>
                <a:latin typeface="Arial Bold"/>
                <a:cs typeface="Arial Bold"/>
              </a:rPr>
              <a:t>Account Details</a:t>
            </a:r>
          </a:p>
          <a:p>
            <a:pPr>
              <a:lnSpc>
                <a:spcPts val="1035"/>
              </a:lnSpc>
            </a:pPr>
          </a:p>
        </p:txBody>
      </p:sp>
      <p:sp>
        <p:nvSpPr>
          <p:cNvPr id="19" name="TextBox 19"/>
          <p:cNvSpPr txBox="1"/>
          <p:nvPr/>
        </p:nvSpPr>
        <p:spPr>
          <a:xfrm>
            <a:off x="558800" y="5397500"/>
            <a:ext cx="8382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Account Status: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20" name="TextBox 20"/>
          <p:cNvSpPr txBox="1"/>
          <p:nvPr/>
        </p:nvSpPr>
        <p:spPr>
          <a:xfrm>
            <a:off x="2501900" y="5397500"/>
            <a:ext cx="4064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Active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21" name="TextBox 21"/>
          <p:cNvSpPr txBox="1"/>
          <p:nvPr/>
        </p:nvSpPr>
        <p:spPr>
          <a:xfrm>
            <a:off x="558800" y="5549900"/>
            <a:ext cx="7874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Account Type: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22" name="TextBox 22"/>
          <p:cNvSpPr txBox="1"/>
          <p:nvPr/>
        </p:nvSpPr>
        <p:spPr>
          <a:xfrm>
            <a:off x="2501900" y="5549900"/>
            <a:ext cx="4953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Savings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23" name="TextBox 23"/>
          <p:cNvSpPr txBox="1"/>
          <p:nvPr/>
        </p:nvSpPr>
        <p:spPr>
          <a:xfrm>
            <a:off x="558800" y="5715000"/>
            <a:ext cx="9144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Account Number: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24" name="TextBox 24"/>
          <p:cNvSpPr txBox="1"/>
          <p:nvPr/>
        </p:nvSpPr>
        <p:spPr>
          <a:xfrm>
            <a:off x="2501900" y="5715000"/>
            <a:ext cx="6985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1247811989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25" name="TextBox 25"/>
          <p:cNvSpPr txBox="1"/>
          <p:nvPr/>
        </p:nvSpPr>
        <p:spPr>
          <a:xfrm>
            <a:off x="558800" y="5867400"/>
            <a:ext cx="6858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Bank Name: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26" name="TextBox 26"/>
          <p:cNvSpPr txBox="1"/>
          <p:nvPr/>
        </p:nvSpPr>
        <p:spPr>
          <a:xfrm>
            <a:off x="2501900" y="5867400"/>
            <a:ext cx="4826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Capitec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27" name="TextBox 27"/>
          <p:cNvSpPr txBox="1"/>
          <p:nvPr/>
        </p:nvSpPr>
        <p:spPr>
          <a:xfrm>
            <a:off x="558800" y="6019800"/>
            <a:ext cx="7493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Branch Code: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28" name="TextBox 28"/>
          <p:cNvSpPr txBox="1"/>
          <p:nvPr/>
        </p:nvSpPr>
        <p:spPr>
          <a:xfrm>
            <a:off x="2501900" y="6019800"/>
            <a:ext cx="4699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470010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29" name="TextBox 29"/>
          <p:cNvSpPr txBox="1"/>
          <p:nvPr/>
        </p:nvSpPr>
        <p:spPr>
          <a:xfrm>
            <a:off x="558800" y="6172200"/>
            <a:ext cx="7620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Date Opened: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30" name="TextBox 30"/>
          <p:cNvSpPr txBox="1"/>
          <p:nvPr/>
        </p:nvSpPr>
        <p:spPr>
          <a:xfrm>
            <a:off x="2501900" y="6172200"/>
            <a:ext cx="647700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2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2010-12-28</a:t>
            </a:r>
          </a:p>
          <a:p>
            <a:pPr>
              <a:lnSpc>
                <a:spcPts val="920"/>
              </a:lnSpc>
            </a:pPr>
          </a:p>
        </p:txBody>
      </p:sp>
      <p:sp>
        <p:nvSpPr>
          <p:cNvPr id="31" name="TextBox 31"/>
          <p:cNvSpPr txBox="1"/>
          <p:nvPr/>
        </p:nvSpPr>
        <p:spPr>
          <a:xfrm>
            <a:off x="533400" y="6591300"/>
            <a:ext cx="70231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The account details provided herein should not be read as extending by implication to any other matters not specifically addressed. The account</a:t>
            </a:r>
            <a:br>
              <a:rPr lang="en-CA" sz="798" smtClean="0">
                <a:solidFill>
                  <a:srgbClr val="000000"/>
                </a:solidFill>
                <a:latin typeface="Times New Roman"/>
              </a:rPr>
            </a:b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details are given as at the above date and no obligation is hereby assumed to update the account details on any future date.</a:t>
            </a:r>
          </a:p>
          <a:p>
            <a:pPr>
              <a:lnSpc>
                <a:spcPts val="900"/>
              </a:lnSpc>
            </a:pPr>
            <a:endParaRPr lang="en-CA" sz="798">
              <a:solidFill>
                <a:srgbClr val="000000"/>
              </a:solidFill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533400" y="6946900"/>
            <a:ext cx="70231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Capitec Bank Limited shall have no liability whether in contract, delict (including without limitation negligence) or otherwise to the above</a:t>
            </a:r>
            <a:br>
              <a:rPr lang="en-CA" sz="798" smtClean="0">
                <a:solidFill>
                  <a:srgbClr val="000000"/>
                </a:solidFill>
                <a:latin typeface="Times New Roman"/>
              </a:rPr>
            </a:br>
            <a:r>
              <a:rPr lang="en-CA" sz="798" smtClean="0">
                <a:solidFill>
                  <a:srgbClr val="000000"/>
                </a:solidFill>
                <a:latin typeface="Arial"/>
                <a:cs typeface="Arial"/>
              </a:rPr>
              <a:t>accountholder or any third party in relation to the account details contained herein.</a:t>
            </a:r>
          </a:p>
          <a:p>
            <a:pPr>
              <a:lnSpc>
                <a:spcPts val="900"/>
              </a:lnSpc>
            </a:pPr>
            <a:endParaRPr lang="en-CA" sz="798">
              <a:solidFill>
                <a:srgbClr val="000000"/>
              </a:solidFill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3924300" y="9867900"/>
            <a:ext cx="3632200" cy="1143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690"/>
              </a:lnSpc>
            </a:pPr>
            <a:r>
              <a:rPr lang="en-CA" sz="610" b="1" smtClean="0">
                <a:solidFill>
                  <a:srgbClr val="000000"/>
                </a:solidFill>
                <a:latin typeface="Arial Bold"/>
                <a:cs typeface="Arial Bold"/>
              </a:rPr>
              <a:t>24hr Client Care Centre</a:t>
            </a:r>
            <a:r>
              <a:rPr lang="en-CA" sz="600" smtClean="0">
                <a:solidFill>
                  <a:srgbClr val="000000"/>
                </a:solidFill>
                <a:latin typeface="Arial"/>
                <a:cs typeface="Arial"/>
              </a:rPr>
              <a:t> 0860 10 20 43 </a:t>
            </a:r>
            <a:r>
              <a:rPr lang="en-CA" sz="610" b="1" smtClean="0">
                <a:solidFill>
                  <a:srgbClr val="000000"/>
                </a:solidFill>
                <a:latin typeface="Arial Bold"/>
                <a:cs typeface="Arial Bold"/>
              </a:rPr>
              <a:t>E</a:t>
            </a:r>
            <a:r>
              <a:rPr lang="en-CA" sz="600" smtClean="0">
                <a:solidFill>
                  <a:srgbClr val="000000"/>
                </a:solidFill>
                <a:latin typeface="Arial"/>
                <a:cs typeface="Arial"/>
              </a:rPr>
              <a:t> ClientCare@capitecbank.co.za </a:t>
            </a:r>
            <a:r>
              <a:rPr lang="en-CA" sz="610" b="1" smtClean="0">
                <a:solidFill>
                  <a:srgbClr val="000000"/>
                </a:solidFill>
                <a:latin typeface="Arial Bold"/>
                <a:cs typeface="Arial Bold"/>
              </a:rPr>
              <a:t>capitecbank.co.za</a:t>
            </a:r>
          </a:p>
          <a:p>
            <a:pPr>
              <a:lnSpc>
                <a:spcPts val="690"/>
              </a:lnSpc>
            </a:pPr>
            <a:endParaRPr lang="en-CA" sz="600">
              <a:solidFill>
                <a:srgbClr val="000000"/>
              </a:solidFill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371600" y="9956800"/>
            <a:ext cx="6184900" cy="1143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690"/>
              </a:lnSpc>
              <a:tabLst>
                <a:tab pos="5334000" algn="l"/>
              </a:tabLst>
            </a:pPr>
            <a:r>
              <a:rPr lang="en-CA" sz="600" smtClean="0">
                <a:solidFill>
                  <a:srgbClr val="000000"/>
                </a:solidFill>
                <a:latin typeface="Arial"/>
                <a:cs typeface="Arial"/>
              </a:rPr>
              <a:t>Capitec Bank is an authorised financial services (FSP46669) and registered credit provider (NCRCP13). Capitec Bank Limited Reg. No.: 1980/003695/06.</a:t>
            </a:r>
            <a:r>
              <a:rPr lang="en-CA" sz="600" smtClean="0">
                <a:solidFill>
                  <a:srgbClr val="000000"/>
                </a:solidFill>
                <a:latin typeface="Arial"/>
                <a:cs typeface="Arial"/>
              </a:rPr>
              <a:t>	Page 1 of 1</a:t>
            </a:r>
          </a:p>
          <a:p>
            <a:pPr>
              <a:lnSpc>
                <a:spcPts val="690"/>
              </a:lnSpc>
            </a:pPr>
            <a:endParaRPr lang="en-CA" sz="600">
              <a:solidFill>
                <a:srgbClr val="000000"/>
              </a:solidFill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568700" y="10121900"/>
            <a:ext cx="3987800" cy="1143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690"/>
              </a:lnSpc>
            </a:pPr>
            <a:r>
              <a:rPr lang="en-CA" sz="600" smtClean="0">
                <a:solidFill>
                  <a:srgbClr val="000000"/>
                </a:solidFill>
                <a:latin typeface="Arial"/>
                <a:cs typeface="Arial"/>
              </a:rPr>
              <a:t>Unique Document No.: 0a9830bb-5855-4a47-a31b-5bf47be74653 / 406 / V4.0 - 14/04/2018 (ddmmccyy)</a:t>
            </a:r>
          </a:p>
          <a:p>
            <a:pPr>
              <a:lnSpc>
                <a:spcPts val="690"/>
              </a:lnSpc>
            </a:pPr>
            <a:endParaRPr lang="en-CA" sz="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Privet1</vt:lpstr>
    </vt:vector>
  </TitlesOfParts>
  <Company>Investintech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A2E_Engine</dc:creator>
  <cp:lastModifiedBy>A2E_Engine</cp:lastModifiedBy>
  <dcterms:created xsi:type="dcterms:W3CDTF">2025-09-27T19:13:21Z</dcterms:created>
  <dcterms:modified xsi:type="dcterms:W3CDTF">2025-09-27T19:13:21Z</dcterms:modified>
</cp:coreProperties>
</file>