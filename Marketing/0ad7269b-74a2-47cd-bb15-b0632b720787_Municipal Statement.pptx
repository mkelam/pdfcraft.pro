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Lst>
  <p:notesMasterIdLst>
    <p:notesMasterId r:id="rId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notesMaster" Target="notesMasters/notesMaster1.xml"/><Relationship Id="rId7" Type="http://schemas.openxmlformats.org/officeDocument/2006/relationships/presProps" Target="presProps.xml"/><Relationship Id="rId8" Type="http://schemas.openxmlformats.org/officeDocument/2006/relationships/viewProps" Target="viewProps.xml"/><Relationship Id="rId9" Type="http://schemas.openxmlformats.org/officeDocument/2006/relationships/theme" Target="theme/theme1.xml"/><Relationship Id="rId1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Page 1 Content:
30 Days60 Days90 Days90 + Days
Total C harge 
(excl.VAT)
Total VAT
Total C harge 
(incl.VAT)
0.000.000.000.001022.71-53.14969.57
Amount In Advance
0.00
Due Date
2025-10-13
Amount Payable
970.00
Due Date
2025-10-13
Amount Payable
970.00
&gt; &gt;&gt;&gt;&gt;&gt;&gt; 9 1339 2608 2948
510
2608294851
11544
2608294851
w w w .ekurhuleni.gov.za
a partnership that w orks
w w w .siyakhokha.ekurhuleni.gov.za
Siyakhokha Portal
siyakhokha@ekurhuleni.gov.za
Phone: 0860 543 000
Email:
callcentre@ekurhuleni.gov.za
Tw itter: @EMM_Call_Centre
COPY TAX INVOICE
VAT Reg No. 4280193493
Invoice Number:
26082948512025/09/13
NameM MKELAAccount Number2608294851
Ward Number39Payments Included Until2025-09-13Vat Reg. No.
Street Address
Electricity / Water Deposit
Statement Date
CashGuarantee
0009 NEELS593.000.002025-09-13
Township
Sectional TitleProperty Valuation
Sectional Title NameUnit NoTotal Value
KLIPPOORTJE AGRICULTURAL LOTS1185000
ERF NumberM88 000 00000059Portion00013 0000 0000Area m2991
DateIconDetailsCharge (excl. VAT)VATCharge (incl. VAT)
08/17BALANCE BROUGHT FORW ARD5383.395383.39
09/03PAYMENT - THANK YOU-5000.00-5000.00
SUB TOTAL383.39383.39
08/18FINAL NOTICE211.7431.76243.50
PROPERTY RATES
09/13PROPERTY RATES RESIDENTIAL1137.601137.60
09/13VA-VALUE-EXCLUSION-144.00-144.00
REFUSE REMOVAL
09/13REFUSE: DOMESTIC 240L BIN x 1 units236.2535.44271.69
WATER SERVICE
09/13
METER-NO 140047920 TARIFF: W ATER-
RESIDENTIAL
Curr = 2098 Prev = 2085 Cons = 13
Reading dates: Curr 25/09/05 Prev 25/06/02
MESSAGE
www.ekurhuleni.gov.za
a partnership that w orks
w w w .siyakhokha.ekurhuleni.gov.za
Siyakhokha Portal
siyakhokha@ekurhuleni.gov.za
Phone: 0860 543 000
Email:
callcentre@ekurhuleni.gov.za
Tw itter: @EMM_Call_Centre
REMITTANCE
ADVICE
VAT Reg No.
4280193493
Name
M MKELA
Account Number
2608294851
Page: 1 of 3
30 Days60 Days90 Days90 + Days
Total C harge 
(excl.VAT)
Total VAT
Total C harge 
(incl.VAT)
0.000.000.000.001022.71-53.14969.57
Amount In Advance
0.00
Due Date
2025-10-13
Amount Payable
970.00
Due Date
2025-10-13
Amount Payable
970.00
&gt; &gt;&gt;&gt;&gt;&gt;&gt; 9 1339 2608 2948
510
2608294851
11544
2608294851
w w w .ekurhuleni.gov.za
a partnership that w orks
w w w .siyakhokha.ekurhuleni.gov.za
Siyakhokha Portal
siyakhokha@ekurhuleni.gov.za
Phone: 0860 543 000
Email:
ca
--- Original PDF Text Content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Page 2 Content:
llcentre@ekurhuleni.gov.za
Tw itter: @EMM_Call_Centre
COPY TAX INVOICE
VAT Reg No. 4280193493
Invoice Number:
26082948512025/09/13
NameM MKELAAccount Number2608294851
Ward Number39Payments Included Until2025-09-13Vat Reg. No.
Street Address
Electricity / Water Deposit
Statement Date
CashGuarantee
0009 NEELS593.000.002025-09-13
Township
Sectional TitleProperty Valuation
Sectional Title NameUnit NoTotal Value
KLIPPOORTJE AGRICULTURAL LOTS1185000
ERF NumberM88 000 00000059Portion00013 0000 0000Area m2991
W ATER 13 kl283.4642.52325.98
09/13
METER-NO 140047920 TARIFF: W ATER-
RESIDENTIAL
INTERIM REVERSAL 28.000 Kl-819.73-122.96-942.69
SEWERAGE
09/13SEW ER-RESIDENTIAL 13 kl339.4750.92390.39
09/13INTERIM REVERSAL-605.47-90.82-696.29
TOTAL CURRENT LEVY 586.18
MESSAGE
www.ekurhuleni.gov.za
a partnership that w orks
w w w .siyakhokha.ekurhuleni.gov.za
Siyakhokha Portal
siyakhokha@ekurhuleni.gov.za
Phone: 0860 543 000
Email:
callcentre@ekurhuleni.gov.za
Tw itter: @EMM_Call_Centre
REMITTANCE
ADVICE
VAT Reg No.
4280193493
Name
M MKELA
Account Number
2608294851
Page: 2 of 3
EMERGENCY PHONE NUMBERS
Municipal Services Complaints Call Centre 
(Non-Life Threatening )
Life Threatening Emergencies
0860-543 000011 458-0911 / 10177
Electricity supply
W ater &amp; Sew erage supply
Roads, Transport &amp; Civil W orks
Health &amp; Social Development
Environment, Solid W aste &amp; Parks
All Fires
Emergency Medical Assistance
Metro Police
Incidents / Disasters
IMPORTANT NOTICE
1.PRE-TERMINATION NOTICE
PRE-TERMINATION NOTICE ISSUED IN TERMS OF SECTION 12.(1) OF THE
ELECTRICAL SUPPLY BY-LAWS IN RESPECT OF CURRENT ACCOUNT AND DEBT
BALANCE BROUGHT FORWARD. 
FAILURE TO PAY THE AMOUNT PAYABLE BEFORE DUE DATE, MAY RESULT IN
ELECTRICITY SUPPLY BEING DISCONNECTED AND PRE-PAID PURCHASES
BLOCKED WITHOUT ANY FURTHER NOTICE. 
PRESCRIBED FEE FOR DISCONNECTION AND RECONNECTION SHALL BE
CHARGED AND YOUR DEPOSIT MAY BE INCREASED. 
IMMEDIATE RECONNECTION OF SUPPLY AFTER PAYMENT CANNOT BE ASSURED. 
PRE-PAID ELECTRICITY – IN THE EVENT THAT MUNICIPAL SERVICES ACCOUNT
IS IN ARREARS, PURCHASE OF PRE-PAID ELECTRICITY WILL BE BLOCKED ON
VENDING SYSTEM UNTIL ALL ARREARS HAVE BEEN SETTLED IN FULL OR A
SUITABLE ARRANGEMENT TO SETTLE THE BALANCE HAS BEEN MADE. 
2.ALLOCATION OF PAYM
--- Original PDF Text Content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Page 3 Content:
ENTS 
PART PAYMENT OF YOUR ACCOUNT WILL BE ALLOCATED IN THE PRIORITY
ORDER AS DETERMINED BY THE CITY OF EKURHULENI FROM TIME TO TIME. 
3.DEPOSITS 
CONSUMER DEPOSITS ARE NOT TRANSFERABLE.
4.FINALREADING 
FINAL READING REQUESTS MUST BE APPLIED FOR IN WRITING AT LEAST 7
DAYS PRIOR TO PROPERTY BEING VACATED OR TERMINATION DATE. 
5.INTEREST 
INTEREST WILL BE CHARGED ON ARREAR ACCOUNT IF PAYMENT IS NOT
RECEIPTED ON OR BEFORE ACCOUNT DUE DATE. 
6.PAYMENT METHODS 
6.1OFFICIAL BANKER - STANDARD BANK 
6.2DIRECT PAYMENTS AT STANDARD BANK BRANCH - INDICATE ON DEPOSIT
SLIP THE RELEVANT AUTHORITY TO CREDIT AND TEN-DIGIT MUNICIPAL
SERVICES ACCOUNT NUMBER – 
CoE Alberton Direct Std Banking
CoE Benoni Direct Std Banking
CoE Boksburg Direct Std Banking
CoE Brakpan Direct Std Banking
CoE Edenvale Direct Std Banking
CoE Germ iston Direct Std Banking
CoE Kem pton Park Incom e Std
CoE Nigel Direct Std Banking
CoE Springs Direct Std Banking
6.3ELECTRONIC PAYMENT : CITY OF EKURHULENI IS A LISTED BENEFICIARY ON
ALL MAJOR INTERNET BANKING PLATFORMS. IT IS MANDATORY TO INCLUDE
TEN DIGIT MUNICIPAL SERVICES ACCOUNT NUMBER 
6.4SIYAKHOKHA - VIEW STATEMENT AND MAKE PAYMENT ONLINE BY
REGISTERING ON THE CITY OF EKURHULENI PORTAL
WWW.SIYAKHOKHA.EKURHULENI.GOV.ZA 
6.53 PARTY VENDORS : SOUTH AFRICAN POST OFFICE (SAPO), EASYPAY, BLU
PAY, PAY@ - CONSUMER ACCOUNT STATEMENT MUST BE PRESENTED. 
6.6DEBIT AND CREDIT CARDS - AT ANY CITY OF EKURHULENI CUSTOMER CARE
CENTRES AND PAYPOINTS. 
6.7CASH PAYMENTS - AT ANY CITY OF EKURHULENI CUSTOMER CARE CENTRES
AND PAYPOINTS. MAXIMUM INDIVIDUAL DEPOSIT LIMITED TO R 30 000 PER
TRANSACTION PER CUSTOMER ACCOUNT OR INDIVIDUAL DEPOSIT. 
6.8NOTE - ELECTRONIC PAYMENTS THROUGH FINANCIAL INSTITUTIONS OR ANY
OTHER 3rd PARTY SYSTEM MUST BE EFFECTED NOT LATER THAN 7 DAYS
PRIOR TO ACCOUNT DUE DATE. PAYMENT WILL ONLY BE DEEMED TO HAVE
BEEN RECEIVED WHEN RECEIPTED THROUGH COUNCILS FINANCIAL SYSTEM. 
7.THIS STATEMENT MUST BE PRODUCED WHEN MAKING A PAYMENT. 
8.IF YOU DISAGREE WITH THE CONTENTS OF THIS ACCOUNT, PLEASE NOTIFY
THE CHIEF FINANCIAL OFFICER IN WRITING, WITHIN A PERIOD OF 7 DAYS
AFTER STATEMENT DATE. 
9.NON-RECEIPT OF AN ACCOUNT DOES NOT EXEMPT ACCOUNT HOLDER FROM
THE LIABILITY TO PAY ACCOUNT ON DUE DATE. 
RD
Page: 3 of 3
--- Original PDF Text Content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0" y="0"/>
            <a:ext cx="9144000" cy="5143500"/>
          </a:xfrm>
          <a:prstGeom prst="rect">
            <a:avLst/>
          </a:prstGeom>
        </p:spPr>
      </p:pic>
      <p:sp>
        <p:nvSpPr>
          <p:cNvPr id="4" name="Text 0"/>
          <p:cNvSpPr/>
          <p:nvPr/>
        </p:nvSpPr>
        <p:spPr>
          <a:xfrm>
            <a:off x="0" y="0"/>
            <a:ext cx="9144" cy="9144"/>
          </a:xfrm>
          <a:prstGeom prst="rect">
            <a:avLst/>
          </a:prstGeom>
          <a:noFill/>
          <a:ln/>
        </p:spPr>
        <p:txBody>
          <a:bodyPr wrap="square" rtlCol="0" anchor="ctr"/>
          <a:lstStyle/>
          <a:p>
            <a:pPr indent="0" marL="0">
              <a:buNone/>
            </a:pPr>
            <a:r>
              <a:rPr lang="en-US" sz="100" dirty="0">
                <a:solidFill>
                  <a:srgbClr val="FFFFFF"/>
                </a:solidFill>
              </a:rPr>
              <a:t>Page 1: 30 Days60 Days90 Days90 + Days</a:t>
            </a:r>
            <a:endParaRPr lang="en-US" sz="100" dirty="0"/>
          </a:p>
          <a:p>
            <a:pPr indent="0" marL="0">
              <a:buNone/>
            </a:pPr>
            <a:r>
              <a:rPr lang="en-US" sz="100" dirty="0">
                <a:solidFill>
                  <a:srgbClr val="FFFFFF"/>
                </a:solidFill>
              </a:rPr>
              <a:t>Total C harge </a:t>
            </a:r>
            <a:endParaRPr lang="en-US" sz="100" dirty="0"/>
          </a:p>
          <a:p>
            <a:pPr indent="0" marL="0">
              <a:buNone/>
            </a:pPr>
            <a:r>
              <a:rPr lang="en-US" sz="100" dirty="0">
                <a:solidFill>
                  <a:srgbClr val="FFFFFF"/>
                </a:solidFill>
              </a:rPr>
              <a:t>(excl.VAT)</a:t>
            </a:r>
            <a:endParaRPr lang="en-US" sz="100" dirty="0"/>
          </a:p>
          <a:p>
            <a:pPr indent="0" marL="0">
              <a:buNone/>
            </a:pPr>
            <a:r>
              <a:rPr lang="en-US" sz="100" dirty="0">
                <a:solidFill>
                  <a:srgbClr val="FFFFFF"/>
                </a:solidFill>
              </a:rPr>
              <a:t>Total VAT</a:t>
            </a:r>
            <a:endParaRPr lang="en-US" sz="100" dirty="0"/>
          </a:p>
          <a:p>
            <a:pPr indent="0" marL="0">
              <a:buNone/>
            </a:pPr>
            <a:r>
              <a:rPr lang="en-US" sz="100" dirty="0">
                <a:solidFill>
                  <a:srgbClr val="FFFFFF"/>
                </a:solidFill>
              </a:rPr>
              <a:t>Total C harge </a:t>
            </a:r>
            <a:endParaRPr lang="en-US" sz="100" dirty="0"/>
          </a:p>
          <a:p>
            <a:pPr indent="0" marL="0">
              <a:buNone/>
            </a:pPr>
            <a:r>
              <a:rPr lang="en-US" sz="100" dirty="0">
                <a:solidFill>
                  <a:srgbClr val="FFFFFF"/>
                </a:solidFill>
              </a:rPr>
              <a:t>(incl.VAT)</a:t>
            </a:r>
            <a:endParaRPr lang="en-US" sz="100" dirty="0"/>
          </a:p>
          <a:p>
            <a:pPr indent="0" marL="0">
              <a:buNone/>
            </a:pPr>
            <a:r>
              <a:rPr lang="en-US" sz="100" dirty="0">
                <a:solidFill>
                  <a:srgbClr val="FFFFFF"/>
                </a:solidFill>
              </a:rPr>
              <a:t>0.000.0...</a:t>
            </a:r>
            <a:endParaRPr lang="en-US" sz="100" dirty="0"/>
          </a:p>
        </p:txBody>
      </p:sp>
      <p:sp>
        <p:nvSpPr>
          <p:cNvPr id="5" name="Text 1"/>
          <p:cNvSpPr/>
          <p:nvPr/>
        </p:nvSpPr>
        <p:spPr>
          <a:xfrm>
            <a:off x="8686800" y="4846320"/>
            <a:ext cx="365760" cy="182880"/>
          </a:xfrm>
          <a:prstGeom prst="rect">
            <a:avLst/>
          </a:prstGeom>
          <a:noFill/>
          <a:ln/>
        </p:spPr>
        <p:txBody>
          <a:bodyPr wrap="square" rtlCol="0" anchor="ctr"/>
          <a:lstStyle/>
          <a:p>
            <a:pPr algn="ctr" indent="0" marL="0">
              <a:buNone/>
            </a:pPr>
            <a:r>
              <a:rPr lang="en-US" sz="800" dirty="0">
                <a:solidFill>
                  <a:srgbClr val="CCCCCC"/>
                </a:solidFill>
              </a:rPr>
              <a:t>1</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0" y="0"/>
            <a:ext cx="9144000" cy="5143500"/>
          </a:xfrm>
          <a:prstGeom prst="rect">
            <a:avLst/>
          </a:prstGeom>
        </p:spPr>
      </p:pic>
      <p:sp>
        <p:nvSpPr>
          <p:cNvPr id="4" name="Text 0"/>
          <p:cNvSpPr/>
          <p:nvPr/>
        </p:nvSpPr>
        <p:spPr>
          <a:xfrm>
            <a:off x="0" y="0"/>
            <a:ext cx="9144" cy="9144"/>
          </a:xfrm>
          <a:prstGeom prst="rect">
            <a:avLst/>
          </a:prstGeom>
          <a:noFill/>
          <a:ln/>
        </p:spPr>
        <p:txBody>
          <a:bodyPr wrap="square" rtlCol="0" anchor="ctr"/>
          <a:lstStyle/>
          <a:p>
            <a:pPr indent="0" marL="0">
              <a:buNone/>
            </a:pPr>
            <a:r>
              <a:rPr lang="en-US" sz="100" dirty="0">
                <a:solidFill>
                  <a:srgbClr val="FFFFFF"/>
                </a:solidFill>
              </a:rPr>
              <a:t>Page 2: llcentre@ekurhuleni.gov.za</a:t>
            </a:r>
            <a:endParaRPr lang="en-US" sz="100" dirty="0"/>
          </a:p>
          <a:p>
            <a:pPr indent="0" marL="0">
              <a:buNone/>
            </a:pPr>
            <a:r>
              <a:rPr lang="en-US" sz="100" dirty="0">
                <a:solidFill>
                  <a:srgbClr val="FFFFFF"/>
                </a:solidFill>
              </a:rPr>
              <a:t>Tw itter: @EMM_Call_Centre</a:t>
            </a:r>
            <a:endParaRPr lang="en-US" sz="100" dirty="0"/>
          </a:p>
          <a:p>
            <a:pPr indent="0" marL="0">
              <a:buNone/>
            </a:pPr>
            <a:r>
              <a:rPr lang="en-US" sz="100" dirty="0">
                <a:solidFill>
                  <a:srgbClr val="FFFFFF"/>
                </a:solidFill>
              </a:rPr>
              <a:t>COPY TAX INVOICE</a:t>
            </a:r>
            <a:endParaRPr lang="en-US" sz="100" dirty="0"/>
          </a:p>
          <a:p>
            <a:pPr indent="0" marL="0">
              <a:buNone/>
            </a:pPr>
            <a:r>
              <a:rPr lang="en-US" sz="100" dirty="0">
                <a:solidFill>
                  <a:srgbClr val="FFFFFF"/>
                </a:solidFill>
              </a:rPr>
              <a:t>VAT Reg No. 4280193493</a:t>
            </a:r>
            <a:endParaRPr lang="en-US" sz="100" dirty="0"/>
          </a:p>
          <a:p>
            <a:pPr indent="0" marL="0">
              <a:buNone/>
            </a:pPr>
            <a:r>
              <a:rPr lang="en-US" sz="100" dirty="0">
                <a:solidFill>
                  <a:srgbClr val="FFFFFF"/>
                </a:solidFill>
              </a:rPr>
              <a:t>Invoic...</a:t>
            </a:r>
            <a:endParaRPr lang="en-US" sz="100" dirty="0"/>
          </a:p>
        </p:txBody>
      </p:sp>
      <p:sp>
        <p:nvSpPr>
          <p:cNvPr id="5" name="Text 1"/>
          <p:cNvSpPr/>
          <p:nvPr/>
        </p:nvSpPr>
        <p:spPr>
          <a:xfrm>
            <a:off x="8686800" y="4846320"/>
            <a:ext cx="365760" cy="182880"/>
          </a:xfrm>
          <a:prstGeom prst="rect">
            <a:avLst/>
          </a:prstGeom>
          <a:noFill/>
          <a:ln/>
        </p:spPr>
        <p:txBody>
          <a:bodyPr wrap="square" rtlCol="0" anchor="ctr"/>
          <a:lstStyle/>
          <a:p>
            <a:pPr algn="ctr" indent="0" marL="0">
              <a:buNone/>
            </a:pPr>
            <a:r>
              <a:rPr lang="en-US" sz="800" dirty="0">
                <a:solidFill>
                  <a:srgbClr val="CCCCCC"/>
                </a:solidFill>
              </a:rPr>
              <a:t>2</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0" y="0"/>
            <a:ext cx="9144000" cy="5143500"/>
          </a:xfrm>
          <a:prstGeom prst="rect">
            <a:avLst/>
          </a:prstGeom>
        </p:spPr>
      </p:pic>
      <p:sp>
        <p:nvSpPr>
          <p:cNvPr id="4" name="Text 0"/>
          <p:cNvSpPr/>
          <p:nvPr/>
        </p:nvSpPr>
        <p:spPr>
          <a:xfrm>
            <a:off x="0" y="0"/>
            <a:ext cx="9144" cy="9144"/>
          </a:xfrm>
          <a:prstGeom prst="rect">
            <a:avLst/>
          </a:prstGeom>
          <a:noFill/>
          <a:ln/>
        </p:spPr>
        <p:txBody>
          <a:bodyPr wrap="square" rtlCol="0" anchor="ctr"/>
          <a:lstStyle/>
          <a:p>
            <a:pPr indent="0" marL="0">
              <a:buNone/>
            </a:pPr>
            <a:r>
              <a:rPr lang="en-US" sz="100" dirty="0">
                <a:solidFill>
                  <a:srgbClr val="FFFFFF"/>
                </a:solidFill>
              </a:rPr>
              <a:t>Page 3: ENTS </a:t>
            </a:r>
            <a:endParaRPr lang="en-US" sz="100" dirty="0"/>
          </a:p>
          <a:p>
            <a:pPr indent="0" marL="0">
              <a:buNone/>
            </a:pPr>
            <a:r>
              <a:rPr lang="en-US" sz="100" dirty="0">
                <a:solidFill>
                  <a:srgbClr val="FFFFFF"/>
                </a:solidFill>
              </a:rPr>
              <a:t>PART PAYMENT OF YOUR ACCOUNT WILL BE ALLOCATED IN THE PRIORITY</a:t>
            </a:r>
            <a:endParaRPr lang="en-US" sz="100" dirty="0"/>
          </a:p>
          <a:p>
            <a:pPr indent="0" marL="0">
              <a:buNone/>
            </a:pPr>
            <a:r>
              <a:rPr lang="en-US" sz="100" dirty="0">
                <a:solidFill>
                  <a:srgbClr val="FFFFFF"/>
                </a:solidFill>
              </a:rPr>
              <a:t>ORDER AS DETERMINED BY THE CITY...</a:t>
            </a:r>
            <a:endParaRPr lang="en-US" sz="100" dirty="0"/>
          </a:p>
        </p:txBody>
      </p:sp>
      <p:sp>
        <p:nvSpPr>
          <p:cNvPr id="5" name="Text 1"/>
          <p:cNvSpPr/>
          <p:nvPr/>
        </p:nvSpPr>
        <p:spPr>
          <a:xfrm>
            <a:off x="8686800" y="4846320"/>
            <a:ext cx="365760" cy="182880"/>
          </a:xfrm>
          <a:prstGeom prst="rect">
            <a:avLst/>
          </a:prstGeom>
          <a:noFill/>
          <a:ln/>
        </p:spPr>
        <p:txBody>
          <a:bodyPr wrap="square" rtlCol="0" anchor="ctr"/>
          <a:lstStyle/>
          <a:p>
            <a:pPr algn="ctr" indent="0" marL="0">
              <a:buNone/>
            </a:pPr>
            <a:r>
              <a:rPr lang="en-US" sz="800" dirty="0">
                <a:solidFill>
                  <a:srgbClr val="CCCCCC"/>
                </a:solidFill>
              </a:rPr>
              <a:t>3</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9FA"/>
        </a:solidFill>
      </p:bgPr>
    </p:bg>
    <p:spTree>
      <p:nvGrpSpPr>
        <p:cNvPr id="1" name=""/>
        <p:cNvGrpSpPr/>
        <p:nvPr/>
      </p:nvGrpSpPr>
      <p:grpSpPr>
        <a:xfrm>
          <a:off x="0" y="0"/>
          <a:ext cx="0" cy="0"/>
          <a:chOff x="0" y="0"/>
          <a:chExt cx="0" cy="0"/>
        </a:xfrm>
      </p:grpSpPr>
      <p:sp>
        <p:nvSpPr>
          <p:cNvPr id="2" name="Text 0"/>
          <p:cNvSpPr/>
          <p:nvPr/>
        </p:nvSpPr>
        <p:spPr>
          <a:xfrm>
            <a:off x="457200" y="457200"/>
            <a:ext cx="8229600" cy="731520"/>
          </a:xfrm>
          <a:prstGeom prst="rect">
            <a:avLst/>
          </a:prstGeom>
          <a:noFill/>
          <a:ln/>
        </p:spPr>
        <p:txBody>
          <a:bodyPr wrap="square" rtlCol="0" anchor="ctr"/>
          <a:lstStyle/>
          <a:p>
            <a:pPr indent="0" marL="0">
              <a:buNone/>
            </a:pPr>
            <a:r>
              <a:rPr lang="en-US" sz="2400" b="1" dirty="0">
                <a:solidFill>
                  <a:srgbClr val="2C3E50"/>
                </a:solidFill>
              </a:rPr>
              <a:t>Document Information</a:t>
            </a:r>
            <a:endParaRPr lang="en-US" sz="2400" dirty="0"/>
          </a:p>
        </p:txBody>
      </p:sp>
      <p:sp>
        <p:nvSpPr>
          <p:cNvPr id="3" name="Text 1"/>
          <p:cNvSpPr/>
          <p:nvPr/>
        </p:nvSpPr>
        <p:spPr>
          <a:xfrm>
            <a:off x="457200" y="1645920"/>
            <a:ext cx="8229600" cy="2743200"/>
          </a:xfrm>
          <a:prstGeom prst="rect">
            <a:avLst/>
          </a:prstGeom>
          <a:noFill/>
          <a:ln/>
        </p:spPr>
        <p:txBody>
          <a:bodyPr wrap="square" rtlCol="0" anchor="ctr"/>
          <a:lstStyle/>
          <a:p>
            <a:pPr indent="0" marL="0">
              <a:lnSpc>
                <a:spcPts val="2400"/>
              </a:lnSpc>
              <a:buNone/>
            </a:pPr>
            <a:r>
              <a:rPr lang="en-US" sz="1400" dirty="0">
                <a:solidFill>
                  <a:srgbClr val="495057"/>
                </a:solidFill>
              </a:rPr>
              <a:t>📄 Source: 0ad7269b-74a2-47cd-bb15-b0632b720787_Municipal Statement.pdf</a:t>
            </a:r>
            <a:endParaRPr lang="en-US" sz="1400" dirty="0"/>
          </a:p>
          <a:p>
            <a:pPr indent="0" marL="0">
              <a:lnSpc>
                <a:spcPts val="2400"/>
              </a:lnSpc>
              <a:buNone/>
            </a:pPr>
            <a:endParaRPr lang="en-US" sz="1400" dirty="0"/>
          </a:p>
          <a:p>
            <a:pPr indent="0" marL="0">
              <a:lnSpc>
                <a:spcPts val="2400"/>
              </a:lnSpc>
              <a:buNone/>
            </a:pPr>
            <a:r>
              <a:rPr lang="en-US" sz="1400" dirty="0">
                <a:solidFill>
                  <a:srgbClr val="495057"/>
                </a:solidFill>
              </a:rPr>
              <a:t>📊 Pages: 3</a:t>
            </a:r>
            <a:endParaRPr lang="en-US" sz="1400" dirty="0"/>
          </a:p>
          <a:p>
            <a:pPr indent="0" marL="0">
              <a:lnSpc>
                <a:spcPts val="2400"/>
              </a:lnSpc>
              <a:buNone/>
            </a:pPr>
            <a:endParaRPr lang="en-US" sz="1400" dirty="0"/>
          </a:p>
          <a:p>
            <a:pPr indent="0" marL="0">
              <a:lnSpc>
                <a:spcPts val="2400"/>
              </a:lnSpc>
              <a:buNone/>
            </a:pPr>
            <a:r>
              <a:rPr lang="en-US" sz="1400" dirty="0">
                <a:solidFill>
                  <a:srgbClr val="495057"/>
                </a:solidFill>
              </a:rPr>
              <a:t>📝 Text Content: 6756 characters</a:t>
            </a:r>
            <a:endParaRPr lang="en-US" sz="1400" dirty="0"/>
          </a:p>
          <a:p>
            <a:pPr indent="0" marL="0">
              <a:lnSpc>
                <a:spcPts val="2400"/>
              </a:lnSpc>
              <a:buNone/>
            </a:pPr>
            <a:endParaRPr lang="en-US" sz="1400" dirty="0"/>
          </a:p>
          <a:p>
            <a:pPr indent="0" marL="0">
              <a:lnSpc>
                <a:spcPts val="2400"/>
              </a:lnSpc>
              <a:buNone/>
            </a:pPr>
            <a:r>
              <a:rPr lang="en-US" sz="1400" dirty="0">
                <a:solidFill>
                  <a:srgbClr val="495057"/>
                </a:solidFill>
              </a:rPr>
              <a:t>🕒 Converted: 2025/09/28, 00:28:41</a:t>
            </a:r>
            <a:endParaRPr lang="en-US" sz="1400" dirty="0"/>
          </a:p>
          <a:p>
            <a:pPr indent="0" marL="0">
              <a:lnSpc>
                <a:spcPts val="2400"/>
              </a:lnSpc>
              <a:buNone/>
            </a:pPr>
            <a:endParaRPr lang="en-US" sz="1400" dirty="0"/>
          </a:p>
          <a:p>
            <a:pPr indent="0" marL="0">
              <a:lnSpc>
                <a:spcPts val="2400"/>
              </a:lnSpc>
              <a:buNone/>
            </a:pPr>
            <a:r>
              <a:rPr lang="en-US" sz="1400" dirty="0">
                <a:solidFill>
                  <a:srgbClr val="495057"/>
                </a:solidFill>
              </a:rPr>
              <a:t>⚙️ Engine: PDFCraft.Pro Improved Engine v2.1</a:t>
            </a:r>
            <a:endParaRPr lang="en-US" sz="1400" dirty="0"/>
          </a:p>
        </p:txBody>
      </p:sp>
      <p:sp>
        <p:nvSpPr>
          <p:cNvPr id="4" name="Text 2"/>
          <p:cNvSpPr/>
          <p:nvPr/>
        </p:nvSpPr>
        <p:spPr>
          <a:xfrm>
            <a:off x="457200" y="3840480"/>
            <a:ext cx="8229600" cy="914400"/>
          </a:xfrm>
          <a:prstGeom prst="rect">
            <a:avLst/>
          </a:prstGeom>
          <a:noFill/>
          <a:ln/>
        </p:spPr>
        <p:txBody>
          <a:bodyPr wrap="square" rtlCol="0" anchor="ctr"/>
          <a:lstStyle/>
          <a:p>
            <a:pPr algn="ctr" indent="0" marL="0">
              <a:buNone/>
            </a:pPr>
            <a:r>
              <a:rPr lang="en-US" sz="1200" dirty="0">
                <a:solidFill>
                  <a:srgbClr val="27AE60"/>
                </a:solidFill>
              </a:rPr>
              <a:t>✅ Conversion completed successfully</a:t>
            </a:r>
            <a:endParaRPr lang="en-US" sz="1200" dirty="0"/>
          </a:p>
          <a:p>
            <a:pPr algn="ctr" indent="0" marL="0">
              <a:buNone/>
            </a:pPr>
            <a:r>
              <a:rPr lang="en-US" sz="1200" dirty="0">
                <a:solidFill>
                  <a:srgbClr val="27AE60"/>
                </a:solidFill>
              </a:rPr>
              <a:t>📱 Content optimized for presentation viewing</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Slides>
  <Notes>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Slide 1</vt:lpstr>
      <vt:lpstr>Slide 2</vt:lpstr>
      <vt:lpstr>Slide 3</vt:lpstr>
      <vt:lpstr>Slide 4</vt:lpstr>
    </vt:vector>
  </TitlesOfParts>
  <Company>PDFCraft.Pro</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0ad7269b-74a2-47cd-bb15-b0632b720787_Municipal Statement</dc:title>
  <dc:subject>Converted from PDF</dc:subject>
  <dc:creator>PDFCraft.Pro</dc:creator>
  <cp:lastModifiedBy>PDFCraft.Pro</cp:lastModifiedBy>
  <cp:revision>1</cp:revision>
  <dcterms:created xsi:type="dcterms:W3CDTF">2025-09-27T22:28:41Z</dcterms:created>
  <dcterms:modified xsi:type="dcterms:W3CDTF">2025-09-27T22:28:41Z</dcterms:modified>
</cp:coreProperties>
</file>