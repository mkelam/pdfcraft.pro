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489969" y="10498117"/>
            <a:ext cx="574039" cy="158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#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hyperlink" Target="http://www.ekurhuleni.gov.za/" TargetMode="External"/><Relationship Id="rId15" Type="http://schemas.openxmlformats.org/officeDocument/2006/relationships/image" Target="../media/image13.jpg"/><Relationship Id="rId16" Type="http://schemas.openxmlformats.org/officeDocument/2006/relationships/hyperlink" Target="https://siyakhokha.ekurhuleni.gov.za/" TargetMode="External"/><Relationship Id="rId17" Type="http://schemas.openxmlformats.org/officeDocument/2006/relationships/image" Target="../media/image14.jpg"/><Relationship Id="rId18" Type="http://schemas.openxmlformats.org/officeDocument/2006/relationships/hyperlink" Target="mailto:%20siyakhokha@ekurhuleni.gov.za" TargetMode="External"/><Relationship Id="rId19" Type="http://schemas.openxmlformats.org/officeDocument/2006/relationships/image" Target="../media/image15.jpg"/><Relationship Id="rId20" Type="http://schemas.openxmlformats.org/officeDocument/2006/relationships/hyperlink" Target="mailto:callcentre@ekurhuleni.gov.za" TargetMode="External"/><Relationship Id="rId21" Type="http://schemas.openxmlformats.org/officeDocument/2006/relationships/image" Target="../media/image16.jpg"/><Relationship Id="rId22" Type="http://schemas.openxmlformats.org/officeDocument/2006/relationships/image" Target="../media/image17.png"/><Relationship Id="rId23" Type="http://schemas.openxmlformats.org/officeDocument/2006/relationships/image" Target="../media/image18.jpg"/><Relationship Id="rId24" Type="http://schemas.openxmlformats.org/officeDocument/2006/relationships/image" Target="../media/image19.jpg"/><Relationship Id="rId25" Type="http://schemas.openxmlformats.org/officeDocument/2006/relationships/image" Target="../media/image2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hyperlink" Target="http://www.ekurhuleni.gov.za/" TargetMode="External"/><Relationship Id="rId15" Type="http://schemas.openxmlformats.org/officeDocument/2006/relationships/image" Target="../media/image13.jpg"/><Relationship Id="rId16" Type="http://schemas.openxmlformats.org/officeDocument/2006/relationships/hyperlink" Target="https://siyakhokha.ekurhuleni.gov.za/" TargetMode="External"/><Relationship Id="rId17" Type="http://schemas.openxmlformats.org/officeDocument/2006/relationships/image" Target="../media/image14.jpg"/><Relationship Id="rId18" Type="http://schemas.openxmlformats.org/officeDocument/2006/relationships/hyperlink" Target="mailto:%20siyakhokha@ekurhuleni.gov.za" TargetMode="External"/><Relationship Id="rId19" Type="http://schemas.openxmlformats.org/officeDocument/2006/relationships/image" Target="../media/image15.jpg"/><Relationship Id="rId20" Type="http://schemas.openxmlformats.org/officeDocument/2006/relationships/hyperlink" Target="mailto:callcentre@ekurhuleni.gov.za" TargetMode="External"/><Relationship Id="rId21" Type="http://schemas.openxmlformats.org/officeDocument/2006/relationships/image" Target="../media/image18.jpg"/><Relationship Id="rId22" Type="http://schemas.openxmlformats.org/officeDocument/2006/relationships/image" Target="../media/image29.jpg"/><Relationship Id="rId23" Type="http://schemas.openxmlformats.org/officeDocument/2006/relationships/image" Target="../media/image19.jpg"/><Relationship Id="rId24" Type="http://schemas.openxmlformats.org/officeDocument/2006/relationships/image" Target="../media/image20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SIYAKHOKHA.EKURHULENI.GOV.ZA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61950" y="1477683"/>
          <a:ext cx="6905625" cy="182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1215"/>
                <a:gridCol w="1193799"/>
                <a:gridCol w="1456689"/>
                <a:gridCol w="1225550"/>
                <a:gridCol w="749300"/>
                <a:gridCol w="1363979"/>
              </a:tblGrid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MKELA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75" b="1">
                          <a:latin typeface="Verdana"/>
                          <a:cs typeface="Verdana"/>
                        </a:rPr>
                        <a:t>Account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2608294851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Ward</a:t>
                      </a:r>
                      <a:r>
                        <a:rPr dirty="0" sz="750" spc="-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Payments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Included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Until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Vat</a:t>
                      </a:r>
                      <a:r>
                        <a:rPr dirty="0" sz="750" spc="-4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5" b="1">
                          <a:latin typeface="Verdana"/>
                          <a:cs typeface="Verdana"/>
                        </a:rPr>
                        <a:t>Reg.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No.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12725"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Street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Address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Electricity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 b="1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Deposit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6230">
                        <a:lnSpc>
                          <a:spcPct val="100000"/>
                        </a:lnSpc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Statement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Date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4160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Cash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Guarantee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0009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NEELS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593.00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141605">
                <a:tc gridSpan="3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Township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534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Title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Valuation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7716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 b="1">
                          <a:latin typeface="Verdana"/>
                          <a:cs typeface="Verdana"/>
                        </a:rPr>
                        <a:t>Title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5" b="1">
                          <a:latin typeface="Verdana"/>
                          <a:cs typeface="Verdana"/>
                        </a:rPr>
                        <a:t>Unit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Total</a:t>
                      </a:r>
                      <a:r>
                        <a:rPr dirty="0" sz="750" spc="-3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KLIPPOORTJE</a:t>
                      </a:r>
                      <a:r>
                        <a:rPr dirty="0" sz="750" spc="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AGRICULTURAL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LOTS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1185000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85" b="1">
                          <a:latin typeface="Verdana"/>
                          <a:cs typeface="Verdana"/>
                        </a:rPr>
                        <a:t>ERF</a:t>
                      </a:r>
                      <a:r>
                        <a:rPr dirty="0" sz="750" spc="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M88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00000059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Portion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00013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45">
                          <a:latin typeface="Verdana"/>
                          <a:cs typeface="Verdana"/>
                        </a:rPr>
                        <a:t>Area</a:t>
                      </a:r>
                      <a:r>
                        <a:rPr dirty="0" sz="7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latin typeface="Verdana"/>
                          <a:cs typeface="Verdana"/>
                        </a:rPr>
                        <a:t>m2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991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61950" y="3382247"/>
          <a:ext cx="6905625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/>
                <a:gridCol w="539750"/>
                <a:gridCol w="2387599"/>
                <a:gridCol w="1022985"/>
                <a:gridCol w="1022985"/>
                <a:gridCol w="1022984"/>
              </a:tblGrid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latin typeface="Verdana"/>
                          <a:cs typeface="Verdana"/>
                        </a:rPr>
                        <a:t>Date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latin typeface="Verdana"/>
                          <a:cs typeface="Verdana"/>
                        </a:rPr>
                        <a:t>Icon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latin typeface="Verdana"/>
                          <a:cs typeface="Verdana"/>
                        </a:rPr>
                        <a:t>Details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0">
                          <a:latin typeface="Verdana"/>
                          <a:cs typeface="Verdana"/>
                        </a:rPr>
                        <a:t>Charge</a:t>
                      </a:r>
                      <a:r>
                        <a:rPr dirty="0" sz="75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0">
                          <a:latin typeface="Verdana"/>
                          <a:cs typeface="Verdana"/>
                        </a:rPr>
                        <a:t>(excl. </a:t>
                      </a:r>
                      <a:r>
                        <a:rPr dirty="0" sz="750" spc="-20">
                          <a:latin typeface="Verdana"/>
                          <a:cs typeface="Verdana"/>
                        </a:rPr>
                        <a:t>VAT)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5">
                          <a:latin typeface="Verdana"/>
                          <a:cs typeface="Verdana"/>
                        </a:rPr>
                        <a:t>VAT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0">
                          <a:latin typeface="Verdana"/>
                          <a:cs typeface="Verdana"/>
                        </a:rPr>
                        <a:t>Charge</a:t>
                      </a:r>
                      <a:r>
                        <a:rPr dirty="0" sz="75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0">
                          <a:latin typeface="Verdana"/>
                          <a:cs typeface="Verdana"/>
                        </a:rPr>
                        <a:t>(incl. </a:t>
                      </a:r>
                      <a:r>
                        <a:rPr dirty="0" sz="750" spc="-20">
                          <a:latin typeface="Verdana"/>
                          <a:cs typeface="Verdana"/>
                        </a:rPr>
                        <a:t>VAT)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08/17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BALANCE</a:t>
                      </a:r>
                      <a:r>
                        <a:rPr dirty="0" sz="750" spc="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BROUGHT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FORWARD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09/03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PAYMENT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THANK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YOU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5000.00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5000.00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SUB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TOTAL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383.39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08/18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FINAL</a:t>
                      </a:r>
                      <a:r>
                        <a:rPr dirty="0" sz="750" spc="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NOTICE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211.74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31.76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243.50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848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spc="6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RATES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RATES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RESIDENTIAL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1137.60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1137.60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VA-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VALUE-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EXCLUSION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144.00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144.00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816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65" b="1">
                          <a:latin typeface="Verdana"/>
                          <a:cs typeface="Verdana"/>
                        </a:rPr>
                        <a:t>REFUSE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REMOVAL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REFUSE: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DOMESTIC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240L</a:t>
                      </a:r>
                      <a:r>
                        <a:rPr dirty="0" sz="7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BIN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x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units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236.25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35.44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271.69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820419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80" b="1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-3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SERVICE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64262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562610">
                        <a:lnSpc>
                          <a:spcPts val="780"/>
                        </a:lnSpc>
                        <a:spcBef>
                          <a:spcPts val="100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METER-</a:t>
                      </a:r>
                      <a:r>
                        <a:rPr dirty="0" sz="750" spc="-8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dirty="0" sz="750" spc="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140047920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TARIFF: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WATER-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RESIDENTIAL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Curr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2098 Prev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2085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Cons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Reading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dates: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Curr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25/09/05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Prev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25/06/02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1270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361950" y="7404572"/>
            <a:ext cx="6829425" cy="711200"/>
          </a:xfrm>
          <a:custGeom>
            <a:avLst/>
            <a:gdLst/>
            <a:ahLst/>
            <a:cxnLst/>
            <a:rect l="l" t="t" r="r" b="b"/>
            <a:pathLst>
              <a:path w="6829425" h="711200">
                <a:moveTo>
                  <a:pt x="6793892" y="710658"/>
                </a:moveTo>
                <a:lnTo>
                  <a:pt x="42639" y="710658"/>
                </a:lnTo>
                <a:lnTo>
                  <a:pt x="26047" y="707305"/>
                </a:lnTo>
                <a:lnTo>
                  <a:pt x="12493" y="698164"/>
                </a:lnTo>
                <a:lnTo>
                  <a:pt x="3352" y="684610"/>
                </a:lnTo>
                <a:lnTo>
                  <a:pt x="0" y="668018"/>
                </a:lnTo>
                <a:lnTo>
                  <a:pt x="0" y="35532"/>
                </a:lnTo>
                <a:lnTo>
                  <a:pt x="2793" y="21706"/>
                </a:lnTo>
                <a:lnTo>
                  <a:pt x="10411" y="10411"/>
                </a:lnTo>
                <a:lnTo>
                  <a:pt x="21706" y="2793"/>
                </a:lnTo>
                <a:lnTo>
                  <a:pt x="35532" y="0"/>
                </a:lnTo>
                <a:lnTo>
                  <a:pt x="6786785" y="0"/>
                </a:lnTo>
                <a:lnTo>
                  <a:pt x="6803377" y="3352"/>
                </a:lnTo>
                <a:lnTo>
                  <a:pt x="6808944" y="7106"/>
                </a:lnTo>
                <a:lnTo>
                  <a:pt x="35532" y="7106"/>
                </a:lnTo>
                <a:lnTo>
                  <a:pt x="24471" y="9341"/>
                </a:lnTo>
                <a:lnTo>
                  <a:pt x="15435" y="15435"/>
                </a:lnTo>
                <a:lnTo>
                  <a:pt x="9341" y="24471"/>
                </a:lnTo>
                <a:lnTo>
                  <a:pt x="7106" y="35532"/>
                </a:lnTo>
                <a:lnTo>
                  <a:pt x="7106" y="668018"/>
                </a:lnTo>
                <a:lnTo>
                  <a:pt x="9900" y="681845"/>
                </a:lnTo>
                <a:lnTo>
                  <a:pt x="17517" y="693140"/>
                </a:lnTo>
                <a:lnTo>
                  <a:pt x="28812" y="700757"/>
                </a:lnTo>
                <a:lnTo>
                  <a:pt x="42639" y="703551"/>
                </a:lnTo>
                <a:lnTo>
                  <a:pt x="6814114" y="703551"/>
                </a:lnTo>
                <a:lnTo>
                  <a:pt x="6807718" y="707864"/>
                </a:lnTo>
                <a:lnTo>
                  <a:pt x="6793892" y="710658"/>
                </a:lnTo>
                <a:close/>
              </a:path>
              <a:path w="6829425" h="711200">
                <a:moveTo>
                  <a:pt x="6814114" y="703551"/>
                </a:moveTo>
                <a:lnTo>
                  <a:pt x="6793892" y="703551"/>
                </a:lnTo>
                <a:lnTo>
                  <a:pt x="6804953" y="701316"/>
                </a:lnTo>
                <a:lnTo>
                  <a:pt x="6813989" y="695222"/>
                </a:lnTo>
                <a:lnTo>
                  <a:pt x="6820083" y="686186"/>
                </a:lnTo>
                <a:lnTo>
                  <a:pt x="6822318" y="675125"/>
                </a:lnTo>
                <a:lnTo>
                  <a:pt x="6822318" y="42639"/>
                </a:lnTo>
                <a:lnTo>
                  <a:pt x="6819524" y="28812"/>
                </a:lnTo>
                <a:lnTo>
                  <a:pt x="6811907" y="17517"/>
                </a:lnTo>
                <a:lnTo>
                  <a:pt x="6800612" y="9900"/>
                </a:lnTo>
                <a:lnTo>
                  <a:pt x="6786785" y="7106"/>
                </a:lnTo>
                <a:lnTo>
                  <a:pt x="6808944" y="7106"/>
                </a:lnTo>
                <a:lnTo>
                  <a:pt x="6816931" y="12493"/>
                </a:lnTo>
                <a:lnTo>
                  <a:pt x="6826072" y="26047"/>
                </a:lnTo>
                <a:lnTo>
                  <a:pt x="6829425" y="42639"/>
                </a:lnTo>
                <a:lnTo>
                  <a:pt x="6829425" y="675125"/>
                </a:lnTo>
                <a:lnTo>
                  <a:pt x="6826631" y="688952"/>
                </a:lnTo>
                <a:lnTo>
                  <a:pt x="6819013" y="700247"/>
                </a:lnTo>
                <a:lnTo>
                  <a:pt x="6814114" y="703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986306" y="9167004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986306" y="9501013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6445183"/>
            <a:ext cx="952281" cy="24873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44173" y="6460910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30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231" y="6445183"/>
            <a:ext cx="952281" cy="24873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596455" y="6460910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60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6513" y="6445183"/>
            <a:ext cx="952281" cy="24873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48737" y="6460910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8795" y="6445183"/>
            <a:ext cx="952281" cy="24873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454826" y="6460910"/>
            <a:ext cx="473709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5">
                <a:latin typeface="Verdana"/>
                <a:cs typeface="Verdana"/>
              </a:rPr>
              <a:t> </a:t>
            </a:r>
            <a:r>
              <a:rPr dirty="0" sz="750" spc="-95">
                <a:latin typeface="Verdana"/>
                <a:cs typeface="Verdana"/>
              </a:rPr>
              <a:t>+</a:t>
            </a:r>
            <a:r>
              <a:rPr dirty="0" sz="750" spc="-65">
                <a:latin typeface="Verdana"/>
                <a:cs typeface="Verdana"/>
              </a:rPr>
              <a:t> </a:t>
            </a:r>
            <a:r>
              <a:rPr dirty="0" sz="750" spc="-35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206610" y="644518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360915" y="6460910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08585" marR="5080" indent="-96520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(excl.VAT)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194425" y="644518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5451775" y="6460910"/>
            <a:ext cx="438784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182240" y="644518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336545" y="6460910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2555" marR="5080" indent="-110489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</a:t>
            </a:r>
            <a:r>
              <a:rPr dirty="0" sz="700" spc="-30">
                <a:solidFill>
                  <a:srgbClr val="333333"/>
                </a:solidFill>
                <a:latin typeface="Verdana"/>
                <a:cs typeface="Verdana"/>
              </a:rPr>
              <a:t>(incl.VAT)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61950" y="6764980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59908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314231" y="6764980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012190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266513" y="6764980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964471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54328" y="6764980"/>
            <a:ext cx="952281" cy="248730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3952287" y="6780706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2143" y="6764980"/>
            <a:ext cx="952281" cy="248730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4769543" y="6780706"/>
            <a:ext cx="3905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1022.71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29958" y="6764980"/>
            <a:ext cx="952281" cy="248730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5835531" y="6780706"/>
            <a:ext cx="31242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70">
                <a:latin typeface="Verdana"/>
                <a:cs typeface="Verdana"/>
              </a:rPr>
              <a:t>-</a:t>
            </a:r>
            <a:r>
              <a:rPr dirty="0" sz="750" spc="-35">
                <a:latin typeface="Verdana"/>
                <a:cs typeface="Verdana"/>
              </a:rPr>
              <a:t>53.14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7773" y="6764980"/>
            <a:ext cx="916749" cy="248730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6766493" y="6780706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969.57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315745" y="7114715"/>
            <a:ext cx="93281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60" b="1">
                <a:solidFill>
                  <a:srgbClr val="333333"/>
                </a:solidFill>
                <a:latin typeface="Verdana"/>
                <a:cs typeface="Verdana"/>
              </a:rPr>
              <a:t>Advance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2273620" y="7084776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2992898" y="7100502"/>
            <a:ext cx="201930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696449" y="7114715"/>
            <a:ext cx="45656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Date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4249250" y="7084776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449747" y="7100502"/>
            <a:ext cx="54673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45176" y="7114715"/>
            <a:ext cx="78359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 b="1">
                <a:solidFill>
                  <a:srgbClr val="333333"/>
                </a:solidFill>
                <a:latin typeface="Verdana"/>
                <a:cs typeface="Verdana"/>
              </a:rPr>
              <a:t>Payable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224880" y="7084776"/>
            <a:ext cx="916940" cy="248920"/>
          </a:xfrm>
          <a:custGeom>
            <a:avLst/>
            <a:gdLst/>
            <a:ahLst/>
            <a:cxnLst/>
            <a:rect l="l" t="t" r="r" b="b"/>
            <a:pathLst>
              <a:path w="916940" h="248920">
                <a:moveTo>
                  <a:pt x="810150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10150" y="0"/>
                </a:lnTo>
                <a:lnTo>
                  <a:pt x="845321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45321" y="241623"/>
                </a:lnTo>
                <a:lnTo>
                  <a:pt x="810150" y="248730"/>
                </a:lnTo>
                <a:close/>
              </a:path>
              <a:path w="916940" h="248920">
                <a:moveTo>
                  <a:pt x="845321" y="241623"/>
                </a:moveTo>
                <a:lnTo>
                  <a:pt x="810150" y="241623"/>
                </a:lnTo>
                <a:lnTo>
                  <a:pt x="848865" y="233801"/>
                </a:lnTo>
                <a:lnTo>
                  <a:pt x="880491" y="212472"/>
                </a:lnTo>
                <a:lnTo>
                  <a:pt x="901819" y="180846"/>
                </a:lnTo>
                <a:lnTo>
                  <a:pt x="909642" y="142131"/>
                </a:lnTo>
                <a:lnTo>
                  <a:pt x="909642" y="106598"/>
                </a:lnTo>
                <a:lnTo>
                  <a:pt x="901819" y="67883"/>
                </a:lnTo>
                <a:lnTo>
                  <a:pt x="880491" y="36257"/>
                </a:lnTo>
                <a:lnTo>
                  <a:pt x="848865" y="14929"/>
                </a:lnTo>
                <a:lnTo>
                  <a:pt x="810150" y="7106"/>
                </a:lnTo>
                <a:lnTo>
                  <a:pt x="845321" y="7106"/>
                </a:lnTo>
                <a:lnTo>
                  <a:pt x="851630" y="8381"/>
                </a:lnTo>
                <a:lnTo>
                  <a:pt x="885515" y="31233"/>
                </a:lnTo>
                <a:lnTo>
                  <a:pt x="908367" y="65118"/>
                </a:lnTo>
                <a:lnTo>
                  <a:pt x="916749" y="106598"/>
                </a:lnTo>
                <a:lnTo>
                  <a:pt x="916749" y="142131"/>
                </a:lnTo>
                <a:lnTo>
                  <a:pt x="908367" y="183611"/>
                </a:lnTo>
                <a:lnTo>
                  <a:pt x="885515" y="217497"/>
                </a:lnTo>
                <a:lnTo>
                  <a:pt x="851630" y="240349"/>
                </a:lnTo>
                <a:lnTo>
                  <a:pt x="845321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6773599" y="7100502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986306" y="9835023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535021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1535021" y="0"/>
                </a:lnTo>
                <a:lnTo>
                  <a:pt x="1535021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1535021" y="277156"/>
                </a:lnTo>
                <a:lnTo>
                  <a:pt x="1535021" y="284263"/>
                </a:lnTo>
                <a:close/>
              </a:path>
              <a:path w="1535429" h="284479">
                <a:moveTo>
                  <a:pt x="1535021" y="277156"/>
                </a:moveTo>
                <a:lnTo>
                  <a:pt x="1527915" y="277156"/>
                </a:lnTo>
                <a:lnTo>
                  <a:pt x="1527915" y="7106"/>
                </a:lnTo>
                <a:lnTo>
                  <a:pt x="1535021" y="7106"/>
                </a:lnTo>
                <a:lnTo>
                  <a:pt x="153502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4478173" y="9815216"/>
            <a:ext cx="5467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Date 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5521328" y="9835023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463955" y="284263"/>
                </a:moveTo>
                <a:lnTo>
                  <a:pt x="0" y="284263"/>
                </a:lnTo>
                <a:lnTo>
                  <a:pt x="0" y="0"/>
                </a:lnTo>
                <a:lnTo>
                  <a:pt x="1463955" y="0"/>
                </a:lnTo>
                <a:lnTo>
                  <a:pt x="1491609" y="5587"/>
                </a:lnTo>
                <a:lnTo>
                  <a:pt x="1493861" y="7106"/>
                </a:lnTo>
                <a:lnTo>
                  <a:pt x="7106" y="7106"/>
                </a:lnTo>
                <a:lnTo>
                  <a:pt x="7106" y="277156"/>
                </a:lnTo>
                <a:lnTo>
                  <a:pt x="1493861" y="277156"/>
                </a:lnTo>
                <a:lnTo>
                  <a:pt x="1491609" y="278675"/>
                </a:lnTo>
                <a:lnTo>
                  <a:pt x="1463955" y="284263"/>
                </a:lnTo>
                <a:close/>
              </a:path>
              <a:path w="1535429" h="284479">
                <a:moveTo>
                  <a:pt x="1493861" y="277156"/>
                </a:moveTo>
                <a:lnTo>
                  <a:pt x="1463955" y="277156"/>
                </a:lnTo>
                <a:lnTo>
                  <a:pt x="1488844" y="272127"/>
                </a:lnTo>
                <a:lnTo>
                  <a:pt x="1509175" y="258416"/>
                </a:lnTo>
                <a:lnTo>
                  <a:pt x="1522886" y="238085"/>
                </a:lnTo>
                <a:lnTo>
                  <a:pt x="1527915" y="213197"/>
                </a:lnTo>
                <a:lnTo>
                  <a:pt x="1527915" y="71065"/>
                </a:lnTo>
                <a:lnTo>
                  <a:pt x="1522886" y="46177"/>
                </a:lnTo>
                <a:lnTo>
                  <a:pt x="1509175" y="25846"/>
                </a:lnTo>
                <a:lnTo>
                  <a:pt x="1488844" y="12135"/>
                </a:lnTo>
                <a:lnTo>
                  <a:pt x="1463955" y="7106"/>
                </a:lnTo>
                <a:lnTo>
                  <a:pt x="1493861" y="7106"/>
                </a:lnTo>
                <a:lnTo>
                  <a:pt x="1514199" y="20822"/>
                </a:lnTo>
                <a:lnTo>
                  <a:pt x="1529434" y="43412"/>
                </a:lnTo>
                <a:lnTo>
                  <a:pt x="1535021" y="71065"/>
                </a:lnTo>
                <a:lnTo>
                  <a:pt x="1535021" y="213197"/>
                </a:lnTo>
                <a:lnTo>
                  <a:pt x="1529434" y="240850"/>
                </a:lnTo>
                <a:lnTo>
                  <a:pt x="1514199" y="263441"/>
                </a:lnTo>
                <a:lnTo>
                  <a:pt x="149386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5860403" y="9815216"/>
            <a:ext cx="74231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271780" marR="5080" indent="-259715">
              <a:lnSpc>
                <a:spcPts val="780"/>
              </a:lnSpc>
              <a:spcBef>
                <a:spcPts val="259"/>
              </a:spcBef>
            </a:pP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Payable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61950" y="9167004"/>
            <a:ext cx="3411220" cy="1052195"/>
            <a:chOff x="361950" y="9167004"/>
            <a:chExt cx="3411220" cy="1052195"/>
          </a:xfrm>
        </p:grpSpPr>
        <p:sp>
          <p:nvSpPr>
            <p:cNvPr id="49" name="object 49" descr=""/>
            <p:cNvSpPr/>
            <p:nvPr/>
          </p:nvSpPr>
          <p:spPr>
            <a:xfrm>
              <a:off x="361950" y="9167004"/>
              <a:ext cx="3411220" cy="995044"/>
            </a:xfrm>
            <a:custGeom>
              <a:avLst/>
              <a:gdLst/>
              <a:ahLst/>
              <a:cxnLst/>
              <a:rect l="l" t="t" r="r" b="b"/>
              <a:pathLst>
                <a:path w="3411220" h="995045">
                  <a:moveTo>
                    <a:pt x="3340093" y="994921"/>
                  </a:moveTo>
                  <a:lnTo>
                    <a:pt x="71065" y="994921"/>
                  </a:lnTo>
                  <a:lnTo>
                    <a:pt x="43412" y="989333"/>
                  </a:lnTo>
                  <a:lnTo>
                    <a:pt x="20822" y="974099"/>
                  </a:lnTo>
                  <a:lnTo>
                    <a:pt x="5587" y="951509"/>
                  </a:lnTo>
                  <a:lnTo>
                    <a:pt x="0" y="923855"/>
                  </a:lnTo>
                  <a:lnTo>
                    <a:pt x="0" y="71065"/>
                  </a:lnTo>
                  <a:lnTo>
                    <a:pt x="5587" y="43412"/>
                  </a:lnTo>
                  <a:lnTo>
                    <a:pt x="20822" y="20822"/>
                  </a:lnTo>
                  <a:lnTo>
                    <a:pt x="43412" y="5587"/>
                  </a:lnTo>
                  <a:lnTo>
                    <a:pt x="71065" y="0"/>
                  </a:lnTo>
                  <a:lnTo>
                    <a:pt x="3340093" y="0"/>
                  </a:lnTo>
                  <a:lnTo>
                    <a:pt x="3367746" y="5587"/>
                  </a:lnTo>
                  <a:lnTo>
                    <a:pt x="3369999" y="7106"/>
                  </a:lnTo>
                  <a:lnTo>
                    <a:pt x="71065" y="7106"/>
                  </a:lnTo>
                  <a:lnTo>
                    <a:pt x="46177" y="12135"/>
                  </a:lnTo>
                  <a:lnTo>
                    <a:pt x="25846" y="25846"/>
                  </a:lnTo>
                  <a:lnTo>
                    <a:pt x="12135" y="46177"/>
                  </a:lnTo>
                  <a:lnTo>
                    <a:pt x="7106" y="71065"/>
                  </a:lnTo>
                  <a:lnTo>
                    <a:pt x="7106" y="923855"/>
                  </a:lnTo>
                  <a:lnTo>
                    <a:pt x="12135" y="948743"/>
                  </a:lnTo>
                  <a:lnTo>
                    <a:pt x="25846" y="969074"/>
                  </a:lnTo>
                  <a:lnTo>
                    <a:pt x="46177" y="982786"/>
                  </a:lnTo>
                  <a:lnTo>
                    <a:pt x="71065" y="987814"/>
                  </a:lnTo>
                  <a:lnTo>
                    <a:pt x="3369999" y="987814"/>
                  </a:lnTo>
                  <a:lnTo>
                    <a:pt x="3367746" y="989333"/>
                  </a:lnTo>
                  <a:lnTo>
                    <a:pt x="3340093" y="994921"/>
                  </a:lnTo>
                  <a:close/>
                </a:path>
                <a:path w="3411220" h="995045">
                  <a:moveTo>
                    <a:pt x="3369999" y="987814"/>
                  </a:moveTo>
                  <a:lnTo>
                    <a:pt x="3340093" y="987814"/>
                  </a:lnTo>
                  <a:lnTo>
                    <a:pt x="3364981" y="982786"/>
                  </a:lnTo>
                  <a:lnTo>
                    <a:pt x="3385312" y="969074"/>
                  </a:lnTo>
                  <a:lnTo>
                    <a:pt x="3399023" y="948743"/>
                  </a:lnTo>
                  <a:lnTo>
                    <a:pt x="3404052" y="923855"/>
                  </a:lnTo>
                  <a:lnTo>
                    <a:pt x="3404052" y="71065"/>
                  </a:lnTo>
                  <a:lnTo>
                    <a:pt x="3399023" y="46177"/>
                  </a:lnTo>
                  <a:lnTo>
                    <a:pt x="3385312" y="25846"/>
                  </a:lnTo>
                  <a:lnTo>
                    <a:pt x="3364981" y="12135"/>
                  </a:lnTo>
                  <a:lnTo>
                    <a:pt x="3340093" y="7106"/>
                  </a:lnTo>
                  <a:lnTo>
                    <a:pt x="3369999" y="7106"/>
                  </a:lnTo>
                  <a:lnTo>
                    <a:pt x="3390336" y="20822"/>
                  </a:lnTo>
                  <a:lnTo>
                    <a:pt x="3405571" y="43412"/>
                  </a:lnTo>
                  <a:lnTo>
                    <a:pt x="3411159" y="71065"/>
                  </a:lnTo>
                  <a:lnTo>
                    <a:pt x="3411159" y="923855"/>
                  </a:lnTo>
                  <a:lnTo>
                    <a:pt x="3405571" y="951509"/>
                  </a:lnTo>
                  <a:lnTo>
                    <a:pt x="3390336" y="974099"/>
                  </a:lnTo>
                  <a:lnTo>
                    <a:pt x="3369999" y="987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2100" y="9209644"/>
              <a:ext cx="497460" cy="35532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7021" y="9209644"/>
              <a:ext cx="1421316" cy="35532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122" y="9209644"/>
              <a:ext cx="497460" cy="1009134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32504" y="9863449"/>
              <a:ext cx="355329" cy="213197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1159400" y="9644658"/>
            <a:ext cx="2096135" cy="4794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95">
                <a:solidFill>
                  <a:srgbClr val="333333"/>
                </a:solidFill>
                <a:latin typeface="Verdana"/>
                <a:cs typeface="Verdana"/>
              </a:rPr>
              <a:t>&gt;</a:t>
            </a: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14">
                <a:solidFill>
                  <a:srgbClr val="333333"/>
                </a:solidFill>
                <a:latin typeface="Verdana"/>
                <a:cs typeface="Verdana"/>
              </a:rPr>
              <a:t>&gt;&gt;&gt;&gt;&gt;&gt;</a:t>
            </a: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>
                <a:solidFill>
                  <a:srgbClr val="333333"/>
                </a:solidFill>
                <a:latin typeface="Verdana"/>
                <a:cs typeface="Verdana"/>
              </a:rPr>
              <a:t>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1339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2608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2948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510</a:t>
            </a:r>
            <a:endParaRPr sz="750">
              <a:latin typeface="Verdana"/>
              <a:cs typeface="Verdana"/>
            </a:endParaRPr>
          </a:p>
          <a:p>
            <a:pPr marL="1242060">
              <a:lnSpc>
                <a:spcPts val="730"/>
              </a:lnSpc>
              <a:spcBef>
                <a:spcPts val="39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11544</a:t>
            </a:r>
            <a:r>
              <a:rPr dirty="0" baseline="3703" sz="1125" spc="-44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baseline="3703" sz="1125">
              <a:latin typeface="Verdana"/>
              <a:cs typeface="Verdana"/>
            </a:endParaRPr>
          </a:p>
          <a:p>
            <a:pPr marL="12700">
              <a:lnSpc>
                <a:spcPts val="730"/>
              </a:lnSpc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917776" y="335037"/>
            <a:ext cx="10769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1950" y="461442"/>
            <a:ext cx="1563447" cy="781723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860923" y="1287318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2047723" y="796964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060423" y="1029968"/>
            <a:ext cx="213197" cy="177664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2388838" y="995948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87322" y="1029968"/>
            <a:ext cx="213197" cy="177664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4115738" y="896457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240606" y="690365"/>
            <a:ext cx="9626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COPY</a:t>
            </a: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TAX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935023" y="877433"/>
            <a:ext cx="1268095" cy="43307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 b="1">
                <a:solidFill>
                  <a:srgbClr val="333333"/>
                </a:solidFill>
                <a:latin typeface="Verdana"/>
                <a:cs typeface="Verdana"/>
              </a:rPr>
              <a:t>4280193493</a:t>
            </a:r>
            <a:endParaRPr sz="750">
              <a:latin typeface="Verdana"/>
              <a:cs typeface="Verdana"/>
            </a:endParaRPr>
          </a:p>
          <a:p>
            <a:pPr marL="289560" marR="5080" indent="283845">
              <a:lnSpc>
                <a:spcPct val="79900"/>
              </a:lnSpc>
              <a:spcBef>
                <a:spcPts val="550"/>
              </a:spcBef>
            </a:pPr>
            <a:r>
              <a:rPr dirty="0" sz="700" spc="-35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r>
              <a:rPr dirty="0" sz="70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Number:</a:t>
            </a:r>
            <a:r>
              <a:rPr dirty="0" sz="70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65">
                <a:solidFill>
                  <a:srgbClr val="333333"/>
                </a:solidFill>
                <a:latin typeface="Verdana"/>
                <a:cs typeface="Verdana"/>
              </a:rPr>
              <a:t>26082948512025/09/13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4696964"/>
            <a:ext cx="142131" cy="142131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4910162"/>
            <a:ext cx="142131" cy="142131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31284" y="5347129"/>
            <a:ext cx="92796" cy="120988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06617" y="5762952"/>
            <a:ext cx="142131" cy="14213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06617" y="5976149"/>
            <a:ext cx="142131" cy="142131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06617" y="6189347"/>
            <a:ext cx="142131" cy="142131"/>
          </a:xfrm>
          <a:prstGeom prst="rect">
            <a:avLst/>
          </a:prstGeom>
        </p:spPr>
      </p:pic>
      <p:sp>
        <p:nvSpPr>
          <p:cNvPr id="71" name="object 71" descr=""/>
          <p:cNvSpPr txBox="1"/>
          <p:nvPr/>
        </p:nvSpPr>
        <p:spPr>
          <a:xfrm>
            <a:off x="391889" y="7384765"/>
            <a:ext cx="44005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MESSAGE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917776" y="8145170"/>
            <a:ext cx="117983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5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73" name="object 73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61950" y="8424874"/>
            <a:ext cx="1412702" cy="507612"/>
          </a:xfrm>
          <a:prstGeom prst="rect">
            <a:avLst/>
          </a:prstGeom>
        </p:spPr>
      </p:pic>
      <p:sp>
        <p:nvSpPr>
          <p:cNvPr id="74" name="object 74" descr=""/>
          <p:cNvSpPr txBox="1"/>
          <p:nvPr/>
        </p:nvSpPr>
        <p:spPr>
          <a:xfrm>
            <a:off x="953309" y="8976639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2140108" y="8472072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6" name="object 7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52808" y="8705076"/>
            <a:ext cx="213197" cy="177664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2424371" y="8671056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8" name="object 7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22855" y="8705076"/>
            <a:ext cx="213197" cy="177664"/>
          </a:xfrm>
          <a:prstGeom prst="rect">
            <a:avLst/>
          </a:prstGeom>
        </p:spPr>
      </p:pic>
      <p:sp>
        <p:nvSpPr>
          <p:cNvPr id="79" name="object 79" descr=""/>
          <p:cNvSpPr txBox="1"/>
          <p:nvPr/>
        </p:nvSpPr>
        <p:spPr>
          <a:xfrm>
            <a:off x="4094418" y="8571565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80" name="object 80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414729" y="8344348"/>
            <a:ext cx="1123435" cy="634828"/>
          </a:xfrm>
          <a:prstGeom prst="rect">
            <a:avLst/>
          </a:prstGeom>
        </p:spPr>
      </p:pic>
      <p:sp>
        <p:nvSpPr>
          <p:cNvPr id="81" name="object 81" descr=""/>
          <p:cNvSpPr txBox="1"/>
          <p:nvPr/>
        </p:nvSpPr>
        <p:spPr>
          <a:xfrm>
            <a:off x="6567509" y="8393900"/>
            <a:ext cx="635635" cy="237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ts val="815"/>
              </a:lnSpc>
              <a:spcBef>
                <a:spcPts val="130"/>
              </a:spcBef>
            </a:pP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REMITTANCE</a:t>
            </a:r>
            <a:endParaRPr sz="750">
              <a:latin typeface="Verdana"/>
              <a:cs typeface="Verdana"/>
            </a:endParaRPr>
          </a:p>
          <a:p>
            <a:pPr algn="r" marR="5080">
              <a:lnSpc>
                <a:spcPts val="815"/>
              </a:lnSpc>
            </a:pP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ADVICE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5" name="object 8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1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  <p:sp>
        <p:nvSpPr>
          <p:cNvPr id="82" name="object 82" descr=""/>
          <p:cNvSpPr txBox="1"/>
          <p:nvPr/>
        </p:nvSpPr>
        <p:spPr>
          <a:xfrm>
            <a:off x="6539082" y="8720803"/>
            <a:ext cx="666750" cy="2374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 indent="63500">
              <a:lnSpc>
                <a:spcPts val="730"/>
              </a:lnSpc>
              <a:spcBef>
                <a:spcPts val="30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45" b="1">
                <a:solidFill>
                  <a:srgbClr val="333333"/>
                </a:solidFill>
                <a:latin typeface="Verdana"/>
                <a:cs typeface="Verdana"/>
              </a:rPr>
              <a:t> 4280193493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4051779" y="9147198"/>
            <a:ext cx="41592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Name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10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MKELA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051779" y="9481207"/>
            <a:ext cx="7499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61950" y="1705093"/>
          <a:ext cx="6905625" cy="1822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1215"/>
                <a:gridCol w="1193799"/>
                <a:gridCol w="1456689"/>
                <a:gridCol w="1225550"/>
                <a:gridCol w="749300"/>
                <a:gridCol w="1363979"/>
              </a:tblGrid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MKELA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75" b="1">
                          <a:latin typeface="Verdana"/>
                          <a:cs typeface="Verdana"/>
                        </a:rPr>
                        <a:t>Account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2608294851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Ward</a:t>
                      </a:r>
                      <a:r>
                        <a:rPr dirty="0" sz="750" spc="-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Payments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Included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Until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Vat</a:t>
                      </a:r>
                      <a:r>
                        <a:rPr dirty="0" sz="750" spc="-4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5" b="1">
                          <a:latin typeface="Verdana"/>
                          <a:cs typeface="Verdana"/>
                        </a:rPr>
                        <a:t>Reg.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No.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501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12725"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Street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Address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5" b="1">
                          <a:latin typeface="Verdana"/>
                          <a:cs typeface="Verdana"/>
                        </a:rPr>
                        <a:t>Electricity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80" b="1"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70" b="1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Deposit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16230">
                        <a:lnSpc>
                          <a:spcPct val="100000"/>
                        </a:lnSpc>
                      </a:pPr>
                      <a:r>
                        <a:rPr dirty="0" sz="750" spc="-70" b="1">
                          <a:latin typeface="Verdana"/>
                          <a:cs typeface="Verdana"/>
                        </a:rPr>
                        <a:t>Statement</a:t>
                      </a:r>
                      <a:r>
                        <a:rPr dirty="0" sz="750" spc="-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Date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4160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20" b="1">
                          <a:latin typeface="Verdana"/>
                          <a:cs typeface="Verdana"/>
                        </a:rPr>
                        <a:t>Cash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Guarantee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0009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NEELS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593.00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56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0.00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2025-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09-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141605">
                <a:tc gridSpan="3"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Township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534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Title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Property</a:t>
                      </a:r>
                      <a:r>
                        <a:rPr dirty="0" sz="75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Valuation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76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177165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969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Sectional</a:t>
                      </a:r>
                      <a:r>
                        <a:rPr dirty="0" sz="750" spc="-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 b="1">
                          <a:latin typeface="Verdana"/>
                          <a:cs typeface="Verdana"/>
                        </a:rPr>
                        <a:t>Title</a:t>
                      </a:r>
                      <a:r>
                        <a:rPr dirty="0" sz="75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 b="1">
                          <a:latin typeface="Verdana"/>
                          <a:cs typeface="Verdana"/>
                        </a:rPr>
                        <a:t>Name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5" b="1">
                          <a:latin typeface="Verdana"/>
                          <a:cs typeface="Verdana"/>
                        </a:rPr>
                        <a:t>Unit</a:t>
                      </a:r>
                      <a:r>
                        <a:rPr dirty="0" sz="750" spc="-3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 b="1">
                          <a:latin typeface="Verdana"/>
                          <a:cs typeface="Verdana"/>
                        </a:rPr>
                        <a:t>No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750" spc="-60" b="1">
                          <a:latin typeface="Verdana"/>
                          <a:cs typeface="Verdana"/>
                        </a:rPr>
                        <a:t>Total</a:t>
                      </a:r>
                      <a:r>
                        <a:rPr dirty="0" sz="750" spc="-3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Value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2920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</a:tr>
              <a:tr h="212725">
                <a:tc gridSpan="3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KLIPPOORTJE</a:t>
                      </a:r>
                      <a:r>
                        <a:rPr dirty="0" sz="750" spc="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AGRICULTURAL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LOTS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1185000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85" b="1">
                          <a:latin typeface="Verdana"/>
                          <a:cs typeface="Verdana"/>
                        </a:rPr>
                        <a:t>ERF</a:t>
                      </a:r>
                      <a:r>
                        <a:rPr dirty="0" sz="750" spc="1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 b="1">
                          <a:latin typeface="Verdana"/>
                          <a:cs typeface="Verdana"/>
                        </a:rPr>
                        <a:t>Number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M88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00000059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Portion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00013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0000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45">
                          <a:latin typeface="Verdana"/>
                          <a:cs typeface="Verdana"/>
                        </a:rPr>
                        <a:t>Area</a:t>
                      </a:r>
                      <a:r>
                        <a:rPr dirty="0" sz="7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latin typeface="Verdana"/>
                          <a:cs typeface="Verdana"/>
                        </a:rPr>
                        <a:t>m2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991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61950" y="3609657"/>
          <a:ext cx="6905625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230"/>
                <a:gridCol w="539750"/>
                <a:gridCol w="2387599"/>
                <a:gridCol w="1022985"/>
                <a:gridCol w="1022985"/>
                <a:gridCol w="1022984"/>
              </a:tblGrid>
              <a:tr h="635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 marL="30480">
                        <a:lnSpc>
                          <a:spcPct val="100000"/>
                        </a:lnSpc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 marR="562610">
                        <a:lnSpc>
                          <a:spcPts val="780"/>
                        </a:lnSpc>
                        <a:spcBef>
                          <a:spcPts val="5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METER-</a:t>
                      </a:r>
                      <a:r>
                        <a:rPr dirty="0" sz="750" spc="-8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dirty="0" sz="750" spc="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140047920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TARIFF: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WATER-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RESIDENTIAL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INTERIM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REVERSAL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28.000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1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283.46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35635">
                        <a:lnSpc>
                          <a:spcPct val="100000"/>
                        </a:lnSpc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819.73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42.52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r" marR="36195">
                        <a:lnSpc>
                          <a:spcPct val="100000"/>
                        </a:lnSpc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122.96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11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325.98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35635">
                        <a:lnSpc>
                          <a:spcPct val="100000"/>
                        </a:lnSpc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942.69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318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 b="1">
                          <a:latin typeface="Verdana"/>
                          <a:cs typeface="Verdana"/>
                        </a:rPr>
                        <a:t>SEWERAGE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solidFill>
                      <a:srgbClr val="CCD7DD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SEWER-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RESIDENTIAL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13</a:t>
                      </a:r>
                      <a:r>
                        <a:rPr dirty="0" sz="750" spc="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kl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339.47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50.92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390.39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09/13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INTERIM</a:t>
                      </a:r>
                      <a:r>
                        <a:rPr dirty="0" sz="75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REVERSAL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605.47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90.82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361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696.29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750" spc="-7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r>
                        <a:rPr dirty="0" sz="750" spc="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CURRENT</a:t>
                      </a:r>
                      <a:r>
                        <a:rPr dirty="0" sz="750" spc="-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6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LEVY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586.18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4000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361950" y="6139600"/>
            <a:ext cx="6829425" cy="711200"/>
          </a:xfrm>
          <a:custGeom>
            <a:avLst/>
            <a:gdLst/>
            <a:ahLst/>
            <a:cxnLst/>
            <a:rect l="l" t="t" r="r" b="b"/>
            <a:pathLst>
              <a:path w="6829425" h="711200">
                <a:moveTo>
                  <a:pt x="6793892" y="710658"/>
                </a:moveTo>
                <a:lnTo>
                  <a:pt x="42639" y="710658"/>
                </a:lnTo>
                <a:lnTo>
                  <a:pt x="26047" y="707305"/>
                </a:lnTo>
                <a:lnTo>
                  <a:pt x="12493" y="698164"/>
                </a:lnTo>
                <a:lnTo>
                  <a:pt x="3352" y="684610"/>
                </a:lnTo>
                <a:lnTo>
                  <a:pt x="0" y="668018"/>
                </a:lnTo>
                <a:lnTo>
                  <a:pt x="0" y="35532"/>
                </a:lnTo>
                <a:lnTo>
                  <a:pt x="2793" y="21706"/>
                </a:lnTo>
                <a:lnTo>
                  <a:pt x="10411" y="10411"/>
                </a:lnTo>
                <a:lnTo>
                  <a:pt x="21706" y="2793"/>
                </a:lnTo>
                <a:lnTo>
                  <a:pt x="35532" y="0"/>
                </a:lnTo>
                <a:lnTo>
                  <a:pt x="6786785" y="0"/>
                </a:lnTo>
                <a:lnTo>
                  <a:pt x="6803377" y="3352"/>
                </a:lnTo>
                <a:lnTo>
                  <a:pt x="6808944" y="7106"/>
                </a:lnTo>
                <a:lnTo>
                  <a:pt x="35532" y="7106"/>
                </a:lnTo>
                <a:lnTo>
                  <a:pt x="24471" y="9341"/>
                </a:lnTo>
                <a:lnTo>
                  <a:pt x="15435" y="15435"/>
                </a:lnTo>
                <a:lnTo>
                  <a:pt x="9341" y="24471"/>
                </a:lnTo>
                <a:lnTo>
                  <a:pt x="7106" y="35532"/>
                </a:lnTo>
                <a:lnTo>
                  <a:pt x="7106" y="668018"/>
                </a:lnTo>
                <a:lnTo>
                  <a:pt x="9900" y="681845"/>
                </a:lnTo>
                <a:lnTo>
                  <a:pt x="17517" y="693140"/>
                </a:lnTo>
                <a:lnTo>
                  <a:pt x="28812" y="700757"/>
                </a:lnTo>
                <a:lnTo>
                  <a:pt x="42639" y="703551"/>
                </a:lnTo>
                <a:lnTo>
                  <a:pt x="6814114" y="703551"/>
                </a:lnTo>
                <a:lnTo>
                  <a:pt x="6807718" y="707864"/>
                </a:lnTo>
                <a:lnTo>
                  <a:pt x="6793892" y="710658"/>
                </a:lnTo>
                <a:close/>
              </a:path>
              <a:path w="6829425" h="711200">
                <a:moveTo>
                  <a:pt x="6814114" y="703551"/>
                </a:moveTo>
                <a:lnTo>
                  <a:pt x="6793892" y="703551"/>
                </a:lnTo>
                <a:lnTo>
                  <a:pt x="6804953" y="701316"/>
                </a:lnTo>
                <a:lnTo>
                  <a:pt x="6813989" y="695222"/>
                </a:lnTo>
                <a:lnTo>
                  <a:pt x="6820083" y="686186"/>
                </a:lnTo>
                <a:lnTo>
                  <a:pt x="6822318" y="675125"/>
                </a:lnTo>
                <a:lnTo>
                  <a:pt x="6822318" y="42639"/>
                </a:lnTo>
                <a:lnTo>
                  <a:pt x="6819524" y="28812"/>
                </a:lnTo>
                <a:lnTo>
                  <a:pt x="6811907" y="17517"/>
                </a:lnTo>
                <a:lnTo>
                  <a:pt x="6800612" y="9900"/>
                </a:lnTo>
                <a:lnTo>
                  <a:pt x="6786785" y="7106"/>
                </a:lnTo>
                <a:lnTo>
                  <a:pt x="6808944" y="7106"/>
                </a:lnTo>
                <a:lnTo>
                  <a:pt x="6816931" y="12493"/>
                </a:lnTo>
                <a:lnTo>
                  <a:pt x="6826072" y="26047"/>
                </a:lnTo>
                <a:lnTo>
                  <a:pt x="6829425" y="42639"/>
                </a:lnTo>
                <a:lnTo>
                  <a:pt x="6829425" y="675125"/>
                </a:lnTo>
                <a:lnTo>
                  <a:pt x="6826631" y="688952"/>
                </a:lnTo>
                <a:lnTo>
                  <a:pt x="6819013" y="700247"/>
                </a:lnTo>
                <a:lnTo>
                  <a:pt x="6814114" y="703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986306" y="7902033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986306" y="8236042"/>
            <a:ext cx="3070225" cy="284480"/>
          </a:xfrm>
          <a:custGeom>
            <a:avLst/>
            <a:gdLst/>
            <a:ahLst/>
            <a:cxnLst/>
            <a:rect l="l" t="t" r="r" b="b"/>
            <a:pathLst>
              <a:path w="3070225" h="284479">
                <a:moveTo>
                  <a:pt x="2998977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2998977" y="0"/>
                </a:lnTo>
                <a:lnTo>
                  <a:pt x="3026631" y="5587"/>
                </a:lnTo>
                <a:lnTo>
                  <a:pt x="3028883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3028883" y="277156"/>
                </a:lnTo>
                <a:lnTo>
                  <a:pt x="3026631" y="278675"/>
                </a:lnTo>
                <a:lnTo>
                  <a:pt x="2998977" y="284263"/>
                </a:lnTo>
                <a:close/>
              </a:path>
              <a:path w="3070225" h="284479">
                <a:moveTo>
                  <a:pt x="3028883" y="277156"/>
                </a:moveTo>
                <a:lnTo>
                  <a:pt x="2998977" y="277156"/>
                </a:lnTo>
                <a:lnTo>
                  <a:pt x="3023865" y="272127"/>
                </a:lnTo>
                <a:lnTo>
                  <a:pt x="3044196" y="258416"/>
                </a:lnTo>
                <a:lnTo>
                  <a:pt x="3057907" y="238085"/>
                </a:lnTo>
                <a:lnTo>
                  <a:pt x="3062936" y="213197"/>
                </a:lnTo>
                <a:lnTo>
                  <a:pt x="3062936" y="71065"/>
                </a:lnTo>
                <a:lnTo>
                  <a:pt x="3057907" y="46177"/>
                </a:lnTo>
                <a:lnTo>
                  <a:pt x="3044196" y="25846"/>
                </a:lnTo>
                <a:lnTo>
                  <a:pt x="3023865" y="12135"/>
                </a:lnTo>
                <a:lnTo>
                  <a:pt x="2998977" y="7106"/>
                </a:lnTo>
                <a:lnTo>
                  <a:pt x="3028883" y="7106"/>
                </a:lnTo>
                <a:lnTo>
                  <a:pt x="3049221" y="20822"/>
                </a:lnTo>
                <a:lnTo>
                  <a:pt x="3064455" y="43412"/>
                </a:lnTo>
                <a:lnTo>
                  <a:pt x="3070043" y="71065"/>
                </a:lnTo>
                <a:lnTo>
                  <a:pt x="3070043" y="213197"/>
                </a:lnTo>
                <a:lnTo>
                  <a:pt x="3064455" y="240850"/>
                </a:lnTo>
                <a:lnTo>
                  <a:pt x="3049221" y="263441"/>
                </a:lnTo>
                <a:lnTo>
                  <a:pt x="3028883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5180212"/>
            <a:ext cx="952281" cy="24873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44173" y="5195939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30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231" y="5180212"/>
            <a:ext cx="952281" cy="24873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596455" y="5195939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60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6513" y="5180212"/>
            <a:ext cx="952281" cy="24873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48737" y="5195939"/>
            <a:ext cx="38100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15">
                <a:latin typeface="Verdana"/>
                <a:cs typeface="Verdana"/>
              </a:rPr>
              <a:t> </a:t>
            </a:r>
            <a:r>
              <a:rPr dirty="0" sz="750" spc="-40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8795" y="5180212"/>
            <a:ext cx="952281" cy="248730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3454826" y="5195939"/>
            <a:ext cx="473709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latin typeface="Verdana"/>
                <a:cs typeface="Verdana"/>
              </a:rPr>
              <a:t>90</a:t>
            </a:r>
            <a:r>
              <a:rPr dirty="0" sz="750" spc="-5">
                <a:latin typeface="Verdana"/>
                <a:cs typeface="Verdana"/>
              </a:rPr>
              <a:t> </a:t>
            </a:r>
            <a:r>
              <a:rPr dirty="0" sz="750" spc="-95">
                <a:latin typeface="Verdana"/>
                <a:cs typeface="Verdana"/>
              </a:rPr>
              <a:t>+</a:t>
            </a:r>
            <a:r>
              <a:rPr dirty="0" sz="750" spc="-65">
                <a:latin typeface="Verdana"/>
                <a:cs typeface="Verdana"/>
              </a:rPr>
              <a:t> </a:t>
            </a:r>
            <a:r>
              <a:rPr dirty="0" sz="750" spc="-35">
                <a:latin typeface="Verdana"/>
                <a:cs typeface="Verdana"/>
              </a:rPr>
              <a:t>Days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206610" y="5180212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360915" y="5195938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08585" marR="5080" indent="-96520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(excl.VAT)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5194425" y="5180212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5451775" y="5195939"/>
            <a:ext cx="438784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182240" y="5180212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336545" y="5195938"/>
            <a:ext cx="547370" cy="22923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2555" marR="5080" indent="-110489">
              <a:lnSpc>
                <a:spcPts val="730"/>
              </a:lnSpc>
              <a:spcBef>
                <a:spcPts val="240"/>
              </a:spcBef>
            </a:pP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Total</a:t>
            </a:r>
            <a:r>
              <a:rPr dirty="0" sz="70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Charge </a:t>
            </a:r>
            <a:r>
              <a:rPr dirty="0" sz="700" spc="-30">
                <a:solidFill>
                  <a:srgbClr val="333333"/>
                </a:solidFill>
                <a:latin typeface="Verdana"/>
                <a:cs typeface="Verdana"/>
              </a:rPr>
              <a:t>(incl.VAT)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61950" y="5500008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59908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314231" y="5500008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012190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2266513" y="5500008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964471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54328" y="5500008"/>
            <a:ext cx="952281" cy="248730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3952287" y="5515735"/>
            <a:ext cx="2197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latin typeface="Verdana"/>
                <a:cs typeface="Verdana"/>
              </a:rPr>
              <a:t>0.00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2143" y="5500008"/>
            <a:ext cx="952281" cy="248730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4769543" y="5515735"/>
            <a:ext cx="3905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1022.71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29958" y="5500008"/>
            <a:ext cx="952281" cy="248730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5835531" y="5515735"/>
            <a:ext cx="31242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70">
                <a:latin typeface="Verdana"/>
                <a:cs typeface="Verdana"/>
              </a:rPr>
              <a:t>-</a:t>
            </a:r>
            <a:r>
              <a:rPr dirty="0" sz="750" spc="-35">
                <a:latin typeface="Verdana"/>
                <a:cs typeface="Verdana"/>
              </a:rPr>
              <a:t>53.14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7773" y="5500008"/>
            <a:ext cx="916749" cy="248730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6766493" y="5515735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</a:rPr>
              <a:t>969.57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315745" y="5849744"/>
            <a:ext cx="93281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60" b="1">
                <a:solidFill>
                  <a:srgbClr val="333333"/>
                </a:solidFill>
                <a:latin typeface="Verdana"/>
                <a:cs typeface="Verdana"/>
              </a:rPr>
              <a:t>Advance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2273620" y="581980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81216" y="248730"/>
                </a:moveTo>
                <a:lnTo>
                  <a:pt x="71065" y="248730"/>
                </a:lnTo>
                <a:lnTo>
                  <a:pt x="43412" y="243142"/>
                </a:lnTo>
                <a:lnTo>
                  <a:pt x="20822" y="227908"/>
                </a:lnTo>
                <a:lnTo>
                  <a:pt x="5587" y="205318"/>
                </a:lnTo>
                <a:lnTo>
                  <a:pt x="0" y="177664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881216" y="0"/>
                </a:lnTo>
                <a:lnTo>
                  <a:pt x="908869" y="5587"/>
                </a:lnTo>
                <a:lnTo>
                  <a:pt x="911122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177664"/>
                </a:lnTo>
                <a:lnTo>
                  <a:pt x="12135" y="202552"/>
                </a:lnTo>
                <a:lnTo>
                  <a:pt x="25846" y="222883"/>
                </a:lnTo>
                <a:lnTo>
                  <a:pt x="46177" y="236595"/>
                </a:lnTo>
                <a:lnTo>
                  <a:pt x="71065" y="241623"/>
                </a:lnTo>
                <a:lnTo>
                  <a:pt x="911122" y="241623"/>
                </a:lnTo>
                <a:lnTo>
                  <a:pt x="908869" y="243142"/>
                </a:lnTo>
                <a:lnTo>
                  <a:pt x="881216" y="248730"/>
                </a:lnTo>
                <a:close/>
              </a:path>
              <a:path w="952500" h="248920">
                <a:moveTo>
                  <a:pt x="911122" y="241623"/>
                </a:moveTo>
                <a:lnTo>
                  <a:pt x="881216" y="241623"/>
                </a:lnTo>
                <a:lnTo>
                  <a:pt x="906104" y="236595"/>
                </a:lnTo>
                <a:lnTo>
                  <a:pt x="926435" y="222883"/>
                </a:lnTo>
                <a:lnTo>
                  <a:pt x="940146" y="202552"/>
                </a:lnTo>
                <a:lnTo>
                  <a:pt x="945175" y="177664"/>
                </a:lnTo>
                <a:lnTo>
                  <a:pt x="945175" y="71065"/>
                </a:lnTo>
                <a:lnTo>
                  <a:pt x="940146" y="46177"/>
                </a:lnTo>
                <a:lnTo>
                  <a:pt x="926435" y="25846"/>
                </a:lnTo>
                <a:lnTo>
                  <a:pt x="906104" y="12135"/>
                </a:lnTo>
                <a:lnTo>
                  <a:pt x="881216" y="7106"/>
                </a:lnTo>
                <a:lnTo>
                  <a:pt x="911122" y="7106"/>
                </a:lnTo>
                <a:lnTo>
                  <a:pt x="931459" y="20822"/>
                </a:lnTo>
                <a:lnTo>
                  <a:pt x="946694" y="43412"/>
                </a:lnTo>
                <a:lnTo>
                  <a:pt x="952281" y="71065"/>
                </a:lnTo>
                <a:lnTo>
                  <a:pt x="952281" y="177664"/>
                </a:lnTo>
                <a:lnTo>
                  <a:pt x="946694" y="205318"/>
                </a:lnTo>
                <a:lnTo>
                  <a:pt x="931459" y="227908"/>
                </a:lnTo>
                <a:lnTo>
                  <a:pt x="911122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2992898" y="5835531"/>
            <a:ext cx="201930" cy="136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00" spc="-40">
                <a:solidFill>
                  <a:srgbClr val="333333"/>
                </a:solidFill>
                <a:latin typeface="Verdana"/>
                <a:cs typeface="Verdana"/>
              </a:rPr>
              <a:t>0.00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696449" y="5849744"/>
            <a:ext cx="45656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Date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4249250" y="5819804"/>
            <a:ext cx="952500" cy="248920"/>
          </a:xfrm>
          <a:custGeom>
            <a:avLst/>
            <a:gdLst/>
            <a:ahLst/>
            <a:cxnLst/>
            <a:rect l="l" t="t" r="r" b="b"/>
            <a:pathLst>
              <a:path w="952500" h="248920">
                <a:moveTo>
                  <a:pt x="845683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45683" y="0"/>
                </a:lnTo>
                <a:lnTo>
                  <a:pt x="880854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80854" y="241623"/>
                </a:lnTo>
                <a:lnTo>
                  <a:pt x="845683" y="248730"/>
                </a:lnTo>
                <a:close/>
              </a:path>
              <a:path w="952500" h="248920">
                <a:moveTo>
                  <a:pt x="880854" y="241623"/>
                </a:moveTo>
                <a:lnTo>
                  <a:pt x="845683" y="241623"/>
                </a:lnTo>
                <a:lnTo>
                  <a:pt x="884398" y="233801"/>
                </a:lnTo>
                <a:lnTo>
                  <a:pt x="916024" y="212472"/>
                </a:lnTo>
                <a:lnTo>
                  <a:pt x="937352" y="180846"/>
                </a:lnTo>
                <a:lnTo>
                  <a:pt x="945175" y="142131"/>
                </a:lnTo>
                <a:lnTo>
                  <a:pt x="945175" y="106598"/>
                </a:lnTo>
                <a:lnTo>
                  <a:pt x="937352" y="67883"/>
                </a:lnTo>
                <a:lnTo>
                  <a:pt x="916024" y="36257"/>
                </a:lnTo>
                <a:lnTo>
                  <a:pt x="884398" y="14929"/>
                </a:lnTo>
                <a:lnTo>
                  <a:pt x="845683" y="7106"/>
                </a:lnTo>
                <a:lnTo>
                  <a:pt x="880854" y="7106"/>
                </a:lnTo>
                <a:lnTo>
                  <a:pt x="887163" y="8381"/>
                </a:lnTo>
                <a:lnTo>
                  <a:pt x="921048" y="31233"/>
                </a:lnTo>
                <a:lnTo>
                  <a:pt x="943900" y="65118"/>
                </a:lnTo>
                <a:lnTo>
                  <a:pt x="952281" y="106598"/>
                </a:lnTo>
                <a:lnTo>
                  <a:pt x="952281" y="142131"/>
                </a:lnTo>
                <a:lnTo>
                  <a:pt x="943900" y="183611"/>
                </a:lnTo>
                <a:lnTo>
                  <a:pt x="921048" y="217497"/>
                </a:lnTo>
                <a:lnTo>
                  <a:pt x="887163" y="240349"/>
                </a:lnTo>
                <a:lnTo>
                  <a:pt x="880854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4449747" y="5835531"/>
            <a:ext cx="54673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345176" y="5849744"/>
            <a:ext cx="78359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 b="1">
                <a:solidFill>
                  <a:srgbClr val="333333"/>
                </a:solidFill>
                <a:latin typeface="Verdana"/>
                <a:cs typeface="Verdana"/>
              </a:rPr>
              <a:t>Payable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224880" y="5819804"/>
            <a:ext cx="916940" cy="248920"/>
          </a:xfrm>
          <a:custGeom>
            <a:avLst/>
            <a:gdLst/>
            <a:ahLst/>
            <a:cxnLst/>
            <a:rect l="l" t="t" r="r" b="b"/>
            <a:pathLst>
              <a:path w="916940" h="248920">
                <a:moveTo>
                  <a:pt x="810150" y="248730"/>
                </a:moveTo>
                <a:lnTo>
                  <a:pt x="106598" y="248730"/>
                </a:lnTo>
                <a:lnTo>
                  <a:pt x="65118" y="240349"/>
                </a:lnTo>
                <a:lnTo>
                  <a:pt x="31233" y="217497"/>
                </a:lnTo>
                <a:lnTo>
                  <a:pt x="8381" y="183611"/>
                </a:lnTo>
                <a:lnTo>
                  <a:pt x="0" y="142131"/>
                </a:lnTo>
                <a:lnTo>
                  <a:pt x="0" y="106598"/>
                </a:lnTo>
                <a:lnTo>
                  <a:pt x="8381" y="65118"/>
                </a:lnTo>
                <a:lnTo>
                  <a:pt x="31233" y="31233"/>
                </a:lnTo>
                <a:lnTo>
                  <a:pt x="65118" y="8381"/>
                </a:lnTo>
                <a:lnTo>
                  <a:pt x="106598" y="0"/>
                </a:lnTo>
                <a:lnTo>
                  <a:pt x="810150" y="0"/>
                </a:lnTo>
                <a:lnTo>
                  <a:pt x="845321" y="7106"/>
                </a:lnTo>
                <a:lnTo>
                  <a:pt x="106598" y="7106"/>
                </a:lnTo>
                <a:lnTo>
                  <a:pt x="67883" y="14929"/>
                </a:lnTo>
                <a:lnTo>
                  <a:pt x="36257" y="36257"/>
                </a:lnTo>
                <a:lnTo>
                  <a:pt x="14929" y="67883"/>
                </a:lnTo>
                <a:lnTo>
                  <a:pt x="7106" y="106598"/>
                </a:lnTo>
                <a:lnTo>
                  <a:pt x="7106" y="142131"/>
                </a:lnTo>
                <a:lnTo>
                  <a:pt x="14929" y="180846"/>
                </a:lnTo>
                <a:lnTo>
                  <a:pt x="36257" y="212472"/>
                </a:lnTo>
                <a:lnTo>
                  <a:pt x="67883" y="233801"/>
                </a:lnTo>
                <a:lnTo>
                  <a:pt x="106598" y="241623"/>
                </a:lnTo>
                <a:lnTo>
                  <a:pt x="845321" y="241623"/>
                </a:lnTo>
                <a:lnTo>
                  <a:pt x="810150" y="248730"/>
                </a:lnTo>
                <a:close/>
              </a:path>
              <a:path w="916940" h="248920">
                <a:moveTo>
                  <a:pt x="845321" y="241623"/>
                </a:moveTo>
                <a:lnTo>
                  <a:pt x="810150" y="241623"/>
                </a:lnTo>
                <a:lnTo>
                  <a:pt x="848865" y="233801"/>
                </a:lnTo>
                <a:lnTo>
                  <a:pt x="880491" y="212472"/>
                </a:lnTo>
                <a:lnTo>
                  <a:pt x="901819" y="180846"/>
                </a:lnTo>
                <a:lnTo>
                  <a:pt x="909642" y="142131"/>
                </a:lnTo>
                <a:lnTo>
                  <a:pt x="909642" y="106598"/>
                </a:lnTo>
                <a:lnTo>
                  <a:pt x="901819" y="67883"/>
                </a:lnTo>
                <a:lnTo>
                  <a:pt x="880491" y="36257"/>
                </a:lnTo>
                <a:lnTo>
                  <a:pt x="848865" y="14929"/>
                </a:lnTo>
                <a:lnTo>
                  <a:pt x="810150" y="7106"/>
                </a:lnTo>
                <a:lnTo>
                  <a:pt x="845321" y="7106"/>
                </a:lnTo>
                <a:lnTo>
                  <a:pt x="851630" y="8381"/>
                </a:lnTo>
                <a:lnTo>
                  <a:pt x="885515" y="31233"/>
                </a:lnTo>
                <a:lnTo>
                  <a:pt x="908367" y="65118"/>
                </a:lnTo>
                <a:lnTo>
                  <a:pt x="916749" y="106598"/>
                </a:lnTo>
                <a:lnTo>
                  <a:pt x="916749" y="142131"/>
                </a:lnTo>
                <a:lnTo>
                  <a:pt x="908367" y="183611"/>
                </a:lnTo>
                <a:lnTo>
                  <a:pt x="885515" y="217497"/>
                </a:lnTo>
                <a:lnTo>
                  <a:pt x="851630" y="240349"/>
                </a:lnTo>
                <a:lnTo>
                  <a:pt x="845321" y="241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6773599" y="5835531"/>
            <a:ext cx="33337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3986306" y="8570052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535021" y="284263"/>
                </a:moveTo>
                <a:lnTo>
                  <a:pt x="71065" y="284263"/>
                </a:lnTo>
                <a:lnTo>
                  <a:pt x="43412" y="278675"/>
                </a:lnTo>
                <a:lnTo>
                  <a:pt x="20822" y="263441"/>
                </a:lnTo>
                <a:lnTo>
                  <a:pt x="5587" y="240850"/>
                </a:lnTo>
                <a:lnTo>
                  <a:pt x="0" y="213197"/>
                </a:lnTo>
                <a:lnTo>
                  <a:pt x="0" y="71065"/>
                </a:lnTo>
                <a:lnTo>
                  <a:pt x="5587" y="43412"/>
                </a:lnTo>
                <a:lnTo>
                  <a:pt x="20822" y="20822"/>
                </a:lnTo>
                <a:lnTo>
                  <a:pt x="43412" y="5587"/>
                </a:lnTo>
                <a:lnTo>
                  <a:pt x="71065" y="0"/>
                </a:lnTo>
                <a:lnTo>
                  <a:pt x="1535021" y="0"/>
                </a:lnTo>
                <a:lnTo>
                  <a:pt x="1535021" y="7106"/>
                </a:lnTo>
                <a:lnTo>
                  <a:pt x="71065" y="7106"/>
                </a:lnTo>
                <a:lnTo>
                  <a:pt x="46177" y="12135"/>
                </a:lnTo>
                <a:lnTo>
                  <a:pt x="25846" y="25846"/>
                </a:lnTo>
                <a:lnTo>
                  <a:pt x="12135" y="46177"/>
                </a:lnTo>
                <a:lnTo>
                  <a:pt x="7106" y="71065"/>
                </a:lnTo>
                <a:lnTo>
                  <a:pt x="7106" y="213197"/>
                </a:lnTo>
                <a:lnTo>
                  <a:pt x="12135" y="238085"/>
                </a:lnTo>
                <a:lnTo>
                  <a:pt x="25846" y="258416"/>
                </a:lnTo>
                <a:lnTo>
                  <a:pt x="46177" y="272127"/>
                </a:lnTo>
                <a:lnTo>
                  <a:pt x="71065" y="277156"/>
                </a:lnTo>
                <a:lnTo>
                  <a:pt x="1535021" y="277156"/>
                </a:lnTo>
                <a:lnTo>
                  <a:pt x="1535021" y="284263"/>
                </a:lnTo>
                <a:close/>
              </a:path>
              <a:path w="1535429" h="284479">
                <a:moveTo>
                  <a:pt x="1535021" y="277156"/>
                </a:moveTo>
                <a:lnTo>
                  <a:pt x="1527915" y="277156"/>
                </a:lnTo>
                <a:lnTo>
                  <a:pt x="1527915" y="7106"/>
                </a:lnTo>
                <a:lnTo>
                  <a:pt x="1535021" y="7106"/>
                </a:lnTo>
                <a:lnTo>
                  <a:pt x="153502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4478173" y="8550245"/>
            <a:ext cx="5467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Date 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2025-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10-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13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5521328" y="8570052"/>
            <a:ext cx="1535430" cy="284480"/>
          </a:xfrm>
          <a:custGeom>
            <a:avLst/>
            <a:gdLst/>
            <a:ahLst/>
            <a:cxnLst/>
            <a:rect l="l" t="t" r="r" b="b"/>
            <a:pathLst>
              <a:path w="1535429" h="284479">
                <a:moveTo>
                  <a:pt x="1463955" y="284263"/>
                </a:moveTo>
                <a:lnTo>
                  <a:pt x="0" y="284263"/>
                </a:lnTo>
                <a:lnTo>
                  <a:pt x="0" y="0"/>
                </a:lnTo>
                <a:lnTo>
                  <a:pt x="1463955" y="0"/>
                </a:lnTo>
                <a:lnTo>
                  <a:pt x="1491609" y="5587"/>
                </a:lnTo>
                <a:lnTo>
                  <a:pt x="1493861" y="7106"/>
                </a:lnTo>
                <a:lnTo>
                  <a:pt x="7106" y="7106"/>
                </a:lnTo>
                <a:lnTo>
                  <a:pt x="7106" y="277156"/>
                </a:lnTo>
                <a:lnTo>
                  <a:pt x="1493861" y="277156"/>
                </a:lnTo>
                <a:lnTo>
                  <a:pt x="1491609" y="278675"/>
                </a:lnTo>
                <a:lnTo>
                  <a:pt x="1463955" y="284263"/>
                </a:lnTo>
                <a:close/>
              </a:path>
              <a:path w="1535429" h="284479">
                <a:moveTo>
                  <a:pt x="1493861" y="277156"/>
                </a:moveTo>
                <a:lnTo>
                  <a:pt x="1463955" y="277156"/>
                </a:lnTo>
                <a:lnTo>
                  <a:pt x="1488844" y="272127"/>
                </a:lnTo>
                <a:lnTo>
                  <a:pt x="1509175" y="258416"/>
                </a:lnTo>
                <a:lnTo>
                  <a:pt x="1522886" y="238085"/>
                </a:lnTo>
                <a:lnTo>
                  <a:pt x="1527915" y="213197"/>
                </a:lnTo>
                <a:lnTo>
                  <a:pt x="1527915" y="71065"/>
                </a:lnTo>
                <a:lnTo>
                  <a:pt x="1522886" y="46177"/>
                </a:lnTo>
                <a:lnTo>
                  <a:pt x="1509175" y="25846"/>
                </a:lnTo>
                <a:lnTo>
                  <a:pt x="1488844" y="12135"/>
                </a:lnTo>
                <a:lnTo>
                  <a:pt x="1463955" y="7106"/>
                </a:lnTo>
                <a:lnTo>
                  <a:pt x="1493861" y="7106"/>
                </a:lnTo>
                <a:lnTo>
                  <a:pt x="1514199" y="20822"/>
                </a:lnTo>
                <a:lnTo>
                  <a:pt x="1529434" y="43412"/>
                </a:lnTo>
                <a:lnTo>
                  <a:pt x="1535021" y="71065"/>
                </a:lnTo>
                <a:lnTo>
                  <a:pt x="1535021" y="213197"/>
                </a:lnTo>
                <a:lnTo>
                  <a:pt x="1529434" y="240850"/>
                </a:lnTo>
                <a:lnTo>
                  <a:pt x="1514199" y="263441"/>
                </a:lnTo>
                <a:lnTo>
                  <a:pt x="1493861" y="27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5860403" y="8550245"/>
            <a:ext cx="74231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271780" marR="5080" indent="-259715">
              <a:lnSpc>
                <a:spcPts val="780"/>
              </a:lnSpc>
              <a:spcBef>
                <a:spcPts val="259"/>
              </a:spcBef>
            </a:pP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7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Payable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970.00</a:t>
            </a:r>
            <a:endParaRPr sz="750">
              <a:latin typeface="Verdana"/>
              <a:cs typeface="Verdan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61950" y="7902033"/>
            <a:ext cx="3411220" cy="1052195"/>
            <a:chOff x="361950" y="7902033"/>
            <a:chExt cx="3411220" cy="1052195"/>
          </a:xfrm>
        </p:grpSpPr>
        <p:sp>
          <p:nvSpPr>
            <p:cNvPr id="49" name="object 49" descr=""/>
            <p:cNvSpPr/>
            <p:nvPr/>
          </p:nvSpPr>
          <p:spPr>
            <a:xfrm>
              <a:off x="361950" y="7902033"/>
              <a:ext cx="3411220" cy="995044"/>
            </a:xfrm>
            <a:custGeom>
              <a:avLst/>
              <a:gdLst/>
              <a:ahLst/>
              <a:cxnLst/>
              <a:rect l="l" t="t" r="r" b="b"/>
              <a:pathLst>
                <a:path w="3411220" h="995045">
                  <a:moveTo>
                    <a:pt x="3340093" y="994921"/>
                  </a:moveTo>
                  <a:lnTo>
                    <a:pt x="71065" y="994921"/>
                  </a:lnTo>
                  <a:lnTo>
                    <a:pt x="43412" y="989333"/>
                  </a:lnTo>
                  <a:lnTo>
                    <a:pt x="20822" y="974099"/>
                  </a:lnTo>
                  <a:lnTo>
                    <a:pt x="5587" y="951509"/>
                  </a:lnTo>
                  <a:lnTo>
                    <a:pt x="0" y="923855"/>
                  </a:lnTo>
                  <a:lnTo>
                    <a:pt x="0" y="71065"/>
                  </a:lnTo>
                  <a:lnTo>
                    <a:pt x="5587" y="43412"/>
                  </a:lnTo>
                  <a:lnTo>
                    <a:pt x="20822" y="20822"/>
                  </a:lnTo>
                  <a:lnTo>
                    <a:pt x="43412" y="5587"/>
                  </a:lnTo>
                  <a:lnTo>
                    <a:pt x="71065" y="0"/>
                  </a:lnTo>
                  <a:lnTo>
                    <a:pt x="3340093" y="0"/>
                  </a:lnTo>
                  <a:lnTo>
                    <a:pt x="3367746" y="5587"/>
                  </a:lnTo>
                  <a:lnTo>
                    <a:pt x="3369999" y="7106"/>
                  </a:lnTo>
                  <a:lnTo>
                    <a:pt x="71065" y="7106"/>
                  </a:lnTo>
                  <a:lnTo>
                    <a:pt x="46177" y="12135"/>
                  </a:lnTo>
                  <a:lnTo>
                    <a:pt x="25846" y="25846"/>
                  </a:lnTo>
                  <a:lnTo>
                    <a:pt x="12135" y="46177"/>
                  </a:lnTo>
                  <a:lnTo>
                    <a:pt x="7106" y="71065"/>
                  </a:lnTo>
                  <a:lnTo>
                    <a:pt x="7106" y="923855"/>
                  </a:lnTo>
                  <a:lnTo>
                    <a:pt x="12135" y="948743"/>
                  </a:lnTo>
                  <a:lnTo>
                    <a:pt x="25846" y="969074"/>
                  </a:lnTo>
                  <a:lnTo>
                    <a:pt x="46177" y="982786"/>
                  </a:lnTo>
                  <a:lnTo>
                    <a:pt x="71065" y="987814"/>
                  </a:lnTo>
                  <a:lnTo>
                    <a:pt x="3369999" y="987814"/>
                  </a:lnTo>
                  <a:lnTo>
                    <a:pt x="3367746" y="989333"/>
                  </a:lnTo>
                  <a:lnTo>
                    <a:pt x="3340093" y="994921"/>
                  </a:lnTo>
                  <a:close/>
                </a:path>
                <a:path w="3411220" h="995045">
                  <a:moveTo>
                    <a:pt x="3369999" y="987814"/>
                  </a:moveTo>
                  <a:lnTo>
                    <a:pt x="3340093" y="987814"/>
                  </a:lnTo>
                  <a:lnTo>
                    <a:pt x="3364981" y="982786"/>
                  </a:lnTo>
                  <a:lnTo>
                    <a:pt x="3385312" y="969074"/>
                  </a:lnTo>
                  <a:lnTo>
                    <a:pt x="3399023" y="948743"/>
                  </a:lnTo>
                  <a:lnTo>
                    <a:pt x="3404052" y="923855"/>
                  </a:lnTo>
                  <a:lnTo>
                    <a:pt x="3404052" y="71065"/>
                  </a:lnTo>
                  <a:lnTo>
                    <a:pt x="3399023" y="46177"/>
                  </a:lnTo>
                  <a:lnTo>
                    <a:pt x="3385312" y="25846"/>
                  </a:lnTo>
                  <a:lnTo>
                    <a:pt x="3364981" y="12135"/>
                  </a:lnTo>
                  <a:lnTo>
                    <a:pt x="3340093" y="7106"/>
                  </a:lnTo>
                  <a:lnTo>
                    <a:pt x="3369999" y="7106"/>
                  </a:lnTo>
                  <a:lnTo>
                    <a:pt x="3390336" y="20822"/>
                  </a:lnTo>
                  <a:lnTo>
                    <a:pt x="3405571" y="43412"/>
                  </a:lnTo>
                  <a:lnTo>
                    <a:pt x="3411159" y="71065"/>
                  </a:lnTo>
                  <a:lnTo>
                    <a:pt x="3411159" y="923855"/>
                  </a:lnTo>
                  <a:lnTo>
                    <a:pt x="3405571" y="951509"/>
                  </a:lnTo>
                  <a:lnTo>
                    <a:pt x="3390336" y="974099"/>
                  </a:lnTo>
                  <a:lnTo>
                    <a:pt x="3369999" y="987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2100" y="7944672"/>
              <a:ext cx="497460" cy="35532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7021" y="7944672"/>
              <a:ext cx="1421316" cy="35532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0122" y="7944672"/>
              <a:ext cx="497460" cy="1009134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32504" y="8598477"/>
              <a:ext cx="355329" cy="213197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1159400" y="8379686"/>
            <a:ext cx="2096135" cy="4794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95">
                <a:solidFill>
                  <a:srgbClr val="333333"/>
                </a:solidFill>
                <a:latin typeface="Verdana"/>
                <a:cs typeface="Verdana"/>
              </a:rPr>
              <a:t>&gt;</a:t>
            </a: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14">
                <a:solidFill>
                  <a:srgbClr val="333333"/>
                </a:solidFill>
                <a:latin typeface="Verdana"/>
                <a:cs typeface="Verdana"/>
              </a:rPr>
              <a:t>&gt;&gt;&gt;&gt;&gt;&gt;</a:t>
            </a:r>
            <a:r>
              <a:rPr dirty="0" sz="75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>
                <a:solidFill>
                  <a:srgbClr val="333333"/>
                </a:solidFill>
                <a:latin typeface="Verdana"/>
                <a:cs typeface="Verdana"/>
              </a:rPr>
              <a:t>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1339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2608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2948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510</a:t>
            </a:r>
            <a:endParaRPr sz="750">
              <a:latin typeface="Verdana"/>
              <a:cs typeface="Verdana"/>
            </a:endParaRPr>
          </a:p>
          <a:p>
            <a:pPr marL="1242060">
              <a:lnSpc>
                <a:spcPts val="730"/>
              </a:lnSpc>
              <a:spcBef>
                <a:spcPts val="39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11544</a:t>
            </a:r>
            <a:r>
              <a:rPr dirty="0" baseline="3703" sz="1125" spc="-44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baseline="3703" sz="1125">
              <a:latin typeface="Verdana"/>
              <a:cs typeface="Verdana"/>
            </a:endParaRPr>
          </a:p>
          <a:p>
            <a:pPr marL="12700">
              <a:lnSpc>
                <a:spcPts val="730"/>
              </a:lnSpc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917776" y="562447"/>
            <a:ext cx="10769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6" name="object 5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1950" y="688852"/>
            <a:ext cx="1563447" cy="781723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860923" y="1514729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2047723" y="1024375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060423" y="1257379"/>
            <a:ext cx="213197" cy="177664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2388838" y="1223359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87322" y="1257379"/>
            <a:ext cx="213197" cy="177664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4115738" y="1123867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6240606" y="917776"/>
            <a:ext cx="96266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0" b="1">
                <a:solidFill>
                  <a:srgbClr val="333333"/>
                </a:solidFill>
                <a:latin typeface="Verdana"/>
                <a:cs typeface="Verdana"/>
              </a:rPr>
              <a:t>COPY</a:t>
            </a: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TAX</a:t>
            </a:r>
            <a:r>
              <a:rPr dirty="0" sz="750" spc="-2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5" b="1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935023" y="1104842"/>
            <a:ext cx="1268095" cy="43307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 b="1">
                <a:solidFill>
                  <a:srgbClr val="333333"/>
                </a:solidFill>
                <a:latin typeface="Verdana"/>
                <a:cs typeface="Verdana"/>
              </a:rPr>
              <a:t>4280193493</a:t>
            </a:r>
            <a:endParaRPr sz="750">
              <a:latin typeface="Verdana"/>
              <a:cs typeface="Verdana"/>
            </a:endParaRPr>
          </a:p>
          <a:p>
            <a:pPr marL="289560" marR="5080" indent="283845">
              <a:lnSpc>
                <a:spcPct val="79900"/>
              </a:lnSpc>
              <a:spcBef>
                <a:spcPts val="550"/>
              </a:spcBef>
            </a:pPr>
            <a:r>
              <a:rPr dirty="0" sz="700" spc="-35">
                <a:solidFill>
                  <a:srgbClr val="333333"/>
                </a:solidFill>
                <a:latin typeface="Verdana"/>
                <a:cs typeface="Verdana"/>
              </a:rPr>
              <a:t>Invoice</a:t>
            </a:r>
            <a:r>
              <a:rPr dirty="0" sz="70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50">
                <a:solidFill>
                  <a:srgbClr val="333333"/>
                </a:solidFill>
                <a:latin typeface="Verdana"/>
                <a:cs typeface="Verdana"/>
              </a:rPr>
              <a:t>Number:</a:t>
            </a:r>
            <a:r>
              <a:rPr dirty="0" sz="70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00" spc="-65">
                <a:solidFill>
                  <a:srgbClr val="333333"/>
                </a:solidFill>
                <a:latin typeface="Verdana"/>
                <a:cs typeface="Verdana"/>
              </a:rPr>
              <a:t>26082948512025/09/13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3645190"/>
            <a:ext cx="142131" cy="142131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3858388"/>
            <a:ext cx="142131" cy="142131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6617" y="4071585"/>
            <a:ext cx="142131" cy="142131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06617" y="4497980"/>
            <a:ext cx="142131" cy="142131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406617" y="4711177"/>
            <a:ext cx="142131" cy="142131"/>
          </a:xfrm>
          <a:prstGeom prst="rect">
            <a:avLst/>
          </a:prstGeom>
        </p:spPr>
      </p:pic>
      <p:sp>
        <p:nvSpPr>
          <p:cNvPr id="70" name="object 70" descr=""/>
          <p:cNvSpPr txBox="1"/>
          <p:nvPr/>
        </p:nvSpPr>
        <p:spPr>
          <a:xfrm>
            <a:off x="391889" y="6119794"/>
            <a:ext cx="44005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65">
                <a:solidFill>
                  <a:srgbClr val="333333"/>
                </a:solidFill>
                <a:latin typeface="Verdana"/>
                <a:cs typeface="Verdana"/>
              </a:rPr>
              <a:t>MESSAGE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917776" y="6880198"/>
            <a:ext cx="117983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5">
                <a:solidFill>
                  <a:srgbClr val="0000FF"/>
                </a:solidFill>
                <a:latin typeface="Verdana"/>
                <a:cs typeface="Verdana"/>
                <a:hlinkClick r:id="rId14"/>
              </a:rPr>
              <a:t>www.ekurhuleni.gov.za</a:t>
            </a:r>
            <a:endParaRPr sz="950">
              <a:latin typeface="Verdana"/>
              <a:cs typeface="Verdana"/>
            </a:endParaRPr>
          </a:p>
        </p:txBody>
      </p:sp>
      <p:pic>
        <p:nvPicPr>
          <p:cNvPr id="72" name="object 7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61950" y="7159902"/>
            <a:ext cx="1412702" cy="507612"/>
          </a:xfrm>
          <a:prstGeom prst="rect">
            <a:avLst/>
          </a:prstGeom>
        </p:spPr>
      </p:pic>
      <p:sp>
        <p:nvSpPr>
          <p:cNvPr id="73" name="object 73" descr=""/>
          <p:cNvSpPr txBox="1"/>
          <p:nvPr/>
        </p:nvSpPr>
        <p:spPr>
          <a:xfrm>
            <a:off x="953309" y="7711668"/>
            <a:ext cx="1134110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7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partnership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works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2140108" y="7207101"/>
            <a:ext cx="1609725" cy="145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50" spc="-35">
                <a:latin typeface="Verdana"/>
                <a:cs typeface="Verdana"/>
                <a:hlinkClick r:id="rId16"/>
              </a:rPr>
              <a:t>www.siyakhokha.ekurhuleni.gov.za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5" name="object 7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52808" y="7440105"/>
            <a:ext cx="213197" cy="177664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2424371" y="7406085"/>
            <a:ext cx="140398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7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Portal </a:t>
            </a:r>
            <a:r>
              <a:rPr dirty="0" sz="750" spc="-40">
                <a:latin typeface="Verdana"/>
                <a:cs typeface="Verdana"/>
                <a:hlinkClick r:id="rId18"/>
              </a:rPr>
              <a:t>siyakhokha@ekurhuleni.gov.za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7" name="object 7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22855" y="7440105"/>
            <a:ext cx="213197" cy="177664"/>
          </a:xfrm>
          <a:prstGeom prst="rect">
            <a:avLst/>
          </a:prstGeom>
        </p:spPr>
      </p:pic>
      <p:sp>
        <p:nvSpPr>
          <p:cNvPr id="78" name="object 78" descr=""/>
          <p:cNvSpPr txBox="1"/>
          <p:nvPr/>
        </p:nvSpPr>
        <p:spPr>
          <a:xfrm>
            <a:off x="4094418" y="7306593"/>
            <a:ext cx="1325880" cy="443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30">
                <a:solidFill>
                  <a:srgbClr val="333333"/>
                </a:solidFill>
                <a:latin typeface="Verdana"/>
                <a:cs typeface="Verdana"/>
              </a:rPr>
              <a:t>Phone:</a:t>
            </a:r>
            <a:r>
              <a:rPr dirty="0" sz="750" spc="-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333333"/>
                </a:solidFill>
                <a:latin typeface="Verdana"/>
                <a:cs typeface="Verdana"/>
              </a:rPr>
              <a:t>0860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543</a:t>
            </a:r>
            <a:r>
              <a:rPr dirty="0" sz="7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endParaRPr sz="750">
              <a:latin typeface="Verdana"/>
              <a:cs typeface="Verdana"/>
            </a:endParaRPr>
          </a:p>
          <a:p>
            <a:pPr marL="12700" marR="5080">
              <a:lnSpc>
                <a:spcPts val="780"/>
              </a:lnSpc>
              <a:spcBef>
                <a:spcPts val="70"/>
              </a:spcBef>
            </a:pP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Email: 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  <a:hlinkClick r:id="rId20"/>
              </a:rPr>
              <a:t>callcentre@ekurhuleni.gov.za</a:t>
            </a:r>
            <a:r>
              <a:rPr dirty="0" sz="750" spc="-40">
                <a:solidFill>
                  <a:srgbClr val="333333"/>
                </a:solidFill>
                <a:latin typeface="Verdana"/>
                <a:cs typeface="Verdana"/>
              </a:rPr>
              <a:t> Twitter:</a:t>
            </a:r>
            <a:r>
              <a:rPr dirty="0" sz="7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@EMM_Call_Centre</a:t>
            </a:r>
            <a:endParaRPr sz="750">
              <a:latin typeface="Verdana"/>
              <a:cs typeface="Verdana"/>
            </a:endParaRPr>
          </a:p>
        </p:txBody>
      </p:sp>
      <p:pic>
        <p:nvPicPr>
          <p:cNvPr id="79" name="object 79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414729" y="7079376"/>
            <a:ext cx="1123435" cy="634828"/>
          </a:xfrm>
          <a:prstGeom prst="rect">
            <a:avLst/>
          </a:prstGeom>
        </p:spPr>
      </p:pic>
      <p:sp>
        <p:nvSpPr>
          <p:cNvPr id="80" name="object 80" descr=""/>
          <p:cNvSpPr txBox="1"/>
          <p:nvPr/>
        </p:nvSpPr>
        <p:spPr>
          <a:xfrm>
            <a:off x="6567509" y="7128929"/>
            <a:ext cx="635635" cy="237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ts val="815"/>
              </a:lnSpc>
              <a:spcBef>
                <a:spcPts val="130"/>
              </a:spcBef>
            </a:pPr>
            <a:r>
              <a:rPr dirty="0" sz="750" spc="-75" b="1">
                <a:solidFill>
                  <a:srgbClr val="333333"/>
                </a:solidFill>
                <a:latin typeface="Verdana"/>
                <a:cs typeface="Verdana"/>
              </a:rPr>
              <a:t>REMITTANCE</a:t>
            </a:r>
            <a:endParaRPr sz="750">
              <a:latin typeface="Verdana"/>
              <a:cs typeface="Verdana"/>
            </a:endParaRPr>
          </a:p>
          <a:p>
            <a:pPr algn="r" marR="5080">
              <a:lnSpc>
                <a:spcPts val="815"/>
              </a:lnSpc>
            </a:pPr>
            <a:r>
              <a:rPr dirty="0" sz="750" spc="-10" b="1">
                <a:solidFill>
                  <a:srgbClr val="333333"/>
                </a:solidFill>
                <a:latin typeface="Verdana"/>
                <a:cs typeface="Verdana"/>
              </a:rPr>
              <a:t>ADVICE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4" name="object 8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1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  <p:sp>
        <p:nvSpPr>
          <p:cNvPr id="81" name="object 81" descr=""/>
          <p:cNvSpPr txBox="1"/>
          <p:nvPr/>
        </p:nvSpPr>
        <p:spPr>
          <a:xfrm>
            <a:off x="6539082" y="7455831"/>
            <a:ext cx="666750" cy="23749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 indent="63500">
              <a:lnSpc>
                <a:spcPts val="730"/>
              </a:lnSpc>
              <a:spcBef>
                <a:spcPts val="300"/>
              </a:spcBef>
            </a:pPr>
            <a:r>
              <a:rPr dirty="0" sz="750" spc="-90" b="1">
                <a:solidFill>
                  <a:srgbClr val="333333"/>
                </a:solidFill>
                <a:latin typeface="Verdana"/>
                <a:cs typeface="Verdana"/>
              </a:rPr>
              <a:t>VAT</a:t>
            </a:r>
            <a:r>
              <a:rPr dirty="0" sz="7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85" b="1">
                <a:solidFill>
                  <a:srgbClr val="333333"/>
                </a:solidFill>
                <a:latin typeface="Verdana"/>
                <a:cs typeface="Verdana"/>
              </a:rPr>
              <a:t>Reg</a:t>
            </a:r>
            <a:r>
              <a:rPr dirty="0" sz="7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70" b="1">
                <a:solidFill>
                  <a:srgbClr val="333333"/>
                </a:solidFill>
                <a:latin typeface="Verdana"/>
                <a:cs typeface="Verdana"/>
              </a:rPr>
              <a:t>No.</a:t>
            </a:r>
            <a:r>
              <a:rPr dirty="0" sz="750" spc="-45" b="1">
                <a:solidFill>
                  <a:srgbClr val="333333"/>
                </a:solidFill>
                <a:latin typeface="Verdana"/>
                <a:cs typeface="Verdana"/>
              </a:rPr>
              <a:t> 4280193493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4051779" y="7882226"/>
            <a:ext cx="41592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840"/>
              </a:lnSpc>
              <a:spcBef>
                <a:spcPts val="130"/>
              </a:spcBef>
            </a:pP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Name</a:t>
            </a:r>
            <a:endParaRPr sz="750">
              <a:latin typeface="Verdana"/>
              <a:cs typeface="Verdana"/>
            </a:endParaRPr>
          </a:p>
          <a:p>
            <a:pPr marL="12700">
              <a:lnSpc>
                <a:spcPts val="840"/>
              </a:lnSpc>
            </a:pPr>
            <a:r>
              <a:rPr dirty="0" sz="750" spc="-105">
                <a:solidFill>
                  <a:srgbClr val="333333"/>
                </a:solidFill>
                <a:latin typeface="Verdana"/>
                <a:cs typeface="Verdana"/>
              </a:rPr>
              <a:t>M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MKELA</a:t>
            </a:r>
            <a:endParaRPr sz="750">
              <a:latin typeface="Verdana"/>
              <a:cs typeface="Verdana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4051779" y="8216235"/>
            <a:ext cx="749935" cy="24447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 marR="5080">
              <a:lnSpc>
                <a:spcPts val="780"/>
              </a:lnSpc>
              <a:spcBef>
                <a:spcPts val="259"/>
              </a:spcBef>
            </a:pPr>
            <a:r>
              <a:rPr dirty="0" sz="7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7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Verdana"/>
                <a:cs typeface="Verdana"/>
              </a:rPr>
              <a:t>Number </a:t>
            </a:r>
            <a:r>
              <a:rPr dirty="0" sz="750" spc="-10">
                <a:solidFill>
                  <a:srgbClr val="333333"/>
                </a:solidFill>
                <a:latin typeface="Verdana"/>
                <a:cs typeface="Verdana"/>
              </a:rPr>
              <a:t>2608294851</a:t>
            </a:r>
            <a:endParaRPr sz="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-75"/>
              <a:t>Page:</a:t>
            </a:r>
            <a:r>
              <a:rPr dirty="0" spc="-5"/>
              <a:t> </a:t>
            </a:r>
            <a:fld id="{81D60167-4931-47E6-BA6A-407CBD079E47}" type="slidenum">
              <a:rPr dirty="0" spc="-110"/>
              <a:t>1</a:t>
            </a:fld>
            <a:r>
              <a:rPr dirty="0" spc="20"/>
              <a:t> </a:t>
            </a:r>
            <a:r>
              <a:rPr dirty="0" spc="-90"/>
              <a:t>of</a:t>
            </a:r>
            <a:r>
              <a:rPr dirty="0" spc="45"/>
              <a:t> </a:t>
            </a:r>
            <a:r>
              <a:rPr dirty="0" spc="-50"/>
              <a:t>3</a:t>
            </a: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61950" y="361950"/>
          <a:ext cx="6905625" cy="145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1135"/>
                <a:gridCol w="2821305"/>
              </a:tblGrid>
              <a:tr h="24828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950" spc="-13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EMERGENCY</a:t>
                      </a:r>
                      <a:r>
                        <a:rPr dirty="0" sz="950" spc="-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7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PHONE</a:t>
                      </a:r>
                      <a:r>
                        <a:rPr dirty="0" sz="950" spc="4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NUMBERS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39369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2B2B2B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3845">
                <a:tc>
                  <a:txBody>
                    <a:bodyPr/>
                    <a:lstStyle/>
                    <a:p>
                      <a:pPr marL="1339215" marR="864235" indent="-501015">
                        <a:lnSpc>
                          <a:spcPts val="950"/>
                        </a:lnSpc>
                        <a:spcBef>
                          <a:spcPts val="160"/>
                        </a:spcBef>
                      </a:pPr>
                      <a:r>
                        <a:rPr dirty="0" sz="950" spc="-1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Municipal</a:t>
                      </a:r>
                      <a:r>
                        <a:rPr dirty="0" sz="950" spc="-4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Services</a:t>
                      </a:r>
                      <a:r>
                        <a:rPr dirty="0" sz="950" spc="-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Complaints</a:t>
                      </a:r>
                      <a:r>
                        <a:rPr dirty="0" sz="950" spc="-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Call</a:t>
                      </a:r>
                      <a:r>
                        <a:rPr dirty="0" sz="950" spc="-3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9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Centre </a:t>
                      </a:r>
                      <a:r>
                        <a:rPr dirty="0" sz="950" spc="-114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(Non-</a:t>
                      </a:r>
                      <a:r>
                        <a:rPr dirty="0" sz="950" spc="-10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Life</a:t>
                      </a:r>
                      <a:r>
                        <a:rPr dirty="0" sz="950" spc="-1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Threatening</a:t>
                      </a:r>
                      <a:r>
                        <a:rPr dirty="0" sz="950" spc="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5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)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2032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950" spc="-10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Life</a:t>
                      </a:r>
                      <a:r>
                        <a:rPr dirty="0" sz="950" spc="-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Threatening</a:t>
                      </a:r>
                      <a:r>
                        <a:rPr dirty="0" sz="950" spc="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4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Emergencies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6032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950" spc="-114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0860-</a:t>
                      </a:r>
                      <a:r>
                        <a:rPr dirty="0" sz="950" spc="-1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543</a:t>
                      </a:r>
                      <a:r>
                        <a:rPr dirty="0" sz="950" spc="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2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000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950" spc="-1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011</a:t>
                      </a:r>
                      <a:r>
                        <a:rPr dirty="0" sz="950" spc="-1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14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458-</a:t>
                      </a:r>
                      <a:r>
                        <a:rPr dirty="0" sz="950" spc="-13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0911</a:t>
                      </a:r>
                      <a:r>
                        <a:rPr dirty="0" sz="9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2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950" spc="5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10177</a:t>
                      </a:r>
                      <a:endParaRPr sz="950">
                        <a:latin typeface="Verdana"/>
                        <a:cs typeface="Verdana"/>
                      </a:endParaRPr>
                    </a:p>
                  </a:txBody>
                  <a:tcPr marL="0" marR="0" marB="0" marT="24765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710565">
                <a:tc>
                  <a:txBody>
                    <a:bodyPr/>
                    <a:lstStyle/>
                    <a:p>
                      <a:pPr marL="145415">
                        <a:lnSpc>
                          <a:spcPts val="840"/>
                        </a:lnSpc>
                        <a:spcBef>
                          <a:spcPts val="730"/>
                        </a:spcBef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Electricity</a:t>
                      </a:r>
                      <a:r>
                        <a:rPr dirty="0" sz="750" spc="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supply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 marR="2475865">
                        <a:lnSpc>
                          <a:spcPts val="780"/>
                        </a:lnSpc>
                        <a:spcBef>
                          <a:spcPts val="70"/>
                        </a:spcBef>
                      </a:pP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Sewerage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supply 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Roads,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Transport</a:t>
                      </a:r>
                      <a:r>
                        <a:rPr dirty="0" sz="7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 spc="1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Civil</a:t>
                      </a: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Works Health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 spc="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Social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Development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>
                        <a:lnSpc>
                          <a:spcPts val="785"/>
                        </a:lnSpc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Environment,</a:t>
                      </a: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Solid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Waste</a:t>
                      </a:r>
                      <a:r>
                        <a:rPr dirty="0" sz="750" spc="2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9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Parks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2B2B2B"/>
                      </a:solidFill>
                      <a:prstDash val="solid"/>
                    </a:lnL>
                    <a:lnR w="9525">
                      <a:solidFill>
                        <a:srgbClr val="7F7F7F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45415">
                        <a:lnSpc>
                          <a:spcPts val="840"/>
                        </a:lnSpc>
                      </a:pP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All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Fires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 marR="1325245">
                        <a:lnSpc>
                          <a:spcPts val="780"/>
                        </a:lnSpc>
                        <a:spcBef>
                          <a:spcPts val="70"/>
                        </a:spcBef>
                      </a:pP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Emergency</a:t>
                      </a:r>
                      <a:r>
                        <a:rPr dirty="0" sz="750" spc="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4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Medical</a:t>
                      </a:r>
                      <a:r>
                        <a:rPr dirty="0" sz="750" spc="-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3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Assistance </a:t>
                      </a:r>
                      <a:r>
                        <a:rPr dirty="0" sz="750" spc="-4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Metro</a:t>
                      </a:r>
                      <a:r>
                        <a:rPr dirty="0" sz="750" spc="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Police</a:t>
                      </a:r>
                      <a:endParaRPr sz="750">
                        <a:latin typeface="Verdana"/>
                        <a:cs typeface="Verdana"/>
                      </a:endParaRPr>
                    </a:p>
                    <a:p>
                      <a:pPr marL="145415">
                        <a:lnSpc>
                          <a:spcPts val="780"/>
                        </a:lnSpc>
                      </a:pPr>
                      <a:r>
                        <a:rPr dirty="0" sz="750" spc="-3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Incidents</a:t>
                      </a:r>
                      <a:r>
                        <a:rPr dirty="0" sz="750" spc="2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55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dirty="0" sz="750" spc="-5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50" spc="-10">
                          <a:solidFill>
                            <a:srgbClr val="333333"/>
                          </a:solidFill>
                          <a:latin typeface="Verdana"/>
                          <a:cs typeface="Verdana"/>
                        </a:rPr>
                        <a:t>Disasters</a:t>
                      </a:r>
                      <a:endParaRPr sz="750">
                        <a:latin typeface="Verdana"/>
                        <a:cs typeface="Verdana"/>
                      </a:endParaRPr>
                    </a:p>
                  </a:txBody>
                  <a:tcPr marL="0" marR="0" marB="0" marT="33020">
                    <a:lnL w="9525">
                      <a:solidFill>
                        <a:srgbClr val="7F7F7F"/>
                      </a:solidFill>
                      <a:prstDash val="solid"/>
                    </a:lnL>
                    <a:lnR w="9525">
                      <a:solidFill>
                        <a:srgbClr val="2B2B2B"/>
                      </a:solidFill>
                      <a:prstDash val="solid"/>
                    </a:lnR>
                    <a:lnT w="9525">
                      <a:solidFill>
                        <a:srgbClr val="7F7F7F"/>
                      </a:solidFill>
                      <a:prstDash val="solid"/>
                    </a:lnT>
                    <a:lnB w="9525">
                      <a:solidFill>
                        <a:srgbClr val="2B2B2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3184775" y="2012190"/>
            <a:ext cx="118110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35" b="1">
                <a:solidFill>
                  <a:srgbClr val="333333"/>
                </a:solidFill>
                <a:latin typeface="Verdana"/>
                <a:cs typeface="Verdana"/>
              </a:rPr>
              <a:t>IMPORTANT</a:t>
            </a:r>
            <a:r>
              <a:rPr dirty="0" sz="950" spc="-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950" spc="-95" b="1">
                <a:solidFill>
                  <a:srgbClr val="333333"/>
                </a:solidFill>
                <a:latin typeface="Verdana"/>
                <a:cs typeface="Verdana"/>
              </a:rPr>
              <a:t>NOTICE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9250" y="2481224"/>
            <a:ext cx="135255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1.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TERMINATION</a:t>
            </a:r>
            <a:r>
              <a:rPr dirty="0" sz="650" spc="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NOTICE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9554" y="2651782"/>
            <a:ext cx="305371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TERMINATION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NOTICE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ISSUED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TERMS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SECTION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12.(1)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ELECTRICAL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SUPPLY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BY-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LAWS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RESPECT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CURRENT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DEBT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BALANCE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BROUGHT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FORWARD.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9554" y="2992898"/>
            <a:ext cx="297751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FAILURE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PAY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AMOUNT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PAYABLE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BEFORE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DATE,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MAY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RESULT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ELECTRICITY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SUPPLY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DISCONNECTED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PAID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PURCHASES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BLOCKED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WITHOUT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FURTHER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NOTICE.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69554" y="3334014"/>
            <a:ext cx="278447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PRESCRIBED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FEE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dirty="0" sz="650" spc="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DISCONNECTION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RECONNECTION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SHALL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CHARGED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YOUR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DEPOSIT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MAY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INCREASED.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9554" y="3589851"/>
            <a:ext cx="311404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IMMEDIATE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RECONNECTION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SUPPLY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AFTER</a:t>
            </a:r>
            <a:r>
              <a:rPr dirty="0" sz="650" spc="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CANNOT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ASSURED.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69554" y="3760409"/>
            <a:ext cx="3103245" cy="3841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PAID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ELECTRICITY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–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EVENT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THAT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MUNICIPAL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SERVICES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ACCOUNT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ARREARS,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PURCHASE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PRE-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PAID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ELECTRICITY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BLOCKED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VENDING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UNTIL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ALL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ARREARS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HAVE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BEEN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SETTLED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FULL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OR</a:t>
            </a:r>
            <a:r>
              <a:rPr dirty="0" sz="650" spc="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SUITABLE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ARRANGEMENT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SETTLE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BALANCE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HAS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BEEN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MADE.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9250" y="4186804"/>
            <a:ext cx="137604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2.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ALLOCATION</a:t>
            </a: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PAYMENTS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69554" y="4357362"/>
            <a:ext cx="300037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PART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YOUR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ALLOCATED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PRIORITY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ORDER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DETERMINED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BY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FROM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TIME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TIME.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9250" y="4613199"/>
            <a:ext cx="66548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3.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DEPOSITS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69554" y="4783756"/>
            <a:ext cx="189865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CONSUMER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DEPOSITS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ARE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NOT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TRANSFERABLE.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9250" y="4954315"/>
            <a:ext cx="89281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4.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FINALREADING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69554" y="5124872"/>
            <a:ext cx="294830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FINAL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READING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REQUESTS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APPLIED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FOR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WRITING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LEAST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7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DAYS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PRIOR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PROPERTY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VACATED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OR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TERMINATION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DATE.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9250" y="5380709"/>
            <a:ext cx="64198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5.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INTEREST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69554" y="5551267"/>
            <a:ext cx="284035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INTEREST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CHARGED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ARREAR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IF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NOT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RECEIPTED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OR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BEFORE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DATE.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52794" y="2367519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6.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122844" y="2367519"/>
            <a:ext cx="82867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METHODS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852794" y="2538077"/>
            <a:ext cx="1856739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6.1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45" b="1">
                <a:solidFill>
                  <a:srgbClr val="333333"/>
                </a:solidFill>
                <a:latin typeface="Verdana"/>
                <a:cs typeface="Verdana"/>
              </a:rPr>
              <a:t>OFFICIAL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BANKER</a:t>
            </a:r>
            <a:r>
              <a:rPr dirty="0" sz="6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STANDARD</a:t>
            </a:r>
            <a:r>
              <a:rPr dirty="0" sz="650" spc="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 b="1">
                <a:solidFill>
                  <a:srgbClr val="333333"/>
                </a:solidFill>
                <a:latin typeface="Verdana"/>
                <a:cs typeface="Verdana"/>
              </a:rPr>
              <a:t>BANK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52794" y="2708635"/>
            <a:ext cx="3260090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6.2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8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PAYMENTS</a:t>
            </a:r>
            <a:r>
              <a:rPr dirty="0" sz="650" spc="-3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-8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STANDARD</a:t>
            </a:r>
            <a:r>
              <a:rPr dirty="0" sz="650" spc="2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BANK</a:t>
            </a:r>
            <a:r>
              <a:rPr dirty="0" sz="650" spc="-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BRANCH</a:t>
            </a:r>
            <a:r>
              <a:rPr dirty="0" sz="650" spc="-4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INDICATE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DEPOSIT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SLIP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RELEVANT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AUTHORITY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CREDIT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TEN-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MUNICIPAL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SERVICES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–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22844" y="3049751"/>
            <a:ext cx="1355725" cy="8102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83185">
              <a:lnSpc>
                <a:spcPts val="670"/>
              </a:lnSpc>
              <a:spcBef>
                <a:spcPts val="235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Alberton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Benoni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  <a:p>
            <a:pPr marL="12700" marR="40005">
              <a:lnSpc>
                <a:spcPts val="670"/>
              </a:lnSpc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Boksburg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Brakpan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Edenvale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  <a:p>
            <a:pPr marL="12700" marR="5080">
              <a:lnSpc>
                <a:spcPts val="670"/>
              </a:lnSpc>
              <a:spcBef>
                <a:spcPts val="5"/>
              </a:spcBef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Germiston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Banking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Kempton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Park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Income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ts val="615"/>
              </a:lnSpc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Nigel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  <a:p>
            <a:pPr marL="12700">
              <a:lnSpc>
                <a:spcPts val="725"/>
              </a:lnSpc>
            </a:pP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Co</a:t>
            </a:r>
            <a:r>
              <a:rPr dirty="0" sz="650" spc="-17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Springs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Direct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Std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52794" y="3902541"/>
            <a:ext cx="3297554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282575" marR="5080" indent="-270510">
              <a:lnSpc>
                <a:spcPts val="670"/>
              </a:lnSpc>
              <a:spcBef>
                <a:spcPts val="235"/>
              </a:spcBef>
            </a:pP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6.3</a:t>
            </a:r>
            <a:r>
              <a:rPr dirty="0" sz="650" spc="90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ELECTRONIC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: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LISTED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BENEFICIARY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ALL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MAJOR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INTERNET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BANKING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PLATFORMS.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IT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MANDATORY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INCLUDE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TEN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DIGIT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MUNICIPAL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SERVICES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NUMBER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852794" y="4243656"/>
            <a:ext cx="286194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6.4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SIYAKHOKHA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VIEW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MAKE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ONLINE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BY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REGISTERING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PORTAL</a:t>
            </a:r>
            <a:endParaRPr sz="650">
              <a:latin typeface="Verdana"/>
              <a:cs typeface="Verdana"/>
            </a:endParaRPr>
          </a:p>
          <a:p>
            <a:pPr marL="282575">
              <a:lnSpc>
                <a:spcPts val="670"/>
              </a:lnSpc>
            </a:pP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  <a:hlinkClick r:id="rId2"/>
              </a:rPr>
              <a:t>WWW.SIYAKHOKHA.EKURHULENI.GOV.ZA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827394" y="4584772"/>
            <a:ext cx="3402329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07975" marR="43180" indent="-270510">
              <a:lnSpc>
                <a:spcPts val="670"/>
              </a:lnSpc>
              <a:spcBef>
                <a:spcPts val="235"/>
              </a:spcBef>
              <a:tabLst>
                <a:tab pos="3079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6.5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95" b="1">
                <a:solidFill>
                  <a:srgbClr val="333333"/>
                </a:solidFill>
                <a:latin typeface="Verdana"/>
                <a:cs typeface="Verdana"/>
              </a:rPr>
              <a:t>3</a:t>
            </a:r>
            <a:r>
              <a:rPr dirty="0" baseline="15151" sz="825" spc="-142" b="1">
                <a:solidFill>
                  <a:srgbClr val="333333"/>
                </a:solidFill>
                <a:latin typeface="Verdana"/>
                <a:cs typeface="Verdana"/>
              </a:rPr>
              <a:t>RD</a:t>
            </a:r>
            <a:r>
              <a:rPr dirty="0" baseline="15151" sz="825" spc="-22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PARTY</a:t>
            </a:r>
            <a:r>
              <a:rPr dirty="0" sz="650" spc="-1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 b="1">
                <a:solidFill>
                  <a:srgbClr val="333333"/>
                </a:solidFill>
                <a:latin typeface="Verdana"/>
                <a:cs typeface="Verdana"/>
              </a:rPr>
              <a:t>VENDORS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: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SOUTH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AFRICAN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POST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OFFICE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(SAPO),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EASYPAY,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BLU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PAY,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79B6"/>
                </a:solidFill>
                <a:latin typeface="Verdana"/>
                <a:cs typeface="Verdana"/>
              </a:rPr>
              <a:t>PAY@</a:t>
            </a:r>
            <a:r>
              <a:rPr dirty="0" sz="650" spc="-5">
                <a:solidFill>
                  <a:srgbClr val="3379B6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CONSUMER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PRESENTED.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852794" y="4840609"/>
            <a:ext cx="3324860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6.6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55" b="1">
                <a:solidFill>
                  <a:srgbClr val="333333"/>
                </a:solidFill>
                <a:latin typeface="Verdana"/>
                <a:cs typeface="Verdana"/>
              </a:rPr>
              <a:t>DEBIT</a:t>
            </a:r>
            <a:r>
              <a:rPr dirty="0" sz="650" spc="-10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-1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CREDIT</a:t>
            </a:r>
            <a:r>
              <a:rPr dirty="0" sz="650" spc="-10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CARDS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CUSTOMER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CARE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CENTRES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PAYPOINTS.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852794" y="5096446"/>
            <a:ext cx="3300729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282575" marR="5080" indent="-270510">
              <a:lnSpc>
                <a:spcPts val="670"/>
              </a:lnSpc>
              <a:spcBef>
                <a:spcPts val="235"/>
              </a:spcBef>
            </a:pP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6.7</a:t>
            </a:r>
            <a:r>
              <a:rPr dirty="0" sz="650" spc="905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 b="1">
                <a:solidFill>
                  <a:srgbClr val="333333"/>
                </a:solidFill>
                <a:latin typeface="Verdana"/>
                <a:cs typeface="Verdana"/>
              </a:rPr>
              <a:t>CASH</a:t>
            </a:r>
            <a:r>
              <a:rPr dirty="0" sz="650" spc="-70" b="1">
                <a:solidFill>
                  <a:srgbClr val="333333"/>
                </a:solidFill>
                <a:latin typeface="Verdana"/>
                <a:cs typeface="Verdana"/>
              </a:rPr>
              <a:t> PAYMENTS</a:t>
            </a:r>
            <a:r>
              <a:rPr dirty="0" sz="650" spc="-6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AT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CITY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EKURHULENI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CUSTOMER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CARE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CENTRES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AND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PAYPOINTS.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MAXIMUM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INDIVIDUAL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DEPOSIT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LIMITED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30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000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PER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TRANSACTION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PER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CUSTOMER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OR</a:t>
            </a:r>
            <a:r>
              <a:rPr dirty="0" sz="650" spc="5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INDIVIDUAL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DEPOSIT.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852794" y="5437562"/>
            <a:ext cx="3309620" cy="3841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282575" marR="5080" indent="-270510">
              <a:lnSpc>
                <a:spcPts val="670"/>
              </a:lnSpc>
              <a:spcBef>
                <a:spcPts val="235"/>
              </a:spcBef>
              <a:tabLst>
                <a:tab pos="282575" algn="l"/>
              </a:tabLst>
            </a:pPr>
            <a:r>
              <a:rPr dirty="0" sz="650" spc="-25" b="1">
                <a:solidFill>
                  <a:srgbClr val="333333"/>
                </a:solidFill>
                <a:latin typeface="Verdana"/>
                <a:cs typeface="Verdana"/>
              </a:rPr>
              <a:t>6.8</a:t>
            </a:r>
            <a:r>
              <a:rPr dirty="0" sz="650" b="1">
                <a:solidFill>
                  <a:srgbClr val="333333"/>
                </a:solidFill>
                <a:latin typeface="Verdana"/>
                <a:cs typeface="Verdana"/>
              </a:rPr>
              <a:t>	</a:t>
            </a:r>
            <a:r>
              <a:rPr dirty="0" sz="650" spc="-90" b="1">
                <a:solidFill>
                  <a:srgbClr val="333333"/>
                </a:solidFill>
                <a:latin typeface="Verdana"/>
                <a:cs typeface="Verdana"/>
              </a:rPr>
              <a:t>NOTE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 b="1">
                <a:solidFill>
                  <a:srgbClr val="333333"/>
                </a:solidFill>
                <a:latin typeface="Verdana"/>
                <a:cs typeface="Verdana"/>
              </a:rPr>
              <a:t>-</a:t>
            </a:r>
            <a:r>
              <a:rPr dirty="0" sz="650" spc="-40" b="1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ELECTRONIC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PAYMENTS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THROUGH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FINANCIAL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INSTITUTIONS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OR</a:t>
            </a:r>
            <a:r>
              <a:rPr dirty="0" sz="650" spc="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ANY</a:t>
            </a:r>
            <a:r>
              <a:rPr dirty="0" sz="650" spc="50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OTHER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3rd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PARTY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SYSTEM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EFFECTED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NOT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LATER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THAN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7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DAYS</a:t>
            </a:r>
            <a:endParaRPr sz="650">
              <a:latin typeface="Verdana"/>
              <a:cs typeface="Verdana"/>
            </a:endParaRPr>
          </a:p>
          <a:p>
            <a:pPr marL="282575" marR="36830">
              <a:lnSpc>
                <a:spcPts val="670"/>
              </a:lnSpc>
            </a:pP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PRIOR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DATE.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PAYMENT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WILL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ONLY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5">
                <a:solidFill>
                  <a:srgbClr val="333333"/>
                </a:solidFill>
                <a:latin typeface="Verdana"/>
                <a:cs typeface="Verdana"/>
              </a:rPr>
              <a:t>DEEMED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HAVE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BEEN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RECEIVED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WHEN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RECEIPTED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THROUGH</a:t>
            </a:r>
            <a:r>
              <a:rPr dirty="0" sz="650" spc="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COUNCILS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FINANCIAL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SYSTEM.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852794" y="5863957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7.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122844" y="5863957"/>
            <a:ext cx="260985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THIS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MUST</a:t>
            </a:r>
            <a:r>
              <a:rPr dirty="0" sz="650" spc="4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BE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PRODUCED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WHEN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5">
                <a:solidFill>
                  <a:srgbClr val="333333"/>
                </a:solidFill>
                <a:latin typeface="Verdana"/>
                <a:cs typeface="Verdana"/>
              </a:rPr>
              <a:t>MAKING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PAYMENT.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852794" y="6034515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8.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122844" y="6034515"/>
            <a:ext cx="3004185" cy="2984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IF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YOU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DISAGREE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WITH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CONTENTS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THIS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ACCOUNT,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PLEASE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10">
                <a:solidFill>
                  <a:srgbClr val="333333"/>
                </a:solidFill>
                <a:latin typeface="Verdana"/>
                <a:cs typeface="Verdana"/>
              </a:rPr>
              <a:t>NOTIFY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CHIEF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FINANCIAL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OFFICER</a:t>
            </a:r>
            <a:r>
              <a:rPr dirty="0" sz="650" spc="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IN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WRITING,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WITHIN </a:t>
            </a:r>
            <a:r>
              <a:rPr dirty="0" sz="650" spc="-85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PERIOD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 7</a:t>
            </a:r>
            <a:r>
              <a:rPr dirty="0" sz="650" spc="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DAYS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AFTER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STATEMENT</a:t>
            </a:r>
            <a:r>
              <a:rPr dirty="0" sz="650" spc="-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DATE.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852794" y="6375631"/>
            <a:ext cx="10096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spc="-35" b="1">
                <a:solidFill>
                  <a:srgbClr val="333333"/>
                </a:solidFill>
                <a:latin typeface="Verdana"/>
                <a:cs typeface="Verdana"/>
              </a:rPr>
              <a:t>9.</a:t>
            </a:r>
            <a:endParaRPr sz="650">
              <a:latin typeface="Verdana"/>
              <a:cs typeface="Verdan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122844" y="6375631"/>
            <a:ext cx="3005455" cy="21336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670"/>
              </a:lnSpc>
              <a:spcBef>
                <a:spcPts val="235"/>
              </a:spcBef>
            </a:pPr>
            <a:r>
              <a:rPr dirty="0" sz="650" spc="-70">
                <a:solidFill>
                  <a:srgbClr val="333333"/>
                </a:solidFill>
                <a:latin typeface="Verdana"/>
                <a:cs typeface="Verdana"/>
              </a:rPr>
              <a:t>NON-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RECEIPT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OF</a:t>
            </a:r>
            <a:r>
              <a:rPr dirty="0" sz="650" spc="-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80">
                <a:solidFill>
                  <a:srgbClr val="333333"/>
                </a:solidFill>
                <a:latin typeface="Verdana"/>
                <a:cs typeface="Verdana"/>
              </a:rPr>
              <a:t>AN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DOES</a:t>
            </a:r>
            <a:r>
              <a:rPr dirty="0" sz="650" spc="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NOT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0">
                <a:solidFill>
                  <a:srgbClr val="333333"/>
                </a:solidFill>
                <a:latin typeface="Verdana"/>
                <a:cs typeface="Verdana"/>
              </a:rPr>
              <a:t>EXEMPT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40">
                <a:solidFill>
                  <a:srgbClr val="333333"/>
                </a:solidFill>
                <a:latin typeface="Verdana"/>
                <a:cs typeface="Verdana"/>
              </a:rPr>
              <a:t>HOLDER</a:t>
            </a:r>
            <a:r>
              <a:rPr dirty="0" sz="650" spc="2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FROM </a:t>
            </a:r>
            <a:r>
              <a:rPr dirty="0" sz="650" spc="-45">
                <a:solidFill>
                  <a:srgbClr val="333333"/>
                </a:solidFill>
                <a:latin typeface="Verdana"/>
                <a:cs typeface="Verdana"/>
              </a:rPr>
              <a:t>THE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5">
                <a:solidFill>
                  <a:srgbClr val="333333"/>
                </a:solidFill>
                <a:latin typeface="Verdana"/>
                <a:cs typeface="Verdana"/>
              </a:rPr>
              <a:t>LIABILITY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>
                <a:solidFill>
                  <a:srgbClr val="333333"/>
                </a:solidFill>
                <a:latin typeface="Verdana"/>
                <a:cs typeface="Verdana"/>
              </a:rPr>
              <a:t>TO</a:t>
            </a:r>
            <a:r>
              <a:rPr dirty="0" sz="650" spc="1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PAY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35">
                <a:solidFill>
                  <a:srgbClr val="333333"/>
                </a:solidFill>
                <a:latin typeface="Verdana"/>
                <a:cs typeface="Verdana"/>
              </a:rPr>
              <a:t>ACCOUNT</a:t>
            </a:r>
            <a:r>
              <a:rPr dirty="0" sz="650" spc="15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55">
                <a:solidFill>
                  <a:srgbClr val="333333"/>
                </a:solidFill>
                <a:latin typeface="Verdana"/>
                <a:cs typeface="Verdana"/>
              </a:rPr>
              <a:t>ON</a:t>
            </a:r>
            <a:r>
              <a:rPr dirty="0" sz="650" spc="-3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dirty="0" sz="650" spc="-60">
                <a:solidFill>
                  <a:srgbClr val="333333"/>
                </a:solidFill>
                <a:latin typeface="Verdana"/>
                <a:cs typeface="Verdana"/>
              </a:rPr>
              <a:t>DUE</a:t>
            </a:r>
            <a:r>
              <a:rPr dirty="0" sz="650" spc="-20">
                <a:solidFill>
                  <a:srgbClr val="333333"/>
                </a:solidFill>
                <a:latin typeface="Verdana"/>
                <a:cs typeface="Verdana"/>
              </a:rPr>
              <a:t> DATE.</a:t>
            </a:r>
            <a:endParaRPr sz="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2025-09-28T10:59:02Z</dcterms:created>
  <dcterms:modified xsi:type="dcterms:W3CDTF">2025-09-28T10:59:02Z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wkhtmltopdf 0.12.4</vt:lpwstr>
  </property>
  <property fmtid="{D5CDD505-2E9C-101B-9397-08002B2CF9AE}" pid="4" name="Producer">
    <vt:lpwstr>Qt 4.8.7</vt:lpwstr>
  </property>
  <property fmtid="{D5CDD505-2E9C-101B-9397-08002B2CF9AE}" pid="5" name="LastSaved">
    <vt:filetime>2025-09-19T00:00:00Z</vt:filetime>
  </property>
</Properties>
</file>