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86200" y="3375152"/>
            <a:ext cx="1714500" cy="26066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565778" y="10135849"/>
            <a:ext cx="3550284" cy="111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mailto:ClientCare@capitecbank.co.za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85962" y="1508823"/>
            <a:ext cx="1590675" cy="133350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 lIns="0" tIns="679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dirty="0" sz="1400">
                <a:solidFill>
                  <a:srgbClr val="7F7F7F"/>
                </a:solidFill>
                <a:latin typeface="Arial"/>
                <a:cs typeface="Arial"/>
              </a:rPr>
              <a:t>Capitec</a:t>
            </a:r>
            <a:r>
              <a:rPr dirty="0" sz="1400" spc="-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7F7F7F"/>
                </a:solidFill>
                <a:latin typeface="Arial"/>
                <a:cs typeface="Arial"/>
              </a:rPr>
              <a:t>Bank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ts val="1295"/>
              </a:lnSpc>
              <a:spcBef>
                <a:spcPts val="965"/>
              </a:spcBef>
            </a:pPr>
            <a:r>
              <a:rPr dirty="0" sz="1100" spc="-10">
                <a:solidFill>
                  <a:srgbClr val="7F7F7F"/>
                </a:solidFill>
                <a:latin typeface="Arial"/>
                <a:cs typeface="Arial"/>
              </a:rPr>
              <a:t>19/09/2025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ts val="1270"/>
              </a:lnSpc>
            </a:pPr>
            <a:r>
              <a:rPr dirty="0" sz="1100">
                <a:solidFill>
                  <a:srgbClr val="7F7F7F"/>
                </a:solidFill>
                <a:latin typeface="Arial"/>
                <a:cs typeface="Arial"/>
              </a:rPr>
              <a:t>Branch: </a:t>
            </a:r>
            <a:r>
              <a:rPr dirty="0" sz="1100" spc="-10">
                <a:solidFill>
                  <a:srgbClr val="7F7F7F"/>
                </a:solidFill>
                <a:latin typeface="Arial"/>
                <a:cs typeface="Arial"/>
              </a:rPr>
              <a:t>470010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ts val="1295"/>
              </a:lnSpc>
            </a:pPr>
            <a:r>
              <a:rPr dirty="0" sz="1100">
                <a:solidFill>
                  <a:srgbClr val="7F7F7F"/>
                </a:solidFill>
                <a:latin typeface="Arial"/>
                <a:cs typeface="Arial"/>
              </a:rPr>
              <a:t>Device:</a:t>
            </a:r>
            <a:r>
              <a:rPr dirty="0" sz="1100" spc="-4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7F7F7F"/>
                </a:solidFill>
                <a:latin typeface="Arial"/>
                <a:cs typeface="Arial"/>
              </a:rPr>
              <a:t>9003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49275" y="540766"/>
            <a:ext cx="366458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"/>
                <a:cs typeface="Arial"/>
              </a:rPr>
              <a:t>One of the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Global One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money management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products or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services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9275" y="863218"/>
            <a:ext cx="239776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Arial"/>
                <a:cs typeface="Arial"/>
              </a:rPr>
              <a:t>Proof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of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Account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Details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7628" y="747268"/>
            <a:ext cx="2181225" cy="5715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69271" y="1477607"/>
            <a:ext cx="1757882" cy="175788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20700" y="3766820"/>
            <a:ext cx="5337175" cy="4959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latin typeface="Arial"/>
                <a:cs typeface="Arial"/>
              </a:rPr>
              <a:t>To</a:t>
            </a:r>
            <a:r>
              <a:rPr dirty="0" sz="800" spc="-1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Whom</a:t>
            </a:r>
            <a:r>
              <a:rPr dirty="0" sz="800" spc="-1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it</a:t>
            </a:r>
            <a:r>
              <a:rPr dirty="0" sz="800" spc="-1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May</a:t>
            </a:r>
            <a:r>
              <a:rPr dirty="0" sz="800" spc="-10" b="1">
                <a:latin typeface="Arial"/>
                <a:cs typeface="Arial"/>
              </a:rPr>
              <a:t> Concern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800" b="1">
                <a:latin typeface="Arial"/>
                <a:cs typeface="Arial"/>
              </a:rPr>
              <a:t>We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hereby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confirm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that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Malibongwe</a:t>
            </a:r>
            <a:r>
              <a:rPr dirty="0" sz="800" spc="-20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Mkela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has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the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following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account(s)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at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Capitec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Bank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Limited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b="1">
                <a:latin typeface="Arial"/>
                <a:cs typeface="Arial"/>
              </a:rPr>
              <a:t>on</a:t>
            </a:r>
            <a:r>
              <a:rPr dirty="0" sz="800" spc="-25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19/09/2025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68425" y="9871054"/>
            <a:ext cx="5747385" cy="199390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algn="r" marR="5080">
              <a:lnSpc>
                <a:spcPts val="710"/>
              </a:lnSpc>
              <a:spcBef>
                <a:spcPts val="40"/>
              </a:spcBef>
            </a:pPr>
            <a:r>
              <a:rPr dirty="0" sz="600" b="1">
                <a:latin typeface="Arial"/>
                <a:cs typeface="Arial"/>
              </a:rPr>
              <a:t>24hr</a:t>
            </a:r>
            <a:r>
              <a:rPr dirty="0" sz="600" spc="5" b="1">
                <a:latin typeface="Arial"/>
                <a:cs typeface="Arial"/>
              </a:rPr>
              <a:t> </a:t>
            </a:r>
            <a:r>
              <a:rPr dirty="0" sz="600" b="1">
                <a:latin typeface="Arial"/>
                <a:cs typeface="Arial"/>
              </a:rPr>
              <a:t>Client</a:t>
            </a:r>
            <a:r>
              <a:rPr dirty="0" sz="600" spc="5" b="1">
                <a:latin typeface="Arial"/>
                <a:cs typeface="Arial"/>
              </a:rPr>
              <a:t> </a:t>
            </a:r>
            <a:r>
              <a:rPr dirty="0" sz="600" b="1">
                <a:latin typeface="Arial"/>
                <a:cs typeface="Arial"/>
              </a:rPr>
              <a:t>Care</a:t>
            </a:r>
            <a:r>
              <a:rPr dirty="0" sz="600" spc="10" b="1">
                <a:latin typeface="Arial"/>
                <a:cs typeface="Arial"/>
              </a:rPr>
              <a:t> </a:t>
            </a:r>
            <a:r>
              <a:rPr dirty="0" sz="600" b="1">
                <a:latin typeface="Arial"/>
                <a:cs typeface="Arial"/>
              </a:rPr>
              <a:t>Centre</a:t>
            </a:r>
            <a:r>
              <a:rPr dirty="0" sz="600" spc="5" b="1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0860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10</a:t>
            </a:r>
            <a:r>
              <a:rPr dirty="0" sz="600" spc="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20</a:t>
            </a:r>
            <a:r>
              <a:rPr dirty="0" sz="600" spc="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43</a:t>
            </a:r>
            <a:r>
              <a:rPr dirty="0" sz="600" spc="5">
                <a:latin typeface="Arial"/>
                <a:cs typeface="Arial"/>
              </a:rPr>
              <a:t> </a:t>
            </a:r>
            <a:r>
              <a:rPr dirty="0" sz="600" b="1">
                <a:latin typeface="Arial"/>
                <a:cs typeface="Arial"/>
              </a:rPr>
              <a:t>E</a:t>
            </a:r>
            <a:r>
              <a:rPr dirty="0" sz="600" spc="5" b="1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  <a:hlinkClick r:id="rId4"/>
              </a:rPr>
              <a:t>ClientCare@capitecbank.co.za</a:t>
            </a:r>
            <a:r>
              <a:rPr dirty="0" sz="600" spc="10">
                <a:latin typeface="Arial"/>
                <a:cs typeface="Arial"/>
              </a:rPr>
              <a:t> </a:t>
            </a:r>
            <a:r>
              <a:rPr dirty="0" sz="600" spc="-10" b="1">
                <a:latin typeface="Arial"/>
                <a:cs typeface="Arial"/>
              </a:rPr>
              <a:t>capitecbank.co.za</a:t>
            </a:r>
            <a:endParaRPr sz="600">
              <a:latin typeface="Arial"/>
              <a:cs typeface="Arial"/>
            </a:endParaRPr>
          </a:p>
          <a:p>
            <a:pPr algn="r" marR="5080">
              <a:lnSpc>
                <a:spcPts val="710"/>
              </a:lnSpc>
              <a:tabLst>
                <a:tab pos="5331460" algn="l"/>
              </a:tabLst>
            </a:pPr>
            <a:r>
              <a:rPr dirty="0" sz="600">
                <a:latin typeface="Arial"/>
                <a:cs typeface="Arial"/>
              </a:rPr>
              <a:t>Capitec</a:t>
            </a:r>
            <a:r>
              <a:rPr dirty="0" sz="600" spc="-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Bank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is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an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authorised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financial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services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(FSP46669)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and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registered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credit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provider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(NCRCP13).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Capitec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Bank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Limited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Reg.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No.:</a:t>
            </a:r>
            <a:r>
              <a:rPr dirty="0" sz="600" spc="-1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1980/003695/06.</a:t>
            </a:r>
            <a:r>
              <a:rPr dirty="0" sz="600">
                <a:latin typeface="Arial"/>
                <a:cs typeface="Arial"/>
              </a:rPr>
              <a:t>	Page</a:t>
            </a:r>
            <a:r>
              <a:rPr dirty="0" sz="600" spc="-1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1</a:t>
            </a:r>
            <a:r>
              <a:rPr dirty="0" sz="600" spc="-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of</a:t>
            </a:r>
            <a:r>
              <a:rPr dirty="0" sz="600" spc="-10">
                <a:latin typeface="Arial"/>
                <a:cs typeface="Arial"/>
              </a:rPr>
              <a:t> </a:t>
            </a:r>
            <a:r>
              <a:rPr dirty="0" sz="600" spc="-50"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5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Unique Document No.: </a:t>
            </a:r>
            <a:r>
              <a:rPr dirty="0" spc="-10"/>
              <a:t>0a9830bb-5855-4a47-a31b-5bf47be74653</a:t>
            </a:r>
            <a:r>
              <a:rPr dirty="0" spc="-5"/>
              <a:t> </a:t>
            </a:r>
            <a:r>
              <a:rPr dirty="0"/>
              <a:t>/ 406 /</a:t>
            </a:r>
            <a:r>
              <a:rPr dirty="0" spc="5"/>
              <a:t> </a:t>
            </a:r>
            <a:r>
              <a:rPr dirty="0"/>
              <a:t>V4.0 - 14/04/2018 </a:t>
            </a:r>
            <a:r>
              <a:rPr dirty="0" spc="-10"/>
              <a:t>(ddmmccyy)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549275" y="4339700"/>
            <a:ext cx="972819" cy="82486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900" b="1">
                <a:latin typeface="Arial"/>
                <a:cs typeface="Arial"/>
              </a:rPr>
              <a:t>Client </a:t>
            </a:r>
            <a:r>
              <a:rPr dirty="0" sz="900" spc="-10" b="1">
                <a:latin typeface="Arial"/>
                <a:cs typeface="Arial"/>
              </a:rPr>
              <a:t>Details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 spc="-10">
                <a:latin typeface="Arial"/>
                <a:cs typeface="Arial"/>
              </a:rPr>
              <a:t>Name: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ct val="127800"/>
              </a:lnSpc>
            </a:pPr>
            <a:r>
              <a:rPr dirty="0" sz="800">
                <a:latin typeface="Arial"/>
                <a:cs typeface="Arial"/>
              </a:rPr>
              <a:t>ID/Passport</a:t>
            </a:r>
            <a:r>
              <a:rPr dirty="0" sz="800" spc="-5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Number: Address: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>
                <a:latin typeface="Arial"/>
                <a:cs typeface="Arial"/>
              </a:rPr>
              <a:t>Postal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Address: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499486" y="4515840"/>
            <a:ext cx="3803650" cy="64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941955">
              <a:lnSpc>
                <a:spcPct val="127699"/>
              </a:lnSpc>
              <a:spcBef>
                <a:spcPts val="100"/>
              </a:spcBef>
            </a:pPr>
            <a:r>
              <a:rPr dirty="0" sz="800">
                <a:latin typeface="Arial"/>
                <a:cs typeface="Arial"/>
              </a:rPr>
              <a:t>Malibongwe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Mkela 8202035872088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>
                <a:latin typeface="Arial"/>
                <a:cs typeface="Arial"/>
              </a:rPr>
              <a:t>9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NEELS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STREET,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LAMBTON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GARDENS,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GERMISTON,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JOHANNESBURG,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1401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>
                <a:latin typeface="Arial"/>
                <a:cs typeface="Arial"/>
              </a:rPr>
              <a:t>9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NEELS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STREET,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LAMBTON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GARDENS,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GERMISTON,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JOHANNESBURG,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1401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49275" y="5194156"/>
            <a:ext cx="889635" cy="11360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27200"/>
              </a:lnSpc>
              <a:spcBef>
                <a:spcPts val="110"/>
              </a:spcBef>
            </a:pPr>
            <a:r>
              <a:rPr dirty="0" sz="900" b="1">
                <a:latin typeface="Arial"/>
                <a:cs typeface="Arial"/>
              </a:rPr>
              <a:t>Account </a:t>
            </a:r>
            <a:r>
              <a:rPr dirty="0" sz="900" spc="-10" b="1">
                <a:latin typeface="Arial"/>
                <a:cs typeface="Arial"/>
              </a:rPr>
              <a:t>Details </a:t>
            </a:r>
            <a:r>
              <a:rPr dirty="0" sz="800">
                <a:latin typeface="Arial"/>
                <a:cs typeface="Arial"/>
              </a:rPr>
              <a:t>Account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Status: </a:t>
            </a:r>
            <a:r>
              <a:rPr dirty="0" sz="800">
                <a:latin typeface="Arial"/>
                <a:cs typeface="Arial"/>
              </a:rPr>
              <a:t>Account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Type: </a:t>
            </a:r>
            <a:r>
              <a:rPr dirty="0" sz="800">
                <a:latin typeface="Arial"/>
                <a:cs typeface="Arial"/>
              </a:rPr>
              <a:t>Account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Number: </a:t>
            </a:r>
            <a:r>
              <a:rPr dirty="0" sz="800">
                <a:latin typeface="Arial"/>
                <a:cs typeface="Arial"/>
              </a:rPr>
              <a:t>Bank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Name: </a:t>
            </a:r>
            <a:r>
              <a:rPr dirty="0" sz="800">
                <a:latin typeface="Arial"/>
                <a:cs typeface="Arial"/>
              </a:rPr>
              <a:t>Branch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Code: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>
                <a:latin typeface="Arial"/>
                <a:cs typeface="Arial"/>
              </a:rPr>
              <a:t>Date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Opened: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499486" y="5370297"/>
            <a:ext cx="589915" cy="9601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7699"/>
              </a:lnSpc>
              <a:spcBef>
                <a:spcPts val="100"/>
              </a:spcBef>
            </a:pPr>
            <a:r>
              <a:rPr dirty="0" sz="800" spc="-10">
                <a:latin typeface="Arial"/>
                <a:cs typeface="Arial"/>
              </a:rPr>
              <a:t>Active Savings 1247811989</a:t>
            </a:r>
            <a:endParaRPr sz="800">
              <a:latin typeface="Arial"/>
              <a:cs typeface="Arial"/>
            </a:endParaRPr>
          </a:p>
          <a:p>
            <a:pPr marL="12700" marR="224790">
              <a:lnSpc>
                <a:spcPct val="127699"/>
              </a:lnSpc>
            </a:pPr>
            <a:r>
              <a:rPr dirty="0" sz="800" spc="-10">
                <a:latin typeface="Arial"/>
                <a:cs typeface="Arial"/>
              </a:rPr>
              <a:t>Capitec 470010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800" spc="-10">
                <a:latin typeface="Arial"/>
                <a:cs typeface="Arial"/>
              </a:rPr>
              <a:t>2010-12-</a:t>
            </a:r>
            <a:r>
              <a:rPr dirty="0" sz="800" spc="-25">
                <a:latin typeface="Arial"/>
                <a:cs typeface="Arial"/>
              </a:rPr>
              <a:t>28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20700" y="6588125"/>
            <a:ext cx="6484620" cy="61722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900"/>
              </a:lnSpc>
              <a:spcBef>
                <a:spcPts val="180"/>
              </a:spcBef>
            </a:pP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account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details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provided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herein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should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not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be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read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as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extending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by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implication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any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other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matters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not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specifically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addressed.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account </a:t>
            </a:r>
            <a:r>
              <a:rPr dirty="0" sz="800">
                <a:latin typeface="Arial"/>
                <a:cs typeface="Arial"/>
              </a:rPr>
              <a:t>details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are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given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at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above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date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obligation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hereby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assumed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update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account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details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any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future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date.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800">
              <a:latin typeface="Arial"/>
              <a:cs typeface="Arial"/>
            </a:endParaRPr>
          </a:p>
          <a:p>
            <a:pPr marL="12700" marR="405765">
              <a:lnSpc>
                <a:spcPts val="900"/>
              </a:lnSpc>
            </a:pPr>
            <a:r>
              <a:rPr dirty="0" sz="800">
                <a:latin typeface="Arial"/>
                <a:cs typeface="Arial"/>
              </a:rPr>
              <a:t>Capitec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Bank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Limited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shall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have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no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liability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whether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contract,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delict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(including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without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limitation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negligence)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or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otherwise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above </a:t>
            </a:r>
            <a:r>
              <a:rPr dirty="0" sz="800">
                <a:latin typeface="Arial"/>
                <a:cs typeface="Arial"/>
              </a:rPr>
              <a:t>accountholder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or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any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third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party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relation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account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details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contained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herein.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Of Payment</dc:title>
  <dcterms:created xsi:type="dcterms:W3CDTF">2025-09-28T10:58:18Z</dcterms:created>
  <dcterms:modified xsi:type="dcterms:W3CDTF">2025-09-28T10:58:18Z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2025-09-19T00:00:00Z</vt:filetime>
  </property>
  <property fmtid="{D5CDD505-2E9C-101B-9397-08002B2CF9AE}" pid="3" name="Producer">
    <vt:lpwstr>OpenPDF 2.0.2</vt:lpwstr>
  </property>
  <property fmtid="{D5CDD505-2E9C-101B-9397-08002B2CF9AE}" pid="4" name="LastSaved">
    <vt:filetime>2025-09-19T00:00:00Z</vt:filetime>
  </property>
</Properties>
</file>