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ppt/presentation.xml" ContentType="application/vnd.openxmlformats-officedocument.presentationml.presentation.main+xml"/>
  <Override PartName="/ppt/slideMasters/slideMaster.xml" ContentType="application/vnd.openxmlformats-officedocument.presentationml.slideMaster+xml"/>
  <Override PartName="/ppt/slideLayouts/slideLayout.xml" ContentType="application/vnd.openxmlformats-officedocument.presentationml.slideLayout+xml"/>
  <Override PartName="/ppt/theme/theme.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Types>
</file>

<file path=_rels/.rels>&#65279;<?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p="http://schemas.openxmlformats.org/presentationml/2006/main" xmlns:a="http://schemas.openxmlformats.org/drawingml/2006/main" xmlns:r="http://schemas.openxmlformats.org/officeDocument/2006/relationships">
  <p:sldMasterIdLst>
    <p:sldMasterId id="2147483648" r:id="rId1"/>
  </p:sldMasterIdLst>
  <p:sldIdLst>
    <p:sldId id="256" r:id="rId5"/>
    <p:sldId id="257" r:id="rId6"/>
    <p:sldId id="258" r:id="rId7"/>
  </p:sldIdLst>
  <p:sldSz cx="7555992" cy="10692384"/>
  <p:notesSz cx="6858000" cy="9144000"/>
</p:presentation>
</file>

<file path=ppt/presProps.xml><?xml version="1.0" encoding="utf-8"?>
<p:presentationPr xmlns:p="http://schemas.openxmlformats.org/presentationml/2006/main" xmlns:a="http://schemas.openxmlformats.org/drawingml/2006/main" xmlns:r="http://schemas.openxmlformats.org/officeDocument/2006/relationships">
</p:presentationPr>
</file>

<file path=ppt/tableStyles.xml><?xml version="1.0" encoding="utf-8"?>
<a:tblStyleLst xmlns:a="http://schemas.openxmlformats.org/drawingml/2006/main" def="{5C22544A-7EE6-4342-B048-85BDC9FD1C3A}">
</a:tblStyleLst>
</file>

<file path=ppt/_rels/presentation.xml.rels>&#65279;<?xml version="1.0" encoding="UTF-8" standalone="yes"?>
<Relationships xmlns="http://schemas.openxmlformats.org/package/2006/relationships"><Relationship Id="rId1" Type="http://schemas.openxmlformats.org/officeDocument/2006/relationships/slideMaster" Target="slideMasters/slideMaster.xml"/><Relationship Id="rId2" Type="http://schemas.openxmlformats.org/officeDocument/2006/relationships/theme" Target="theme/theme.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s>
</file>

<file path=ppt/slideLayouts/_rels/slideLayout.xml.rels>&#65279;<?xml version="1.0" encoding="UTF-8" standalone="yes"?>
<Relationships xmlns="http://schemas.openxmlformats.org/package/2006/relationships"><Relationship Id="rId1" Type="http://schemas.openxmlformats.org/officeDocument/2006/relationships/slideMaster" Target="../slideMasters/slideMaster.xml"/></Relationships>
</file>

<file path=ppt/slideLayouts/slideLayout.xml><?xml version="1.0" encoding="utf-8"?>
<p:sldLayout xmlns:p="http://schemas.openxmlformats.org/presentationml/2006/main" xmlns:a="http://schemas.openxmlformats.org/drawingml/2006/main" xmlns:r="http://schemas.openxmlformats.org/officeDocument/2006/relationships">
  <p:cSld>
    <p:spTree>
      <p:nvGrpSpPr>
        <p:cNvPr id="1" name=""/>
        <p:cNvGrpSpPr/>
        <p:nvPr/>
      </p:nvGrpSpPr>
      <p:grpSpPr/>
    </p:spTree>
  </p:cSld>
  <p:clrMapOvr>
    <a:masterClrMapping/>
  </p:clrMapOvr>
</p:sldLayout>
</file>

<file path=ppt/slideMasters/_rels/slideMaster.xml.rels>&#65279;<?xml version="1.0" encoding="UTF-8" standalone="yes"?>
<Relationships xmlns="http://schemas.openxmlformats.org/package/2006/relationships"><Relationship Id="rId1" Type="http://schemas.openxmlformats.org/officeDocument/2006/relationships/slideLayout" Target="../slideLayouts/slideLayout.xml"/><Relationship Id="rId2" Type="http://schemas.openxmlformats.org/officeDocument/2006/relationships/theme" Target="../theme/theme.xml"/></Relationships>
</file>

<file path=ppt/slideMasters/slideMaster.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&#65279;<?xml version="1.0" encoding="UTF-8" standalone="yes"?>
<Relationships xmlns="http://schemas.openxmlformats.org/package/2006/relationships"><Relationship Id="rPictId0" Type="http://schemas.openxmlformats.org/officeDocument/2006/relationships/image" Target="../media/image1.jpeg"/><Relationship Id="rPictId1" Type="http://schemas.openxmlformats.org/officeDocument/2006/relationships/image" Target="../media/image2.jpeg"/><Relationship Id="rPictId2" Type="http://schemas.openxmlformats.org/officeDocument/2006/relationships/image" Target="../media/image3.jpeg"/><Relationship Id="rPictId3" Type="http://schemas.openxmlformats.org/officeDocument/2006/relationships/image" Target="../media/image4.jpeg"/><Relationship Id="rPictId4" Type="http://schemas.openxmlformats.org/officeDocument/2006/relationships/image" Target="../media/image5.jpeg"/><Relationship Id="rPictId5" Type="http://schemas.openxmlformats.org/officeDocument/2006/relationships/image" Target="../media/image6.jpeg"/><Relationship Id="rPictId6" Type="http://schemas.openxmlformats.org/officeDocument/2006/relationships/image" Target="../media/image7.jpeg"/><Relationship Id="rPictId7" Type="http://schemas.openxmlformats.org/officeDocument/2006/relationships/image" Target="../media/image8.jpeg"/><Relationship Id="rId1" Type="http://schemas.openxmlformats.org/officeDocument/2006/relationships/slideLayout" Target="../slideLayouts/slideLayout.xml"/><Relationship Id="rLinkId0" Type="http://schemas.openxmlformats.org/officeDocument/2006/relationships/hyperlink" Target="http://www.ekurhuleni.gov.za" TargetMode="External"/><Relationship Id="rLinkId1" Type="http://schemas.openxmlformats.org/officeDocument/2006/relationships/hyperlink" Target="https://siyakhokha.ekurhuleni.gov.za" TargetMode="External"/><Relationship Id="rLinkId2" Type="http://schemas.openxmlformats.org/officeDocument/2006/relationships/hyperlink" Target="mailto:%20siyakhokha@ekurhuleni.gov.za" TargetMode="External"/><Relationship Id="rLinkId3" Type="http://schemas.openxmlformats.org/officeDocument/2006/relationships/hyperlink" Target="mailto:callcentre@ekurhuleni.gov.za" TargetMode="External"/><Relationship Id="rLinkId4" Type="http://schemas.openxmlformats.org/officeDocument/2006/relationships/hyperlink" Target="http://www.ekurhuleni.gov.za" TargetMode="External"/><Relationship Id="rLinkId5" Type="http://schemas.openxmlformats.org/officeDocument/2006/relationships/hyperlink" Target="https://siyakhokha.ekurhuleni.gov.za" TargetMode="External"/><Relationship Id="rLinkId6" Type="http://schemas.openxmlformats.org/officeDocument/2006/relationships/hyperlink" Target="mailto:%20siyakhokha@ekurhuleni.gov.za" TargetMode="External"/><Relationship Id="rLinkId7" Type="http://schemas.openxmlformats.org/officeDocument/2006/relationships/hyperlink" Target="mailto:callcentre@ekurhuleni.gov.za" TargetMode="External"/></Relationships>
</file>

<file path=ppt/slides/_rels/slide2.xml.rels>&#65279;<?xml version="1.0" encoding="UTF-8" standalone="yes"?>
<Relationships xmlns="http://schemas.openxmlformats.org/package/2006/relationships"><Relationship Id="rPictId0" Type="http://schemas.openxmlformats.org/officeDocument/2006/relationships/image" Target="../media/image9.jpeg"/><Relationship Id="rPictId1" Type="http://schemas.openxmlformats.org/officeDocument/2006/relationships/image" Target="../media/image10.jpeg"/><Relationship Id="rPictId2" Type="http://schemas.openxmlformats.org/officeDocument/2006/relationships/image" Target="../media/image11.jpeg"/><Relationship Id="rPictId3" Type="http://schemas.openxmlformats.org/officeDocument/2006/relationships/image" Target="../media/image12.jpeg"/><Relationship Id="rPictId4" Type="http://schemas.openxmlformats.org/officeDocument/2006/relationships/image" Target="../media/image13.jpeg"/><Relationship Id="rPictId5" Type="http://schemas.openxmlformats.org/officeDocument/2006/relationships/image" Target="../media/image14.jpeg"/><Relationship Id="rPictId6" Type="http://schemas.openxmlformats.org/officeDocument/2006/relationships/image" Target="../media/image15.jpeg"/><Relationship Id="rId1" Type="http://schemas.openxmlformats.org/officeDocument/2006/relationships/slideLayout" Target="../slideLayouts/slideLayout.xml"/><Relationship Id="rLinkId0" Type="http://schemas.openxmlformats.org/officeDocument/2006/relationships/hyperlink" Target="http://www.ekurhuleni.gov.za" TargetMode="External"/><Relationship Id="rLinkId1" Type="http://schemas.openxmlformats.org/officeDocument/2006/relationships/hyperlink" Target="https://siyakhokha.ekurhuleni.gov.za" TargetMode="External"/><Relationship Id="rLinkId2" Type="http://schemas.openxmlformats.org/officeDocument/2006/relationships/hyperlink" Target="mailto:callcentre@ekurhuleni.gov.za" TargetMode="External"/><Relationship Id="rLinkId3" Type="http://schemas.openxmlformats.org/officeDocument/2006/relationships/hyperlink" Target="http://www.ekurhuleni.gov.za" TargetMode="External"/><Relationship Id="rLinkId4" Type="http://schemas.openxmlformats.org/officeDocument/2006/relationships/hyperlink" Target="https://siyakhokha.ekurhuleni.gov.za" TargetMode="External"/><Relationship Id="rLinkId5" Type="http://schemas.openxmlformats.org/officeDocument/2006/relationships/hyperlink" Target="mailto:%20siyakhokha@ekurhuleni.gov.za" TargetMode="External"/><Relationship Id="rLinkId6" Type="http://schemas.openxmlformats.org/officeDocument/2006/relationships/hyperlink" Target="mailto:callcentre@ekurhuleni.gov.za" TargetMode="External"/></Relationships>
</file>

<file path=ppt/slides/_rels/slide3.xml.rels>&#65279;<?xml version="1.0" encoding="UTF-8" standalone="yes"?>
<Relationships xmlns="http://schemas.openxmlformats.org/package/2006/relationships"><Relationship Id="rId1" Type="http://schemas.openxmlformats.org/officeDocument/2006/relationships/slideLayout" Target="../slideLayouts/slideLayout.xml"/><Relationship Id="rLinkId0" Type="http://schemas.openxmlformats.org/officeDocument/2006/relationships/hyperlink" Target="http://WWW.SIYAKHOKHA.EKURHULENI.GOV.ZA" TargetMode="External"/><Relationship Id="rLinkId1" Type="http://schemas.openxmlformats.org/officeDocument/2006/relationships/hyperlink" Target="mailto:PAY@" TargetMode="Externa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pic>
        <p:nvPicPr>
          <p:cNvPr id="2" name=""/>
          <p:cNvPicPr>
            <a:picLocks noChangeAspect="1"/>
          </p:cNvPicPr>
          <p:nvPr/>
        </p:nvPicPr>
        <p:blipFill>
          <a:blip r:embed="rPictId0"/>
          <a:stretch>
            <a:fillRect/>
          </a:stretch>
        </p:blipFill>
        <p:spPr>
          <a:xfrm>
            <a:off x="359664" y="588264"/>
            <a:ext cx="536448" cy="612648"/>
          </a:xfrm>
          <a:prstGeom prst="rect">
            <a:avLst/>
          </a:prstGeom>
        </p:spPr>
      </p:pic>
      <p:pic>
        <p:nvPicPr>
          <p:cNvPr id="3" name=""/>
          <p:cNvPicPr>
            <a:picLocks noChangeAspect="1"/>
          </p:cNvPicPr>
          <p:nvPr/>
        </p:nvPicPr>
        <p:blipFill>
          <a:blip r:embed="rPictId1"/>
          <a:stretch>
            <a:fillRect/>
          </a:stretch>
        </p:blipFill>
        <p:spPr>
          <a:xfrm>
            <a:off x="2057400" y="1027176"/>
            <a:ext cx="216408" cy="182880"/>
          </a:xfrm>
          <a:prstGeom prst="rect">
            <a:avLst/>
          </a:prstGeom>
        </p:spPr>
      </p:pic>
      <p:pic>
        <p:nvPicPr>
          <p:cNvPr id="4" name=""/>
          <p:cNvPicPr>
            <a:picLocks noChangeAspect="1"/>
          </p:cNvPicPr>
          <p:nvPr/>
        </p:nvPicPr>
        <p:blipFill>
          <a:blip r:embed="rPictId2"/>
          <a:stretch>
            <a:fillRect/>
          </a:stretch>
        </p:blipFill>
        <p:spPr>
          <a:xfrm>
            <a:off x="3785616" y="1030224"/>
            <a:ext cx="219456" cy="182880"/>
          </a:xfrm>
          <a:prstGeom prst="rect">
            <a:avLst/>
          </a:prstGeom>
        </p:spPr>
      </p:pic>
      <p:pic>
        <p:nvPicPr>
          <p:cNvPr id="5" name=""/>
          <p:cNvPicPr>
            <a:picLocks noChangeAspect="1"/>
          </p:cNvPicPr>
          <p:nvPr/>
        </p:nvPicPr>
        <p:blipFill>
          <a:blip r:embed="rPictId3"/>
          <a:stretch>
            <a:fillRect/>
          </a:stretch>
        </p:blipFill>
        <p:spPr>
          <a:xfrm>
            <a:off x="359664" y="8363712"/>
            <a:ext cx="1426464" cy="573024"/>
          </a:xfrm>
          <a:prstGeom prst="rect">
            <a:avLst/>
          </a:prstGeom>
        </p:spPr>
      </p:pic>
      <p:pic>
        <p:nvPicPr>
          <p:cNvPr id="6" name=""/>
          <p:cNvPicPr>
            <a:picLocks noChangeAspect="1"/>
          </p:cNvPicPr>
          <p:nvPr/>
        </p:nvPicPr>
        <p:blipFill>
          <a:blip r:embed="rPictId4"/>
          <a:stretch>
            <a:fillRect/>
          </a:stretch>
        </p:blipFill>
        <p:spPr>
          <a:xfrm>
            <a:off x="5413248" y="8180832"/>
            <a:ext cx="1139952" cy="926592"/>
          </a:xfrm>
          <a:prstGeom prst="rect">
            <a:avLst/>
          </a:prstGeom>
        </p:spPr>
      </p:pic>
      <p:pic>
        <p:nvPicPr>
          <p:cNvPr id="7" name=""/>
          <p:cNvPicPr>
            <a:picLocks noChangeAspect="1"/>
          </p:cNvPicPr>
          <p:nvPr/>
        </p:nvPicPr>
        <p:blipFill>
          <a:blip r:embed="rPictId5"/>
          <a:stretch>
            <a:fillRect/>
          </a:stretch>
        </p:blipFill>
        <p:spPr>
          <a:xfrm>
            <a:off x="438912" y="9211056"/>
            <a:ext cx="499872" cy="1011936"/>
          </a:xfrm>
          <a:prstGeom prst="rect">
            <a:avLst/>
          </a:prstGeom>
        </p:spPr>
      </p:pic>
      <p:pic>
        <p:nvPicPr>
          <p:cNvPr id="8" name=""/>
          <p:cNvPicPr>
            <a:picLocks noChangeAspect="1"/>
          </p:cNvPicPr>
          <p:nvPr/>
        </p:nvPicPr>
        <p:blipFill>
          <a:blip r:embed="rPictId6"/>
          <a:stretch>
            <a:fillRect/>
          </a:stretch>
        </p:blipFill>
        <p:spPr>
          <a:xfrm>
            <a:off x="1170432" y="9211056"/>
            <a:ext cx="499872" cy="359664"/>
          </a:xfrm>
          <a:prstGeom prst="rect">
            <a:avLst/>
          </a:prstGeom>
        </p:spPr>
      </p:pic>
      <p:pic>
        <p:nvPicPr>
          <p:cNvPr id="9" name=""/>
          <p:cNvPicPr>
            <a:picLocks noChangeAspect="1"/>
          </p:cNvPicPr>
          <p:nvPr/>
        </p:nvPicPr>
        <p:blipFill>
          <a:blip r:embed="rPictId7"/>
          <a:stretch>
            <a:fillRect/>
          </a:stretch>
        </p:blipFill>
        <p:spPr>
          <a:xfrm>
            <a:off x="2164080" y="9211056"/>
            <a:ext cx="1426464" cy="359664"/>
          </a:xfrm>
          <a:prstGeom prst="rect">
            <a:avLst/>
          </a:prstGeom>
        </p:spPr>
      </p:pic>
      <p:sp>
        <p:nvSpPr>
          <p:cNvPr id="10" name=""/>
          <p:cNvSpPr/>
          <p:nvPr/>
        </p:nvSpPr>
        <p:spPr>
          <a:xfrm>
            <a:off x="914400" y="368808"/>
            <a:ext cx="1078992" cy="109728"/>
          </a:xfrm>
          <a:prstGeom prst="rect">
            <a:avLst/>
          </a:prstGeom>
        </p:spPr>
        <p:txBody>
          <a:bodyPr lIns="0" tIns="0" rIns="0" bIns="0" wrap="none">
            <a:noAutofit/>
          </a:bodyPr>
          <a:p>
            <a:pPr indent="0"/>
            <a:r>
              <a:rPr lang="en-US" sz="650" spc="50">
                <a:solidFill>
                  <a:srgbClr val="0000FE"/>
                </a:solidFill>
                <a:latin typeface="Tahoma"/>
                <a:hlinkClick r:id="rLinkId0"/>
              </a:rPr>
              <a:t>www.ekurhuleni.gov.za</a:t>
            </a:r>
          </a:p>
        </p:txBody>
      </p:sp>
      <p:sp>
        <p:nvSpPr>
          <p:cNvPr id="11" name=""/>
          <p:cNvSpPr/>
          <p:nvPr/>
        </p:nvSpPr>
        <p:spPr>
          <a:xfrm>
            <a:off x="920496" y="829056"/>
            <a:ext cx="1002792" cy="381000"/>
          </a:xfrm>
          <a:prstGeom prst="rect">
            <a:avLst/>
          </a:prstGeom>
        </p:spPr>
        <p:txBody>
          <a:bodyPr lIns="0" tIns="0" rIns="0" bIns="0">
            <a:noAutofit/>
          </a:bodyPr>
          <a:p>
            <a:pPr indent="0">
              <a:lnSpc>
                <a:spcPts val="1440"/>
              </a:lnSpc>
            </a:pPr>
            <a:r>
              <a:rPr lang="en-US" sz="1600">
                <a:latin typeface="Tahoma"/>
              </a:rPr>
              <a:t>City of Ekurhuleni</a:t>
            </a:r>
          </a:p>
        </p:txBody>
      </p:sp>
      <p:sp>
        <p:nvSpPr>
          <p:cNvPr id="12" name=""/>
          <p:cNvSpPr/>
          <p:nvPr/>
        </p:nvSpPr>
        <p:spPr>
          <a:xfrm>
            <a:off x="2045208" y="829056"/>
            <a:ext cx="1612392" cy="115824"/>
          </a:xfrm>
          <a:prstGeom prst="rect">
            <a:avLst/>
          </a:prstGeom>
        </p:spPr>
        <p:txBody>
          <a:bodyPr lIns="0" tIns="0" rIns="0" bIns="0" wrap="none">
            <a:noAutofit/>
          </a:bodyPr>
          <a:p>
            <a:pPr indent="0"/>
            <a:r>
              <a:rPr lang="en-US" sz="600" spc="50">
                <a:latin typeface="Tahoma"/>
                <a:hlinkClick r:id="rLinkId1"/>
              </a:rPr>
              <a:t>www .siya khokha .ekurhuleni.gov.za</a:t>
            </a:r>
          </a:p>
        </p:txBody>
      </p:sp>
      <p:sp>
        <p:nvSpPr>
          <p:cNvPr id="13" name=""/>
          <p:cNvSpPr/>
          <p:nvPr/>
        </p:nvSpPr>
        <p:spPr>
          <a:xfrm>
            <a:off x="2386584" y="1030224"/>
            <a:ext cx="1298448" cy="213360"/>
          </a:xfrm>
          <a:prstGeom prst="rect">
            <a:avLst/>
          </a:prstGeom>
        </p:spPr>
        <p:txBody>
          <a:bodyPr lIns="0" tIns="0" rIns="0" bIns="0">
            <a:noAutofit/>
          </a:bodyPr>
          <a:p>
            <a:pPr indent="0">
              <a:lnSpc>
                <a:spcPts val="768"/>
              </a:lnSpc>
            </a:pPr>
            <a:r>
              <a:rPr lang="en-US" sz="600" spc="50">
                <a:solidFill>
                  <a:srgbClr val="333333"/>
                </a:solidFill>
                <a:latin typeface="Tahoma"/>
              </a:rPr>
              <a:t>Siyakhokha Portal </a:t>
            </a:r>
            <a:r>
              <a:rPr lang="en-US" sz="600" spc="50">
                <a:latin typeface="Tahoma"/>
                <a:hlinkClick r:id="rLinkId2"/>
              </a:rPr>
              <a:t>siyakhokha@ekurhuleni.gov.</a:t>
            </a:r>
          </a:p>
        </p:txBody>
      </p:sp>
      <p:sp>
        <p:nvSpPr>
          <p:cNvPr id="14" name=""/>
          <p:cNvSpPr/>
          <p:nvPr/>
        </p:nvSpPr>
        <p:spPr>
          <a:xfrm>
            <a:off x="3688080" y="1164336"/>
            <a:ext cx="85344" cy="42672"/>
          </a:xfrm>
          <a:prstGeom prst="rect">
            <a:avLst/>
          </a:prstGeom>
        </p:spPr>
        <p:txBody>
          <a:bodyPr lIns="0" tIns="0" rIns="0" bIns="0" wrap="none">
            <a:noAutofit/>
          </a:bodyPr>
          <a:p>
            <a:pPr indent="0"/>
            <a:r>
              <a:rPr lang="en-US" sz="600" spc="50">
                <a:latin typeface="Tahoma"/>
              </a:rPr>
              <a:t>za</a:t>
            </a:r>
          </a:p>
        </p:txBody>
      </p:sp>
      <p:sp>
        <p:nvSpPr>
          <p:cNvPr id="15" name=""/>
          <p:cNvSpPr/>
          <p:nvPr/>
        </p:nvSpPr>
        <p:spPr>
          <a:xfrm>
            <a:off x="859536" y="1319784"/>
            <a:ext cx="1136904" cy="112776"/>
          </a:xfrm>
          <a:prstGeom prst="rect">
            <a:avLst/>
          </a:prstGeom>
        </p:spPr>
        <p:txBody>
          <a:bodyPr lIns="0" tIns="0" rIns="0" bIns="0" wrap="none">
            <a:noAutofit/>
          </a:bodyPr>
          <a:p>
            <a:pPr indent="0"/>
            <a:r>
              <a:rPr lang="en-US" sz="600" spc="50">
                <a:solidFill>
                  <a:srgbClr val="333333"/>
                </a:solidFill>
                <a:latin typeface="Tahoma"/>
              </a:rPr>
              <a:t>a partnership that works</a:t>
            </a:r>
          </a:p>
        </p:txBody>
      </p:sp>
      <p:sp>
        <p:nvSpPr>
          <p:cNvPr id="16" name=""/>
          <p:cNvSpPr/>
          <p:nvPr/>
        </p:nvSpPr>
        <p:spPr>
          <a:xfrm>
            <a:off x="4108704" y="929640"/>
            <a:ext cx="1331976" cy="405384"/>
          </a:xfrm>
          <a:prstGeom prst="rect">
            <a:avLst/>
          </a:prstGeom>
        </p:spPr>
        <p:txBody>
          <a:bodyPr lIns="0" tIns="0" rIns="0" bIns="0">
            <a:noAutofit/>
          </a:bodyPr>
          <a:p>
            <a:pPr marR="355600" indent="0">
              <a:lnSpc>
                <a:spcPts val="768"/>
              </a:lnSpc>
            </a:pPr>
            <a:r>
              <a:rPr lang="en-US" sz="600" spc="50">
                <a:solidFill>
                  <a:srgbClr val="333333"/>
                </a:solidFill>
                <a:latin typeface="Tahoma"/>
              </a:rPr>
              <a:t>Phone: 0860 543 000 Email:</a:t>
            </a:r>
          </a:p>
          <a:p>
            <a:pPr algn="just" indent="0">
              <a:lnSpc>
                <a:spcPts val="768"/>
              </a:lnSpc>
            </a:pPr>
            <a:r>
              <a:rPr lang="en-US" sz="600" spc="50">
                <a:solidFill>
                  <a:srgbClr val="333333"/>
                </a:solidFill>
                <a:latin typeface="Tahoma"/>
                <a:hlinkClick r:id="rLinkId3"/>
              </a:rPr>
              <a:t>callcentre@ekurhuleni.gov.za</a:t>
            </a:r>
            <a:r>
              <a:rPr lang="en-US" sz="600" spc="50">
                <a:solidFill>
                  <a:srgbClr val="333333"/>
                </a:solidFill>
                <a:latin typeface="Tahoma"/>
              </a:rPr>
              <a:t> Twitter: @EMM_Call_Centre</a:t>
            </a:r>
          </a:p>
        </p:txBody>
      </p:sp>
      <p:sp>
        <p:nvSpPr>
          <p:cNvPr id="17" name=""/>
          <p:cNvSpPr/>
          <p:nvPr/>
        </p:nvSpPr>
        <p:spPr>
          <a:xfrm>
            <a:off x="5928360" y="722376"/>
            <a:ext cx="1277112" cy="588264"/>
          </a:xfrm>
          <a:prstGeom prst="rect">
            <a:avLst/>
          </a:prstGeom>
        </p:spPr>
        <p:txBody>
          <a:bodyPr lIns="0" tIns="0" rIns="0" bIns="0">
            <a:noAutofit/>
          </a:bodyPr>
          <a:p>
            <a:pPr algn="r" indent="0">
              <a:spcAft>
                <a:spcPts val="840"/>
              </a:spcAft>
            </a:pPr>
            <a:r>
              <a:rPr lang="en-US" b="1" sz="600">
                <a:solidFill>
                  <a:srgbClr val="333333"/>
                </a:solidFill>
                <a:latin typeface="Tahoma"/>
              </a:rPr>
              <a:t>COPY TAX INVOICE</a:t>
            </a:r>
          </a:p>
          <a:p>
            <a:pPr algn="r" indent="0">
              <a:spcAft>
                <a:spcPts val="420"/>
              </a:spcAft>
            </a:pPr>
            <a:r>
              <a:rPr lang="en-US" b="1" sz="600">
                <a:solidFill>
                  <a:srgbClr val="333333"/>
                </a:solidFill>
                <a:latin typeface="Tahoma"/>
              </a:rPr>
              <a:t>VAT Reg No. 4280193493</a:t>
            </a:r>
          </a:p>
          <a:p>
            <a:pPr algn="r" indent="0">
              <a:lnSpc>
                <a:spcPts val="672"/>
              </a:lnSpc>
            </a:pPr>
            <a:r>
              <a:rPr lang="en-US" sz="600" spc="50">
                <a:solidFill>
                  <a:srgbClr val="333333"/>
                </a:solidFill>
                <a:latin typeface="Tahoma"/>
              </a:rPr>
              <a:t>Invoice Number: 26082948512025/09/13</a:t>
            </a:r>
          </a:p>
        </p:txBody>
      </p:sp>
      <p:graphicFrame>
        <p:nvGraphicFramePr>
          <p:cNvPr id="18" name=""/>
          <p:cNvGraphicFramePr>
            <a:graphicFrameLocks noGrp="1"/>
          </p:cNvGraphicFramePr>
          <p:nvPr/>
        </p:nvGraphicFramePr>
        <p:xfrm>
          <a:off x="359664" y="1475232"/>
          <a:ext cx="6833616" cy="1837944"/>
        </p:xfrm>
        <a:graphic>
          <a:graphicData uri="http://schemas.openxmlformats.org/drawingml/2006/table">
            <a:tbl>
              <a:tblPr/>
              <a:tblGrid>
                <a:gridCol w="835152"/>
                <a:gridCol w="1194816"/>
                <a:gridCol w="1456944"/>
                <a:gridCol w="1225296"/>
                <a:gridCol w="749808"/>
                <a:gridCol w="1371600"/>
              </a:tblGrid>
              <a:tr h="252984">
                <a:tc>
                  <a:txBody>
                    <a:bodyPr lIns="0" tIns="0" rIns="0" bIns="0">
                      <a:noAutofit/>
                    </a:bodyPr>
                    <a:p>
                      <a:pPr algn="ctr" indent="0"/>
                      <a:r>
                        <a:rPr lang="en-US" b="1" sz="600">
                          <a:latin typeface="Tahoma"/>
                        </a:rPr>
                        <a:t>Name</a:t>
                      </a:r>
                    </a:p>
                  </a:txBody>
                  <a:tcPr marL="0" marR="0" marT="0" marB="0" anchor="ctr">
                    <a:solidFill>
                      <a:srgbClr val="CDD8DE"/>
                    </a:solidFill>
                  </a:tcPr>
                </a:tc>
                <a:tc gridSpan="2">
                  <a:txBody>
                    <a:bodyPr lIns="0" tIns="0" rIns="0" bIns="0">
                      <a:noAutofit/>
                    </a:bodyPr>
                    <a:p>
                      <a:pPr indent="0"/>
                      <a:r>
                        <a:rPr lang="en-US" sz="600" spc="50">
                          <a:solidFill>
                            <a:srgbClr val="333333"/>
                          </a:solidFill>
                          <a:latin typeface="Tahoma"/>
                        </a:rPr>
                        <a:t>M MKELA</a:t>
                      </a:r>
                    </a:p>
                  </a:txBody>
                  <a:tcPr marL="0" marR="0" marT="0" marB="0" anchor="ctr"/>
                </a:tc>
                <a:tc hMerge="1">
                  <a:txBody>
                    <a:bodyPr lIns="0" tIns="0" rIns="0" bIns="0">
                      <a:noAutofit/>
                    </a:bodyPr>
                    <a:p>
                      <a:endParaRPr sz="1200"/>
                    </a:p>
                  </a:txBody>
                  <a:tcPr marL="0" marR="0" marT="0" marB="0"/>
                </a:tc>
                <a:tc>
                  <a:txBody>
                    <a:bodyPr lIns="0" tIns="0" rIns="0" bIns="0">
                      <a:noAutofit/>
                    </a:bodyPr>
                    <a:p>
                      <a:pPr algn="ctr" indent="0"/>
                      <a:r>
                        <a:rPr lang="en-US" b="1" sz="600">
                          <a:latin typeface="Tahoma"/>
                        </a:rPr>
                        <a:t>Account Number</a:t>
                      </a:r>
                    </a:p>
                  </a:txBody>
                  <a:tcPr marL="0" marR="0" marT="0" marB="0" anchor="ctr">
                    <a:solidFill>
                      <a:srgbClr val="CDD8DE"/>
                    </a:solidFill>
                  </a:tcPr>
                </a:tc>
                <a:tc gridSpan="2">
                  <a:txBody>
                    <a:bodyPr lIns="0" tIns="0" rIns="0" bIns="0">
                      <a:noAutofit/>
                    </a:bodyPr>
                    <a:p>
                      <a:pPr indent="0"/>
                      <a:r>
                        <a:rPr lang="en-US" sz="600" spc="50">
                          <a:solidFill>
                            <a:srgbClr val="333333"/>
                          </a:solidFill>
                          <a:latin typeface="Tahoma"/>
                        </a:rPr>
                        <a:t>2608294851</a:t>
                      </a:r>
                    </a:p>
                  </a:txBody>
                  <a:tcPr marL="0" marR="0" marT="0" marB="0" anchor="ctr"/>
                </a:tc>
                <a:tc hMerge="1">
                  <a:txBody>
                    <a:bodyPr lIns="0" tIns="0" rIns="0" bIns="0">
                      <a:noAutofit/>
                    </a:bodyPr>
                    <a:p>
                      <a:endParaRPr sz="1200"/>
                    </a:p>
                  </a:txBody>
                  <a:tcPr marL="0" marR="0" marT="0" marB="0"/>
                </a:tc>
              </a:tr>
              <a:tr h="228600">
                <a:tc>
                  <a:txBody>
                    <a:bodyPr lIns="0" tIns="0" rIns="0" bIns="0">
                      <a:noAutofit/>
                    </a:bodyPr>
                    <a:p>
                      <a:pPr marL="101600" indent="0"/>
                      <a:r>
                        <a:rPr lang="en-US" b="1" sz="600">
                          <a:solidFill>
                            <a:srgbClr val="333333"/>
                          </a:solidFill>
                          <a:latin typeface="Tahoma"/>
                        </a:rPr>
                        <a:t>Ward Number</a:t>
                      </a:r>
                    </a:p>
                  </a:txBody>
                  <a:tcPr marL="0" marR="0" marT="0" marB="0" anchor="ctr"/>
                </a:tc>
                <a:tc>
                  <a:txBody>
                    <a:bodyPr lIns="0" tIns="0" rIns="0" bIns="0">
                      <a:noAutofit/>
                    </a:bodyPr>
                    <a:p>
                      <a:pPr indent="0"/>
                      <a:r>
                        <a:rPr lang="en-US" sz="600" spc="50">
                          <a:solidFill>
                            <a:srgbClr val="333333"/>
                          </a:solidFill>
                          <a:latin typeface="Tahoma"/>
                        </a:rPr>
                        <a:t>39</a:t>
                      </a:r>
                    </a:p>
                  </a:txBody>
                  <a:tcPr marL="0" marR="0" marT="0" marB="0" anchor="ctr"/>
                </a:tc>
                <a:tc>
                  <a:txBody>
                    <a:bodyPr lIns="0" tIns="0" rIns="0" bIns="0">
                      <a:noAutofit/>
                    </a:bodyPr>
                    <a:p>
                      <a:pPr algn="ctr" indent="0"/>
                      <a:r>
                        <a:rPr lang="en-US" b="1" sz="600">
                          <a:latin typeface="Tahoma"/>
                        </a:rPr>
                        <a:t>Payments Included Until</a:t>
                      </a:r>
                    </a:p>
                  </a:txBody>
                  <a:tcPr marL="0" marR="0" marT="0" marB="0" anchor="ctr">
                    <a:solidFill>
                      <a:srgbClr val="CDD8DE"/>
                    </a:solidFill>
                  </a:tcPr>
                </a:tc>
                <a:tc>
                  <a:txBody>
                    <a:bodyPr lIns="0" tIns="0" rIns="0" bIns="0">
                      <a:noAutofit/>
                    </a:bodyPr>
                    <a:p>
                      <a:pPr algn="ctr" indent="0"/>
                      <a:r>
                        <a:rPr lang="en-US" sz="600" spc="50">
                          <a:solidFill>
                            <a:srgbClr val="333333"/>
                          </a:solidFill>
                          <a:latin typeface="Tahoma"/>
                        </a:rPr>
                        <a:t>2025-09-13</a:t>
                      </a:r>
                    </a:p>
                  </a:txBody>
                  <a:tcPr marL="0" marR="0" marT="0" marB="0" anchor="ctr"/>
                </a:tc>
                <a:tc>
                  <a:txBody>
                    <a:bodyPr lIns="0" tIns="0" rIns="0" bIns="0">
                      <a:noAutofit/>
                    </a:bodyPr>
                    <a:p>
                      <a:pPr algn="r" indent="0"/>
                      <a:r>
                        <a:rPr lang="en-US" b="1" sz="600">
                          <a:latin typeface="Tahoma"/>
                        </a:rPr>
                        <a:t>Vat Reg. No.</a:t>
                      </a:r>
                    </a:p>
                  </a:txBody>
                  <a:tcPr marL="0" marR="0" marT="0" marB="0" anchor="ctr">
                    <a:solidFill>
                      <a:srgbClr val="CDD8DE"/>
                    </a:solidFill>
                  </a:tcPr>
                </a:tc>
                <a:tc>
                  <a:txBody>
                    <a:bodyPr lIns="0" tIns="0" rIns="0" bIns="0">
                      <a:noAutofit/>
                    </a:bodyPr>
                    <a:p>
                      <a:endParaRPr sz="1100"/>
                    </a:p>
                  </a:txBody>
                  <a:tcPr marL="0" marR="0" marT="0" marB="0"/>
                </a:tc>
              </a:tr>
              <a:tr h="213360">
                <a:tc gridSpan="3" rowSpan="2">
                  <a:txBody>
                    <a:bodyPr lIns="0" tIns="0" rIns="0" bIns="0">
                      <a:noAutofit/>
                    </a:bodyPr>
                    <a:p>
                      <a:pPr algn="ctr" indent="0"/>
                      <a:r>
                        <a:rPr lang="en-US" b="1" sz="600">
                          <a:latin typeface="Tahoma"/>
                        </a:rPr>
                        <a:t>Street Address</a:t>
                      </a:r>
                    </a:p>
                  </a:txBody>
                  <a:tcPr marL="0" marR="0" marT="0" marB="0" anchor="ctr">
                    <a:solidFill>
                      <a:srgbClr val="CDD8DE"/>
                    </a:solidFill>
                  </a:tcPr>
                </a:tc>
                <a:tc hMerge="1" rowSpan="2">
                  <a:txBody>
                    <a:bodyPr lIns="0" tIns="0" rIns="0" bIns="0">
                      <a:noAutofit/>
                    </a:bodyPr>
                    <a:p>
                      <a:endParaRPr sz="1100"/>
                    </a:p>
                  </a:txBody>
                  <a:tcPr marL="0" marR="0" marT="0" marB="0"/>
                </a:tc>
                <a:tc hMerge="1" rowSpan="2">
                  <a:txBody>
                    <a:bodyPr lIns="0" tIns="0" rIns="0" bIns="0">
                      <a:noAutofit/>
                    </a:bodyPr>
                    <a:p>
                      <a:endParaRPr sz="1100"/>
                    </a:p>
                  </a:txBody>
                  <a:tcPr marL="0" marR="0" marT="0" marB="0"/>
                </a:tc>
                <a:tc gridSpan="2">
                  <a:txBody>
                    <a:bodyPr lIns="0" tIns="0" rIns="0" bIns="0">
                      <a:noAutofit/>
                    </a:bodyPr>
                    <a:p>
                      <a:pPr algn="ctr" indent="0"/>
                      <a:r>
                        <a:rPr lang="en-US" b="1" sz="600">
                          <a:latin typeface="Tahoma"/>
                        </a:rPr>
                        <a:t>Electricity / Water Deposit</a:t>
                      </a:r>
                    </a:p>
                  </a:txBody>
                  <a:tcPr marL="0" marR="0" marT="0" marB="0" anchor="ctr">
                    <a:solidFill>
                      <a:srgbClr val="CDD8DE"/>
                    </a:solidFill>
                  </a:tcPr>
                </a:tc>
                <a:tc hMerge="1">
                  <a:txBody>
                    <a:bodyPr lIns="0" tIns="0" rIns="0" bIns="0">
                      <a:noAutofit/>
                    </a:bodyPr>
                    <a:p>
                      <a:endParaRPr sz="1100"/>
                    </a:p>
                  </a:txBody>
                  <a:tcPr marL="0" marR="0" marT="0" marB="0"/>
                </a:tc>
                <a:tc rowSpan="2">
                  <a:txBody>
                    <a:bodyPr lIns="0" tIns="0" rIns="0" bIns="0">
                      <a:noAutofit/>
                    </a:bodyPr>
                    <a:p>
                      <a:pPr algn="ctr" indent="0"/>
                      <a:r>
                        <a:rPr lang="en-US" b="1" sz="600">
                          <a:latin typeface="Tahoma"/>
                        </a:rPr>
                        <a:t>Statement Date</a:t>
                      </a:r>
                    </a:p>
                  </a:txBody>
                  <a:tcPr marL="0" marR="0" marT="0" marB="0" anchor="ctr">
                    <a:solidFill>
                      <a:srgbClr val="CDD8DE"/>
                    </a:solidFill>
                  </a:tcPr>
                </a:tc>
              </a:tr>
              <a:tr h="140208">
                <a:tc gridSpan="3" vMerge="1">
                  <a:txBody>
                    <a:bodyPr lIns="0" tIns="0" rIns="0" bIns="0">
                      <a:noAutofit/>
                    </a:bodyPr>
                    <a:p>
                      <a:endParaRPr sz="700"/>
                    </a:p>
                  </a:txBody>
                  <a:tcPr marL="0" marR="0" marT="0" marB="0"/>
                </a:tc>
                <a:tc hMerge="1" vMerge="1">
                  <a:txBody>
                    <a:bodyPr lIns="0" tIns="0" rIns="0" bIns="0">
                      <a:noAutofit/>
                    </a:bodyPr>
                    <a:p>
                      <a:endParaRPr sz="700"/>
                    </a:p>
                  </a:txBody>
                  <a:tcPr marL="0" marR="0" marT="0" marB="0"/>
                </a:tc>
                <a:tc hMerge="1" vMerge="1">
                  <a:txBody>
                    <a:bodyPr lIns="0" tIns="0" rIns="0" bIns="0">
                      <a:noAutofit/>
                    </a:bodyPr>
                    <a:p>
                      <a:endParaRPr sz="700"/>
                    </a:p>
                  </a:txBody>
                  <a:tcPr marL="0" marR="0" marT="0" marB="0"/>
                </a:tc>
                <a:tc>
                  <a:txBody>
                    <a:bodyPr lIns="0" tIns="0" rIns="0" bIns="0">
                      <a:noAutofit/>
                    </a:bodyPr>
                    <a:p>
                      <a:pPr algn="ctr" indent="0"/>
                      <a:r>
                        <a:rPr lang="en-US" b="1" sz="600">
                          <a:latin typeface="Tahoma"/>
                        </a:rPr>
                        <a:t>Cash</a:t>
                      </a:r>
                    </a:p>
                  </a:txBody>
                  <a:tcPr marL="0" marR="0" marT="0" marB="0" anchor="b">
                    <a:solidFill>
                      <a:srgbClr val="CDD8DE"/>
                    </a:solidFill>
                  </a:tcPr>
                </a:tc>
                <a:tc>
                  <a:txBody>
                    <a:bodyPr lIns="0" tIns="0" rIns="0" bIns="0">
                      <a:noAutofit/>
                    </a:bodyPr>
                    <a:p>
                      <a:pPr algn="ctr" indent="0"/>
                      <a:r>
                        <a:rPr lang="en-US" b="1" sz="600">
                          <a:latin typeface="Tahoma"/>
                        </a:rPr>
                        <a:t>Guarantee</a:t>
                      </a:r>
                    </a:p>
                  </a:txBody>
                  <a:tcPr marL="0" marR="0" marT="0" marB="0" anchor="b">
                    <a:solidFill>
                      <a:srgbClr val="CDD8DE"/>
                    </a:solidFill>
                  </a:tcPr>
                </a:tc>
                <a:tc vMerge="1">
                  <a:txBody>
                    <a:bodyPr lIns="0" tIns="0" rIns="0" bIns="0">
                      <a:noAutofit/>
                    </a:bodyPr>
                    <a:p>
                      <a:endParaRPr sz="700"/>
                    </a:p>
                  </a:txBody>
                  <a:tcPr marL="0" marR="0" marT="0" marB="0"/>
                </a:tc>
              </a:tr>
              <a:tr h="213360">
                <a:tc gridSpan="3">
                  <a:txBody>
                    <a:bodyPr lIns="0" tIns="0" rIns="0" bIns="0">
                      <a:noAutofit/>
                    </a:bodyPr>
                    <a:p>
                      <a:pPr indent="0"/>
                      <a:r>
                        <a:rPr lang="en-US" sz="600" spc="50">
                          <a:solidFill>
                            <a:srgbClr val="333333"/>
                          </a:solidFill>
                          <a:latin typeface="Tahoma"/>
                        </a:rPr>
                        <a:t>0009 NEELS</a:t>
                      </a:r>
                    </a:p>
                  </a:txBody>
                  <a:tcPr marL="0" marR="0" marT="0" marB="0" anchor="ctr"/>
                </a:tc>
                <a:tc hMerge="1">
                  <a:txBody>
                    <a:bodyPr lIns="0" tIns="0" rIns="0" bIns="0">
                      <a:noAutofit/>
                    </a:bodyPr>
                    <a:p>
                      <a:endParaRPr sz="1100"/>
                    </a:p>
                  </a:txBody>
                  <a:tcPr marL="0" marR="0" marT="0" marB="0"/>
                </a:tc>
                <a:tc hMerge="1">
                  <a:txBody>
                    <a:bodyPr lIns="0" tIns="0" rIns="0" bIns="0">
                      <a:noAutofit/>
                    </a:bodyPr>
                    <a:p>
                      <a:endParaRPr sz="1100"/>
                    </a:p>
                  </a:txBody>
                  <a:tcPr marL="0" marR="0" marT="0" marB="0"/>
                </a:tc>
                <a:tc>
                  <a:txBody>
                    <a:bodyPr lIns="0" tIns="0" rIns="0" bIns="0">
                      <a:noAutofit/>
                    </a:bodyPr>
                    <a:p>
                      <a:pPr algn="r" indent="0"/>
                      <a:r>
                        <a:rPr lang="en-US" sz="600" spc="50">
                          <a:solidFill>
                            <a:srgbClr val="333333"/>
                          </a:solidFill>
                          <a:latin typeface="Tahoma"/>
                        </a:rPr>
                        <a:t>593.00</a:t>
                      </a:r>
                    </a:p>
                  </a:txBody>
                  <a:tcPr marL="0" marR="0" marT="0" marB="0" anchor="ctr"/>
                </a:tc>
                <a:tc>
                  <a:txBody>
                    <a:bodyPr lIns="0" tIns="0" rIns="0" bIns="0">
                      <a:noAutofit/>
                    </a:bodyPr>
                    <a:p>
                      <a:pPr algn="r" indent="0"/>
                      <a:r>
                        <a:rPr lang="en-US" sz="600" spc="50">
                          <a:solidFill>
                            <a:srgbClr val="333333"/>
                          </a:solidFill>
                          <a:latin typeface="Tahoma"/>
                        </a:rPr>
                        <a:t>0.00</a:t>
                      </a:r>
                    </a:p>
                  </a:txBody>
                  <a:tcPr marL="0" marR="0" marT="0" marB="0" anchor="ctr"/>
                </a:tc>
                <a:tc>
                  <a:txBody>
                    <a:bodyPr lIns="0" tIns="0" rIns="0" bIns="0">
                      <a:noAutofit/>
                    </a:bodyPr>
                    <a:p>
                      <a:pPr algn="ctr" indent="0"/>
                      <a:r>
                        <a:rPr lang="en-US" sz="600" spc="50">
                          <a:solidFill>
                            <a:srgbClr val="333333"/>
                          </a:solidFill>
                          <a:latin typeface="Tahoma"/>
                        </a:rPr>
                        <a:t>2025-09-13</a:t>
                      </a:r>
                    </a:p>
                  </a:txBody>
                  <a:tcPr marL="0" marR="0" marT="0" marB="0" anchor="ctr"/>
                </a:tc>
              </a:tr>
              <a:tr h="143256">
                <a:tc gridSpan="3" rowSpan="2">
                  <a:txBody>
                    <a:bodyPr lIns="0" tIns="0" rIns="0" bIns="0">
                      <a:noAutofit/>
                    </a:bodyPr>
                    <a:p>
                      <a:pPr algn="ctr" indent="0"/>
                      <a:r>
                        <a:rPr lang="en-US" b="1" sz="600">
                          <a:latin typeface="Tahoma"/>
                        </a:rPr>
                        <a:t>Township</a:t>
                      </a:r>
                    </a:p>
                  </a:txBody>
                  <a:tcPr marL="0" marR="0" marT="0" marB="0" anchor="ctr">
                    <a:solidFill>
                      <a:srgbClr val="CDD8DE"/>
                    </a:solidFill>
                  </a:tcPr>
                </a:tc>
                <a:tc hMerge="1" rowSpan="2">
                  <a:txBody>
                    <a:bodyPr lIns="0" tIns="0" rIns="0" bIns="0">
                      <a:noAutofit/>
                    </a:bodyPr>
                    <a:p>
                      <a:endParaRPr sz="700"/>
                    </a:p>
                  </a:txBody>
                  <a:tcPr marL="0" marR="0" marT="0" marB="0"/>
                </a:tc>
                <a:tc hMerge="1" rowSpan="2">
                  <a:txBody>
                    <a:bodyPr lIns="0" tIns="0" rIns="0" bIns="0">
                      <a:noAutofit/>
                    </a:bodyPr>
                    <a:p>
                      <a:endParaRPr sz="700"/>
                    </a:p>
                  </a:txBody>
                  <a:tcPr marL="0" marR="0" marT="0" marB="0"/>
                </a:tc>
                <a:tc gridSpan="2">
                  <a:txBody>
                    <a:bodyPr lIns="0" tIns="0" rIns="0" bIns="0">
                      <a:noAutofit/>
                    </a:bodyPr>
                    <a:p>
                      <a:pPr algn="ctr" indent="0"/>
                      <a:r>
                        <a:rPr lang="en-US" b="1" sz="600">
                          <a:latin typeface="Tahoma"/>
                        </a:rPr>
                        <a:t>Sectional Title</a:t>
                      </a:r>
                    </a:p>
                  </a:txBody>
                  <a:tcPr marL="0" marR="0" marT="0" marB="0" anchor="b">
                    <a:solidFill>
                      <a:srgbClr val="CDD8DE"/>
                    </a:solidFill>
                  </a:tcPr>
                </a:tc>
                <a:tc hMerge="1">
                  <a:txBody>
                    <a:bodyPr lIns="0" tIns="0" rIns="0" bIns="0">
                      <a:noAutofit/>
                    </a:bodyPr>
                    <a:p>
                      <a:endParaRPr sz="700"/>
                    </a:p>
                  </a:txBody>
                  <a:tcPr marL="0" marR="0" marT="0" marB="0"/>
                </a:tc>
                <a:tc>
                  <a:txBody>
                    <a:bodyPr lIns="0" tIns="0" rIns="0" bIns="0">
                      <a:noAutofit/>
                    </a:bodyPr>
                    <a:p>
                      <a:pPr algn="ctr" indent="0"/>
                      <a:r>
                        <a:rPr lang="en-US" b="1" sz="600">
                          <a:latin typeface="Tahoma"/>
                        </a:rPr>
                        <a:t>Property Valuation</a:t>
                      </a:r>
                    </a:p>
                  </a:txBody>
                  <a:tcPr marL="0" marR="0" marT="0" marB="0" anchor="b">
                    <a:solidFill>
                      <a:srgbClr val="CDD8DE"/>
                    </a:solidFill>
                  </a:tcPr>
                </a:tc>
              </a:tr>
              <a:tr h="176784">
                <a:tc gridSpan="3" vMerge="1">
                  <a:txBody>
                    <a:bodyPr lIns="0" tIns="0" rIns="0" bIns="0">
                      <a:noAutofit/>
                    </a:bodyPr>
                    <a:p>
                      <a:endParaRPr sz="900"/>
                    </a:p>
                  </a:txBody>
                  <a:tcPr marL="0" marR="0" marT="0" marB="0"/>
                </a:tc>
                <a:tc hMerge="1" vMerge="1">
                  <a:txBody>
                    <a:bodyPr lIns="0" tIns="0" rIns="0" bIns="0">
                      <a:noAutofit/>
                    </a:bodyPr>
                    <a:p>
                      <a:endParaRPr sz="900"/>
                    </a:p>
                  </a:txBody>
                  <a:tcPr marL="0" marR="0" marT="0" marB="0"/>
                </a:tc>
                <a:tc hMerge="1" vMerge="1">
                  <a:txBody>
                    <a:bodyPr lIns="0" tIns="0" rIns="0" bIns="0">
                      <a:noAutofit/>
                    </a:bodyPr>
                    <a:p>
                      <a:endParaRPr sz="900"/>
                    </a:p>
                  </a:txBody>
                  <a:tcPr marL="0" marR="0" marT="0" marB="0"/>
                </a:tc>
                <a:tc>
                  <a:txBody>
                    <a:bodyPr lIns="0" tIns="0" rIns="0" bIns="0">
                      <a:noAutofit/>
                    </a:bodyPr>
                    <a:p>
                      <a:pPr algn="ctr" indent="0"/>
                      <a:r>
                        <a:rPr lang="en-US" b="1" sz="600">
                          <a:latin typeface="Tahoma"/>
                        </a:rPr>
                        <a:t>Sectional Title Name</a:t>
                      </a:r>
                    </a:p>
                  </a:txBody>
                  <a:tcPr marL="0" marR="0" marT="0" marB="0" anchor="ctr">
                    <a:solidFill>
                      <a:srgbClr val="CDD8DE"/>
                    </a:solidFill>
                  </a:tcPr>
                </a:tc>
                <a:tc>
                  <a:txBody>
                    <a:bodyPr lIns="0" tIns="0" rIns="0" bIns="0">
                      <a:noAutofit/>
                    </a:bodyPr>
                    <a:p>
                      <a:pPr algn="ctr" indent="0"/>
                      <a:r>
                        <a:rPr lang="en-US" b="1" sz="600">
                          <a:latin typeface="Tahoma"/>
                        </a:rPr>
                        <a:t>Unit No</a:t>
                      </a:r>
                    </a:p>
                  </a:txBody>
                  <a:tcPr marL="0" marR="0" marT="0" marB="0" anchor="ctr">
                    <a:solidFill>
                      <a:srgbClr val="CDD8DE"/>
                    </a:solidFill>
                  </a:tcPr>
                </a:tc>
                <a:tc>
                  <a:txBody>
                    <a:bodyPr lIns="0" tIns="0" rIns="0" bIns="0">
                      <a:noAutofit/>
                    </a:bodyPr>
                    <a:p>
                      <a:pPr algn="ctr" indent="0"/>
                      <a:r>
                        <a:rPr lang="en-US" b="1" sz="600">
                          <a:latin typeface="Tahoma"/>
                        </a:rPr>
                        <a:t>Total Value</a:t>
                      </a:r>
                    </a:p>
                  </a:txBody>
                  <a:tcPr marL="0" marR="0" marT="0" marB="0" anchor="ctr">
                    <a:solidFill>
                      <a:srgbClr val="CDD8DE"/>
                    </a:solidFill>
                  </a:tcPr>
                </a:tc>
              </a:tr>
              <a:tr h="213360">
                <a:tc gridSpan="3">
                  <a:txBody>
                    <a:bodyPr lIns="0" tIns="0" rIns="0" bIns="0">
                      <a:noAutofit/>
                    </a:bodyPr>
                    <a:p>
                      <a:pPr indent="0"/>
                      <a:r>
                        <a:rPr lang="en-US" sz="600" spc="50">
                          <a:solidFill>
                            <a:srgbClr val="333333"/>
                          </a:solidFill>
                          <a:latin typeface="Tahoma"/>
                        </a:rPr>
                        <a:t>KLIPPOORTJE AGRICULTURAL LOTS</a:t>
                      </a:r>
                    </a:p>
                  </a:txBody>
                  <a:tcPr marL="0" marR="0" marT="0" marB="0" anchor="ctr"/>
                </a:tc>
                <a:tc hMerge="1">
                  <a:txBody>
                    <a:bodyPr lIns="0" tIns="0" rIns="0" bIns="0">
                      <a:noAutofit/>
                    </a:bodyPr>
                    <a:p>
                      <a:endParaRPr sz="1100"/>
                    </a:p>
                  </a:txBody>
                  <a:tcPr marL="0" marR="0" marT="0" marB="0"/>
                </a:tc>
                <a:tc hMerge="1">
                  <a:txBody>
                    <a:bodyPr lIns="0" tIns="0" rIns="0" bIns="0">
                      <a:noAutofit/>
                    </a:bodyPr>
                    <a:p>
                      <a:endParaRPr sz="1100"/>
                    </a:p>
                  </a:txBody>
                  <a:tcPr marL="0" marR="0" marT="0" marB="0"/>
                </a:tc>
                <a:tc>
                  <a:txBody>
                    <a:bodyPr lIns="0" tIns="0" rIns="0" bIns="0">
                      <a:noAutofit/>
                    </a:bodyPr>
                    <a:p>
                      <a:endParaRPr sz="1100"/>
                    </a:p>
                  </a:txBody>
                  <a:tcPr marL="0" marR="0" marT="0" marB="0"/>
                </a:tc>
                <a:tc>
                  <a:txBody>
                    <a:bodyPr lIns="0" tIns="0" rIns="0" bIns="0">
                      <a:noAutofit/>
                    </a:bodyPr>
                    <a:p>
                      <a:endParaRPr sz="1100"/>
                    </a:p>
                  </a:txBody>
                  <a:tcPr marL="0" marR="0" marT="0" marB="0"/>
                </a:tc>
                <a:tc>
                  <a:txBody>
                    <a:bodyPr lIns="0" tIns="0" rIns="0" bIns="0">
                      <a:noAutofit/>
                    </a:bodyPr>
                    <a:p>
                      <a:pPr indent="0"/>
                      <a:r>
                        <a:rPr lang="en-US" sz="600" spc="50">
                          <a:solidFill>
                            <a:srgbClr val="333333"/>
                          </a:solidFill>
                          <a:latin typeface="Tahoma"/>
                        </a:rPr>
                        <a:t>1185000</a:t>
                      </a:r>
                    </a:p>
                  </a:txBody>
                  <a:tcPr marL="0" marR="0" marT="0" marB="0" anchor="ctr"/>
                </a:tc>
              </a:tr>
              <a:tr h="256032">
                <a:tc>
                  <a:txBody>
                    <a:bodyPr lIns="0" tIns="0" rIns="0" bIns="0">
                      <a:noAutofit/>
                    </a:bodyPr>
                    <a:p>
                      <a:pPr algn="ctr" indent="0"/>
                      <a:r>
                        <a:rPr lang="en-US" b="1" sz="600">
                          <a:latin typeface="Tahoma"/>
                        </a:rPr>
                        <a:t>ERF Number</a:t>
                      </a:r>
                    </a:p>
                  </a:txBody>
                  <a:tcPr marL="0" marR="0" marT="0" marB="0" anchor="ctr">
                    <a:solidFill>
                      <a:srgbClr val="CDD8DE"/>
                    </a:solidFill>
                  </a:tcPr>
                </a:tc>
                <a:tc>
                  <a:txBody>
                    <a:bodyPr lIns="0" tIns="0" rIns="0" bIns="0">
                      <a:noAutofit/>
                    </a:bodyPr>
                    <a:p>
                      <a:pPr indent="0"/>
                      <a:r>
                        <a:rPr lang="en-US" sz="600" spc="50">
                          <a:solidFill>
                            <a:srgbClr val="333333"/>
                          </a:solidFill>
                          <a:latin typeface="Tahoma"/>
                        </a:rPr>
                        <a:t>M88 000 00000059</a:t>
                      </a:r>
                    </a:p>
                  </a:txBody>
                  <a:tcPr marL="0" marR="0" marT="0" marB="0" anchor="ctr"/>
                </a:tc>
                <a:tc>
                  <a:txBody>
                    <a:bodyPr lIns="0" tIns="0" rIns="0" bIns="0">
                      <a:noAutofit/>
                    </a:bodyPr>
                    <a:p>
                      <a:pPr algn="ctr" indent="0"/>
                      <a:r>
                        <a:rPr lang="en-US" b="1" sz="600">
                          <a:latin typeface="Tahoma"/>
                        </a:rPr>
                        <a:t>Portion</a:t>
                      </a:r>
                    </a:p>
                  </a:txBody>
                  <a:tcPr marL="0" marR="0" marT="0" marB="0" anchor="ctr">
                    <a:solidFill>
                      <a:srgbClr val="CDD8DE"/>
                    </a:solidFill>
                  </a:tcPr>
                </a:tc>
                <a:tc>
                  <a:txBody>
                    <a:bodyPr lIns="0" tIns="0" rIns="0" bIns="0">
                      <a:noAutofit/>
                    </a:bodyPr>
                    <a:p>
                      <a:pPr indent="0"/>
                      <a:r>
                        <a:rPr lang="en-US" sz="600" spc="50">
                          <a:solidFill>
                            <a:srgbClr val="333333"/>
                          </a:solidFill>
                          <a:latin typeface="Tahoma"/>
                        </a:rPr>
                        <a:t>00013 0000 0000</a:t>
                      </a:r>
                    </a:p>
                  </a:txBody>
                  <a:tcPr marL="0" marR="0" marT="0" marB="0" anchor="ctr"/>
                </a:tc>
                <a:tc>
                  <a:txBody>
                    <a:bodyPr lIns="0" tIns="0" rIns="0" bIns="0">
                      <a:noAutofit/>
                    </a:bodyPr>
                    <a:p>
                      <a:pPr algn="ctr" indent="0"/>
                      <a:r>
                        <a:rPr lang="en-US" sz="600" spc="50">
                          <a:latin typeface="Tahoma"/>
                        </a:rPr>
                        <a:t>Area m2</a:t>
                      </a:r>
                    </a:p>
                  </a:txBody>
                  <a:tcPr marL="0" marR="0" marT="0" marB="0" anchor="ctr">
                    <a:solidFill>
                      <a:srgbClr val="CDD8DE"/>
                    </a:solidFill>
                  </a:tcPr>
                </a:tc>
                <a:tc>
                  <a:txBody>
                    <a:bodyPr lIns="0" tIns="0" rIns="0" bIns="0">
                      <a:noAutofit/>
                    </a:bodyPr>
                    <a:p>
                      <a:pPr indent="0"/>
                      <a:r>
                        <a:rPr lang="en-US" sz="600" spc="50">
                          <a:solidFill>
                            <a:srgbClr val="333333"/>
                          </a:solidFill>
                          <a:latin typeface="Tahoma"/>
                        </a:rPr>
                        <a:t>991</a:t>
                      </a:r>
                    </a:p>
                  </a:txBody>
                  <a:tcPr marL="0" marR="0" marT="0" marB="0" anchor="ctr"/>
                </a:tc>
              </a:tr>
            </a:tbl>
          </a:graphicData>
        </a:graphic>
      </p:graphicFrame>
      <p:graphicFrame>
        <p:nvGraphicFramePr>
          <p:cNvPr id="19" name=""/>
          <p:cNvGraphicFramePr>
            <a:graphicFrameLocks noGrp="1"/>
          </p:cNvGraphicFramePr>
          <p:nvPr/>
        </p:nvGraphicFramePr>
        <p:xfrm>
          <a:off x="359664" y="3380232"/>
          <a:ext cx="6833616" cy="2996184"/>
        </p:xfrm>
        <a:graphic>
          <a:graphicData uri="http://schemas.openxmlformats.org/drawingml/2006/table">
            <a:tbl>
              <a:tblPr/>
              <a:tblGrid>
                <a:gridCol w="829056"/>
                <a:gridCol w="539496"/>
                <a:gridCol w="2389632"/>
                <a:gridCol w="1021080"/>
                <a:gridCol w="1024128"/>
                <a:gridCol w="1030224"/>
              </a:tblGrid>
              <a:tr h="216408">
                <a:tc>
                  <a:txBody>
                    <a:bodyPr lIns="0" tIns="0" rIns="0" bIns="0">
                      <a:noAutofit/>
                    </a:bodyPr>
                    <a:p>
                      <a:pPr algn="ctr" indent="0"/>
                      <a:r>
                        <a:rPr lang="en-US" sz="600" spc="50">
                          <a:latin typeface="Tahoma"/>
                        </a:rPr>
                        <a:t>Date</a:t>
                      </a:r>
                    </a:p>
                  </a:txBody>
                  <a:tcPr marL="0" marR="0" marT="0" marB="0" anchor="ctr">
                    <a:solidFill>
                      <a:srgbClr val="CDD8DE"/>
                    </a:solidFill>
                  </a:tcPr>
                </a:tc>
                <a:tc>
                  <a:txBody>
                    <a:bodyPr lIns="0" tIns="0" rIns="0" bIns="0">
                      <a:noAutofit/>
                    </a:bodyPr>
                    <a:p>
                      <a:pPr algn="ctr" indent="0"/>
                      <a:r>
                        <a:rPr lang="en-US" sz="600" spc="50">
                          <a:latin typeface="Tahoma"/>
                        </a:rPr>
                        <a:t>Icon</a:t>
                      </a:r>
                    </a:p>
                  </a:txBody>
                  <a:tcPr marL="0" marR="0" marT="0" marB="0" anchor="ctr">
                    <a:solidFill>
                      <a:srgbClr val="CDD8DE"/>
                    </a:solidFill>
                  </a:tcPr>
                </a:tc>
                <a:tc>
                  <a:txBody>
                    <a:bodyPr lIns="0" tIns="0" rIns="0" bIns="0">
                      <a:noAutofit/>
                    </a:bodyPr>
                    <a:p>
                      <a:pPr algn="ctr" indent="0"/>
                      <a:r>
                        <a:rPr lang="en-US" sz="600" spc="50">
                          <a:latin typeface="Tahoma"/>
                        </a:rPr>
                        <a:t>Details</a:t>
                      </a:r>
                    </a:p>
                  </a:txBody>
                  <a:tcPr marL="0" marR="0" marT="0" marB="0" anchor="ctr">
                    <a:solidFill>
                      <a:srgbClr val="CDD8DE"/>
                    </a:solidFill>
                  </a:tcPr>
                </a:tc>
                <a:tc>
                  <a:txBody>
                    <a:bodyPr lIns="0" tIns="0" rIns="0" bIns="0">
                      <a:noAutofit/>
                    </a:bodyPr>
                    <a:p>
                      <a:pPr marL="114300" indent="0"/>
                      <a:r>
                        <a:rPr lang="en-US" sz="600" spc="50">
                          <a:latin typeface="Tahoma"/>
                        </a:rPr>
                        <a:t>Charge (excl. VAT)</a:t>
                      </a:r>
                    </a:p>
                  </a:txBody>
                  <a:tcPr marL="0" marR="0" marT="0" marB="0" anchor="ctr">
                    <a:solidFill>
                      <a:srgbClr val="CDD8DE"/>
                    </a:solidFill>
                  </a:tcPr>
                </a:tc>
                <a:tc>
                  <a:txBody>
                    <a:bodyPr lIns="0" tIns="0" rIns="0" bIns="0">
                      <a:noAutofit/>
                    </a:bodyPr>
                    <a:p>
                      <a:pPr algn="ctr" indent="0"/>
                      <a:r>
                        <a:rPr lang="en-US" sz="600" spc="50">
                          <a:latin typeface="Tahoma"/>
                        </a:rPr>
                        <a:t>VAT</a:t>
                      </a:r>
                    </a:p>
                  </a:txBody>
                  <a:tcPr marL="0" marR="0" marT="0" marB="0" anchor="ctr">
                    <a:solidFill>
                      <a:srgbClr val="CDD8DE"/>
                    </a:solidFill>
                  </a:tcPr>
                </a:tc>
                <a:tc>
                  <a:txBody>
                    <a:bodyPr lIns="0" tIns="0" rIns="0" bIns="0">
                      <a:noAutofit/>
                    </a:bodyPr>
                    <a:p>
                      <a:pPr algn="ctr" indent="0"/>
                      <a:r>
                        <a:rPr lang="en-US" sz="600" spc="50">
                          <a:latin typeface="Tahoma"/>
                        </a:rPr>
                        <a:t>Charge (incl. VAT)</a:t>
                      </a:r>
                    </a:p>
                  </a:txBody>
                  <a:tcPr marL="0" marR="0" marT="0" marB="0" anchor="ctr">
                    <a:solidFill>
                      <a:srgbClr val="CDD8DE"/>
                    </a:solidFill>
                  </a:tcPr>
                </a:tc>
              </a:tr>
              <a:tr h="216408">
                <a:tc>
                  <a:txBody>
                    <a:bodyPr lIns="0" tIns="0" rIns="0" bIns="0">
                      <a:noAutofit/>
                    </a:bodyPr>
                    <a:p>
                      <a:pPr algn="ctr" indent="0"/>
                      <a:r>
                        <a:rPr lang="en-US" sz="600" spc="50">
                          <a:solidFill>
                            <a:srgbClr val="333333"/>
                          </a:solidFill>
                          <a:latin typeface="Tahoma"/>
                        </a:rPr>
                        <a:t>08/17</a:t>
                      </a:r>
                    </a:p>
                  </a:txBody>
                  <a:tcPr marL="0" marR="0" marT="0" marB="0" anchor="ctr"/>
                </a:tc>
                <a:tc>
                  <a:txBody>
                    <a:bodyPr lIns="0" tIns="0" rIns="0" bIns="0">
                      <a:noAutofit/>
                    </a:bodyPr>
                    <a:p>
                      <a:endParaRPr sz="1100"/>
                    </a:p>
                  </a:txBody>
                  <a:tcPr marL="0" marR="0" marT="0" marB="0"/>
                </a:tc>
                <a:tc>
                  <a:txBody>
                    <a:bodyPr lIns="0" tIns="0" rIns="0" bIns="0">
                      <a:noAutofit/>
                    </a:bodyPr>
                    <a:p>
                      <a:pPr indent="0"/>
                      <a:r>
                        <a:rPr lang="en-US" sz="600" spc="50">
                          <a:solidFill>
                            <a:srgbClr val="333333"/>
                          </a:solidFill>
                          <a:latin typeface="Tahoma"/>
                        </a:rPr>
                        <a:t>BALANCE BROUGHT FORWARD</a:t>
                      </a:r>
                    </a:p>
                  </a:txBody>
                  <a:tcPr marL="0" marR="0" marT="0" marB="0" anchor="ctr"/>
                </a:tc>
                <a:tc>
                  <a:txBody>
                    <a:bodyPr lIns="0" tIns="0" rIns="0" bIns="0">
                      <a:noAutofit/>
                    </a:bodyPr>
                    <a:p>
                      <a:pPr algn="r" indent="0"/>
                      <a:r>
                        <a:rPr lang="en-US" sz="600" spc="50">
                          <a:solidFill>
                            <a:srgbClr val="333333"/>
                          </a:solidFill>
                          <a:latin typeface="Tahoma"/>
                        </a:rPr>
                        <a:t>5383.39</a:t>
                      </a:r>
                    </a:p>
                  </a:txBody>
                  <a:tcPr marL="0" marR="0" marT="0" marB="0" anchor="ctr"/>
                </a:tc>
                <a:tc>
                  <a:txBody>
                    <a:bodyPr lIns="0" tIns="0" rIns="0" bIns="0">
                      <a:noAutofit/>
                    </a:bodyPr>
                    <a:p>
                      <a:endParaRPr sz="1100"/>
                    </a:p>
                  </a:txBody>
                  <a:tcPr marL="0" marR="0" marT="0" marB="0"/>
                </a:tc>
                <a:tc>
                  <a:txBody>
                    <a:bodyPr lIns="0" tIns="0" rIns="0" bIns="0">
                      <a:noAutofit/>
                    </a:bodyPr>
                    <a:p>
                      <a:pPr algn="r" indent="0"/>
                      <a:r>
                        <a:rPr lang="en-US" sz="600" spc="50">
                          <a:solidFill>
                            <a:srgbClr val="333333"/>
                          </a:solidFill>
                          <a:latin typeface="Tahoma"/>
                        </a:rPr>
                        <a:t>5383.39</a:t>
                      </a:r>
                    </a:p>
                  </a:txBody>
                  <a:tcPr marL="0" marR="0" marT="0" marB="0" anchor="ctr"/>
                </a:tc>
              </a:tr>
              <a:tr h="213360">
                <a:tc>
                  <a:txBody>
                    <a:bodyPr lIns="0" tIns="0" rIns="0" bIns="0">
                      <a:noAutofit/>
                    </a:bodyPr>
                    <a:p>
                      <a:pPr algn="ctr" indent="0"/>
                      <a:r>
                        <a:rPr lang="en-US" sz="600" spc="50">
                          <a:solidFill>
                            <a:srgbClr val="333333"/>
                          </a:solidFill>
                          <a:latin typeface="Tahoma"/>
                        </a:rPr>
                        <a:t>09/03</a:t>
                      </a:r>
                    </a:p>
                  </a:txBody>
                  <a:tcPr marL="0" marR="0" marT="0" marB="0" anchor="ctr"/>
                </a:tc>
                <a:tc>
                  <a:txBody>
                    <a:bodyPr lIns="0" tIns="0" rIns="0" bIns="0">
                      <a:noAutofit/>
                    </a:bodyPr>
                    <a:p>
                      <a:endParaRPr sz="1100"/>
                    </a:p>
                  </a:txBody>
                  <a:tcPr marL="0" marR="0" marT="0" marB="0"/>
                </a:tc>
                <a:tc>
                  <a:txBody>
                    <a:bodyPr lIns="0" tIns="0" rIns="0" bIns="0">
                      <a:noAutofit/>
                    </a:bodyPr>
                    <a:p>
                      <a:pPr indent="0"/>
                      <a:r>
                        <a:rPr lang="en-US" sz="600" spc="50">
                          <a:solidFill>
                            <a:srgbClr val="333333"/>
                          </a:solidFill>
                          <a:latin typeface="Tahoma"/>
                        </a:rPr>
                        <a:t>PAYMENT - THANK YOU</a:t>
                      </a:r>
                    </a:p>
                  </a:txBody>
                  <a:tcPr marL="0" marR="0" marT="0" marB="0" anchor="ctr"/>
                </a:tc>
                <a:tc>
                  <a:txBody>
                    <a:bodyPr lIns="0" tIns="0" rIns="0" bIns="0">
                      <a:noAutofit/>
                    </a:bodyPr>
                    <a:p>
                      <a:pPr algn="r" indent="0"/>
                      <a:r>
                        <a:rPr lang="en-US" sz="600" spc="50">
                          <a:solidFill>
                            <a:srgbClr val="333333"/>
                          </a:solidFill>
                          <a:latin typeface="Tahoma"/>
                        </a:rPr>
                        <a:t>-5000.00</a:t>
                      </a:r>
                    </a:p>
                  </a:txBody>
                  <a:tcPr marL="0" marR="0" marT="0" marB="0" anchor="ctr"/>
                </a:tc>
                <a:tc>
                  <a:txBody>
                    <a:bodyPr lIns="0" tIns="0" rIns="0" bIns="0">
                      <a:noAutofit/>
                    </a:bodyPr>
                    <a:p>
                      <a:endParaRPr sz="1100"/>
                    </a:p>
                  </a:txBody>
                  <a:tcPr marL="0" marR="0" marT="0" marB="0"/>
                </a:tc>
                <a:tc>
                  <a:txBody>
                    <a:bodyPr lIns="0" tIns="0" rIns="0" bIns="0">
                      <a:noAutofit/>
                    </a:bodyPr>
                    <a:p>
                      <a:pPr algn="r" indent="0"/>
                      <a:r>
                        <a:rPr lang="en-US" sz="600" spc="50">
                          <a:solidFill>
                            <a:srgbClr val="333333"/>
                          </a:solidFill>
                          <a:latin typeface="Tahoma"/>
                        </a:rPr>
                        <a:t>-5000.00</a:t>
                      </a:r>
                    </a:p>
                  </a:txBody>
                  <a:tcPr marL="0" marR="0" marT="0" marB="0" anchor="ctr"/>
                </a:tc>
              </a:tr>
              <a:tr h="213360">
                <a:tc>
                  <a:txBody>
                    <a:bodyPr lIns="0" tIns="0" rIns="0" bIns="0">
                      <a:noAutofit/>
                    </a:bodyPr>
                    <a:p>
                      <a:endParaRPr sz="1100"/>
                    </a:p>
                  </a:txBody>
                  <a:tcPr marL="0" marR="0" marT="0" marB="0"/>
                </a:tc>
                <a:tc>
                  <a:txBody>
                    <a:bodyPr lIns="0" tIns="0" rIns="0" bIns="0">
                      <a:noAutofit/>
                    </a:bodyPr>
                    <a:p>
                      <a:endParaRPr sz="1100"/>
                    </a:p>
                  </a:txBody>
                  <a:tcPr marL="0" marR="0" marT="0" marB="0"/>
                </a:tc>
                <a:tc>
                  <a:txBody>
                    <a:bodyPr lIns="0" tIns="0" rIns="0" bIns="0">
                      <a:noAutofit/>
                    </a:bodyPr>
                    <a:p>
                      <a:pPr indent="0"/>
                      <a:r>
                        <a:rPr lang="en-US" sz="600" spc="50">
                          <a:solidFill>
                            <a:srgbClr val="333333"/>
                          </a:solidFill>
                          <a:latin typeface="Tahoma"/>
                        </a:rPr>
                        <a:t>SUB TOTAL</a:t>
                      </a:r>
                    </a:p>
                  </a:txBody>
                  <a:tcPr marL="0" marR="0" marT="0" marB="0" anchor="ctr"/>
                </a:tc>
                <a:tc>
                  <a:txBody>
                    <a:bodyPr lIns="0" tIns="0" rIns="0" bIns="0">
                      <a:noAutofit/>
                    </a:bodyPr>
                    <a:p>
                      <a:pPr algn="r" indent="0"/>
                      <a:r>
                        <a:rPr lang="en-US" sz="600" spc="50">
                          <a:solidFill>
                            <a:srgbClr val="333333"/>
                          </a:solidFill>
                          <a:latin typeface="Tahoma"/>
                        </a:rPr>
                        <a:t>383.39</a:t>
                      </a:r>
                    </a:p>
                  </a:txBody>
                  <a:tcPr marL="0" marR="0" marT="0" marB="0" anchor="ctr"/>
                </a:tc>
                <a:tc>
                  <a:txBody>
                    <a:bodyPr lIns="0" tIns="0" rIns="0" bIns="0">
                      <a:noAutofit/>
                    </a:bodyPr>
                    <a:p>
                      <a:endParaRPr sz="1100"/>
                    </a:p>
                  </a:txBody>
                  <a:tcPr marL="0" marR="0" marT="0" marB="0"/>
                </a:tc>
                <a:tc>
                  <a:txBody>
                    <a:bodyPr lIns="0" tIns="0" rIns="0" bIns="0">
                      <a:noAutofit/>
                    </a:bodyPr>
                    <a:p>
                      <a:pPr algn="r" indent="0"/>
                      <a:r>
                        <a:rPr lang="en-US" sz="600" spc="50">
                          <a:solidFill>
                            <a:srgbClr val="333333"/>
                          </a:solidFill>
                          <a:latin typeface="Tahoma"/>
                        </a:rPr>
                        <a:t>383.39</a:t>
                      </a:r>
                    </a:p>
                  </a:txBody>
                  <a:tcPr marL="0" marR="0" marT="0" marB="0" anchor="ctr"/>
                </a:tc>
              </a:tr>
              <a:tr h="210312">
                <a:tc>
                  <a:txBody>
                    <a:bodyPr lIns="0" tIns="0" rIns="0" bIns="0">
                      <a:noAutofit/>
                    </a:bodyPr>
                    <a:p>
                      <a:pPr algn="ctr" indent="0"/>
                      <a:r>
                        <a:rPr lang="en-US" sz="600" spc="50">
                          <a:solidFill>
                            <a:srgbClr val="333333"/>
                          </a:solidFill>
                          <a:latin typeface="Tahoma"/>
                        </a:rPr>
                        <a:t>08/18</a:t>
                      </a:r>
                    </a:p>
                  </a:txBody>
                  <a:tcPr marL="0" marR="0" marT="0" marB="0" anchor="ctr"/>
                </a:tc>
                <a:tc>
                  <a:txBody>
                    <a:bodyPr lIns="0" tIns="0" rIns="0" bIns="0">
                      <a:noAutofit/>
                    </a:bodyPr>
                    <a:p>
                      <a:endParaRPr sz="1000"/>
                    </a:p>
                  </a:txBody>
                  <a:tcPr marL="0" marR="0" marT="0" marB="0"/>
                </a:tc>
                <a:tc>
                  <a:txBody>
                    <a:bodyPr lIns="0" tIns="0" rIns="0" bIns="0">
                      <a:noAutofit/>
                    </a:bodyPr>
                    <a:p>
                      <a:pPr indent="0"/>
                      <a:r>
                        <a:rPr lang="en-US" sz="600" spc="50">
                          <a:solidFill>
                            <a:srgbClr val="333333"/>
                          </a:solidFill>
                          <a:latin typeface="Tahoma"/>
                        </a:rPr>
                        <a:t>FINAL NOTICE</a:t>
                      </a:r>
                    </a:p>
                  </a:txBody>
                  <a:tcPr marL="0" marR="0" marT="0" marB="0" anchor="ctr"/>
                </a:tc>
                <a:tc>
                  <a:txBody>
                    <a:bodyPr lIns="0" tIns="0" rIns="0" bIns="0">
                      <a:noAutofit/>
                    </a:bodyPr>
                    <a:p>
                      <a:pPr algn="r" indent="0"/>
                      <a:r>
                        <a:rPr lang="en-US" sz="600" spc="50">
                          <a:solidFill>
                            <a:srgbClr val="333333"/>
                          </a:solidFill>
                          <a:latin typeface="Tahoma"/>
                        </a:rPr>
                        <a:t>211.74</a:t>
                      </a:r>
                    </a:p>
                  </a:txBody>
                  <a:tcPr marL="0" marR="0" marT="0" marB="0" anchor="ctr"/>
                </a:tc>
                <a:tc>
                  <a:txBody>
                    <a:bodyPr lIns="0" tIns="0" rIns="0" bIns="0">
                      <a:noAutofit/>
                    </a:bodyPr>
                    <a:p>
                      <a:pPr algn="r" indent="0"/>
                      <a:r>
                        <a:rPr lang="en-US" sz="600" spc="50">
                          <a:solidFill>
                            <a:srgbClr val="333333"/>
                          </a:solidFill>
                          <a:latin typeface="Tahoma"/>
                        </a:rPr>
                        <a:t>31.76</a:t>
                      </a:r>
                    </a:p>
                  </a:txBody>
                  <a:tcPr marL="0" marR="0" marT="0" marB="0" anchor="ctr"/>
                </a:tc>
                <a:tc>
                  <a:txBody>
                    <a:bodyPr lIns="0" tIns="0" rIns="0" bIns="0">
                      <a:noAutofit/>
                    </a:bodyPr>
                    <a:p>
                      <a:pPr algn="r" indent="0"/>
                      <a:r>
                        <a:rPr lang="en-US" sz="600" spc="50">
                          <a:solidFill>
                            <a:srgbClr val="333333"/>
                          </a:solidFill>
                          <a:latin typeface="Tahoma"/>
                        </a:rPr>
                        <a:t>243.50</a:t>
                      </a:r>
                    </a:p>
                  </a:txBody>
                  <a:tcPr marL="0" marR="0" marT="0" marB="0" anchor="ctr"/>
                </a:tc>
              </a:tr>
              <a:tr h="210312">
                <a:tc>
                  <a:txBody>
                    <a:bodyPr lIns="0" tIns="0" rIns="0" bIns="0">
                      <a:noAutofit/>
                    </a:bodyPr>
                    <a:p>
                      <a:endParaRPr sz="1000"/>
                    </a:p>
                  </a:txBody>
                  <a:tcPr marL="0" marR="0" marT="0" marB="0">
                    <a:solidFill>
                      <a:srgbClr val="CDD8DE"/>
                    </a:solidFill>
                  </a:tcPr>
                </a:tc>
                <a:tc>
                  <a:txBody>
                    <a:bodyPr lIns="0" tIns="0" rIns="0" bIns="0">
                      <a:noAutofit/>
                    </a:bodyPr>
                    <a:p>
                      <a:endParaRPr sz="1000"/>
                    </a:p>
                  </a:txBody>
                  <a:tcPr marL="0" marR="0" marT="0" marB="0">
                    <a:solidFill>
                      <a:srgbClr val="CDD8DE"/>
                    </a:solidFill>
                  </a:tcPr>
                </a:tc>
                <a:tc>
                  <a:txBody>
                    <a:bodyPr lIns="0" tIns="0" rIns="0" bIns="0">
                      <a:noAutofit/>
                    </a:bodyPr>
                    <a:p>
                      <a:pPr algn="ctr" indent="0"/>
                      <a:r>
                        <a:rPr lang="en-US" b="1" sz="600">
                          <a:latin typeface="Tahoma"/>
                        </a:rPr>
                        <a:t>PROPERTY RATES</a:t>
                      </a:r>
                    </a:p>
                  </a:txBody>
                  <a:tcPr marL="0" marR="0" marT="0" marB="0" anchor="ctr">
                    <a:solidFill>
                      <a:srgbClr val="CDD8DE"/>
                    </a:solidFill>
                  </a:tcPr>
                </a:tc>
                <a:tc>
                  <a:txBody>
                    <a:bodyPr lIns="0" tIns="0" rIns="0" bIns="0">
                      <a:noAutofit/>
                    </a:bodyPr>
                    <a:p>
                      <a:endParaRPr sz="1000"/>
                    </a:p>
                  </a:txBody>
                  <a:tcPr marL="0" marR="0" marT="0" marB="0">
                    <a:solidFill>
                      <a:srgbClr val="CDD8DE"/>
                    </a:solidFill>
                  </a:tcPr>
                </a:tc>
                <a:tc>
                  <a:txBody>
                    <a:bodyPr lIns="0" tIns="0" rIns="0" bIns="0">
                      <a:noAutofit/>
                    </a:bodyPr>
                    <a:p>
                      <a:endParaRPr sz="1000"/>
                    </a:p>
                  </a:txBody>
                  <a:tcPr marL="0" marR="0" marT="0" marB="0">
                    <a:solidFill>
                      <a:srgbClr val="CDD8DE"/>
                    </a:solidFill>
                  </a:tcPr>
                </a:tc>
                <a:tc>
                  <a:txBody>
                    <a:bodyPr lIns="0" tIns="0" rIns="0" bIns="0">
                      <a:noAutofit/>
                    </a:bodyPr>
                    <a:p>
                      <a:endParaRPr sz="1000"/>
                    </a:p>
                  </a:txBody>
                  <a:tcPr marL="0" marR="0" marT="0" marB="0">
                    <a:solidFill>
                      <a:srgbClr val="CDD8DE"/>
                    </a:solidFill>
                  </a:tcPr>
                </a:tc>
              </a:tr>
              <a:tr h="219456">
                <a:tc>
                  <a:txBody>
                    <a:bodyPr lIns="0" tIns="0" rIns="0" bIns="0">
                      <a:noAutofit/>
                    </a:bodyPr>
                    <a:p>
                      <a:pPr algn="ctr" indent="0"/>
                      <a:r>
                        <a:rPr lang="en-US" sz="600" spc="50">
                          <a:solidFill>
                            <a:srgbClr val="333333"/>
                          </a:solidFill>
                          <a:latin typeface="Tahoma"/>
                        </a:rPr>
                        <a:t>09/13</a:t>
                      </a:r>
                    </a:p>
                  </a:txBody>
                  <a:tcPr marL="0" marR="0" marT="0" marB="0" anchor="ctr"/>
                </a:tc>
                <a:tc>
                  <a:txBody>
                    <a:bodyPr lIns="0" tIns="0" rIns="0" bIns="0">
                      <a:noAutofit/>
                    </a:bodyPr>
                    <a:p>
                      <a:pPr algn="r" marR="203200" indent="0"/>
                      <a:r>
                        <a:rPr lang="en-US" sz="1000" spc="-50">
                          <a:latin typeface="Tahoma"/>
                        </a:rPr>
                        <a:t>ft</a:t>
                      </a:r>
                    </a:p>
                  </a:txBody>
                  <a:tcPr marL="0" marR="0" marT="0" marB="0" anchor="ctr"/>
                </a:tc>
                <a:tc>
                  <a:txBody>
                    <a:bodyPr lIns="0" tIns="0" rIns="0" bIns="0">
                      <a:noAutofit/>
                    </a:bodyPr>
                    <a:p>
                      <a:pPr indent="0"/>
                      <a:r>
                        <a:rPr lang="en-US" sz="600" spc="50">
                          <a:solidFill>
                            <a:srgbClr val="333333"/>
                          </a:solidFill>
                          <a:latin typeface="Tahoma"/>
                        </a:rPr>
                        <a:t>PROPERTY RATES RESIDENTIAL</a:t>
                      </a:r>
                    </a:p>
                  </a:txBody>
                  <a:tcPr marL="0" marR="0" marT="0" marB="0" anchor="ctr"/>
                </a:tc>
                <a:tc>
                  <a:txBody>
                    <a:bodyPr lIns="0" tIns="0" rIns="0" bIns="0">
                      <a:noAutofit/>
                    </a:bodyPr>
                    <a:p>
                      <a:pPr algn="r" indent="0"/>
                      <a:r>
                        <a:rPr lang="en-US" sz="600" spc="50">
                          <a:solidFill>
                            <a:srgbClr val="333333"/>
                          </a:solidFill>
                          <a:latin typeface="Tahoma"/>
                        </a:rPr>
                        <a:t>1137.60</a:t>
                      </a:r>
                    </a:p>
                  </a:txBody>
                  <a:tcPr marL="0" marR="0" marT="0" marB="0" anchor="ctr"/>
                </a:tc>
                <a:tc>
                  <a:txBody>
                    <a:bodyPr lIns="0" tIns="0" rIns="0" bIns="0">
                      <a:noAutofit/>
                    </a:bodyPr>
                    <a:p>
                      <a:endParaRPr sz="1100"/>
                    </a:p>
                  </a:txBody>
                  <a:tcPr marL="0" marR="0" marT="0" marB="0"/>
                </a:tc>
                <a:tc>
                  <a:txBody>
                    <a:bodyPr lIns="0" tIns="0" rIns="0" bIns="0">
                      <a:noAutofit/>
                    </a:bodyPr>
                    <a:p>
                      <a:pPr algn="r" indent="0"/>
                      <a:r>
                        <a:rPr lang="en-US" sz="600" spc="50">
                          <a:solidFill>
                            <a:srgbClr val="333333"/>
                          </a:solidFill>
                          <a:latin typeface="Tahoma"/>
                        </a:rPr>
                        <a:t>1137.60</a:t>
                      </a:r>
                    </a:p>
                  </a:txBody>
                  <a:tcPr marL="0" marR="0" marT="0" marB="0" anchor="ctr"/>
                </a:tc>
              </a:tr>
              <a:tr h="210312">
                <a:tc>
                  <a:txBody>
                    <a:bodyPr lIns="0" tIns="0" rIns="0" bIns="0">
                      <a:noAutofit/>
                    </a:bodyPr>
                    <a:p>
                      <a:pPr algn="ctr" indent="0"/>
                      <a:r>
                        <a:rPr lang="en-US" sz="600" spc="50">
                          <a:solidFill>
                            <a:srgbClr val="333333"/>
                          </a:solidFill>
                          <a:latin typeface="Tahoma"/>
                        </a:rPr>
                        <a:t>09/13</a:t>
                      </a:r>
                    </a:p>
                  </a:txBody>
                  <a:tcPr marL="0" marR="0" marT="0" marB="0" anchor="ctr"/>
                </a:tc>
                <a:tc>
                  <a:txBody>
                    <a:bodyPr lIns="0" tIns="0" rIns="0" bIns="0">
                      <a:noAutofit/>
                    </a:bodyPr>
                    <a:p>
                      <a:pPr algn="r" marR="203200" indent="0"/>
                      <a:r>
                        <a:rPr lang="en-US" sz="1000">
                          <a:latin typeface="Tahoma"/>
                        </a:rPr>
                        <a:t>ft</a:t>
                      </a:r>
                    </a:p>
                  </a:txBody>
                  <a:tcPr marL="0" marR="0" marT="0" marB="0" anchor="ctr"/>
                </a:tc>
                <a:tc>
                  <a:txBody>
                    <a:bodyPr lIns="0" tIns="0" rIns="0" bIns="0">
                      <a:noAutofit/>
                    </a:bodyPr>
                    <a:p>
                      <a:pPr indent="0"/>
                      <a:r>
                        <a:rPr lang="en-US" sz="600" spc="50">
                          <a:solidFill>
                            <a:srgbClr val="333333"/>
                          </a:solidFill>
                          <a:latin typeface="Tahoma"/>
                        </a:rPr>
                        <a:t>VA-VALUE-EXCLUSION</a:t>
                      </a:r>
                    </a:p>
                  </a:txBody>
                  <a:tcPr marL="0" marR="0" marT="0" marB="0" anchor="ctr"/>
                </a:tc>
                <a:tc>
                  <a:txBody>
                    <a:bodyPr lIns="0" tIns="0" rIns="0" bIns="0">
                      <a:noAutofit/>
                    </a:bodyPr>
                    <a:p>
                      <a:pPr algn="r" indent="0"/>
                      <a:r>
                        <a:rPr lang="en-US" sz="600" spc="50">
                          <a:solidFill>
                            <a:srgbClr val="333333"/>
                          </a:solidFill>
                          <a:latin typeface="Tahoma"/>
                        </a:rPr>
                        <a:t>-144.00</a:t>
                      </a:r>
                    </a:p>
                  </a:txBody>
                  <a:tcPr marL="0" marR="0" marT="0" marB="0" anchor="ctr"/>
                </a:tc>
                <a:tc>
                  <a:txBody>
                    <a:bodyPr lIns="0" tIns="0" rIns="0" bIns="0">
                      <a:noAutofit/>
                    </a:bodyPr>
                    <a:p>
                      <a:endParaRPr sz="1000"/>
                    </a:p>
                  </a:txBody>
                  <a:tcPr marL="0" marR="0" marT="0" marB="0"/>
                </a:tc>
                <a:tc>
                  <a:txBody>
                    <a:bodyPr lIns="0" tIns="0" rIns="0" bIns="0">
                      <a:noAutofit/>
                    </a:bodyPr>
                    <a:p>
                      <a:pPr algn="r" indent="0"/>
                      <a:r>
                        <a:rPr lang="en-US" sz="600" spc="50">
                          <a:solidFill>
                            <a:srgbClr val="333333"/>
                          </a:solidFill>
                          <a:latin typeface="Tahoma"/>
                        </a:rPr>
                        <a:t>-144.00</a:t>
                      </a:r>
                    </a:p>
                  </a:txBody>
                  <a:tcPr marL="0" marR="0" marT="0" marB="0" anchor="ctr"/>
                </a:tc>
              </a:tr>
              <a:tr h="210312">
                <a:tc>
                  <a:txBody>
                    <a:bodyPr lIns="0" tIns="0" rIns="0" bIns="0">
                      <a:noAutofit/>
                    </a:bodyPr>
                    <a:p>
                      <a:endParaRPr sz="1000"/>
                    </a:p>
                  </a:txBody>
                  <a:tcPr marL="0" marR="0" marT="0" marB="0">
                    <a:solidFill>
                      <a:srgbClr val="CDD8DE"/>
                    </a:solidFill>
                  </a:tcPr>
                </a:tc>
                <a:tc>
                  <a:txBody>
                    <a:bodyPr lIns="0" tIns="0" rIns="0" bIns="0">
                      <a:noAutofit/>
                    </a:bodyPr>
                    <a:p>
                      <a:endParaRPr sz="1000"/>
                    </a:p>
                  </a:txBody>
                  <a:tcPr marL="0" marR="0" marT="0" marB="0">
                    <a:solidFill>
                      <a:srgbClr val="CDD8DE"/>
                    </a:solidFill>
                  </a:tcPr>
                </a:tc>
                <a:tc>
                  <a:txBody>
                    <a:bodyPr lIns="0" tIns="0" rIns="0" bIns="0">
                      <a:noAutofit/>
                    </a:bodyPr>
                    <a:p>
                      <a:pPr algn="ctr" indent="0"/>
                      <a:r>
                        <a:rPr lang="en-US" b="1" sz="600">
                          <a:latin typeface="Tahoma"/>
                        </a:rPr>
                        <a:t>REFUSE REMOVAL</a:t>
                      </a:r>
                    </a:p>
                  </a:txBody>
                  <a:tcPr marL="0" marR="0" marT="0" marB="0" anchor="ctr">
                    <a:solidFill>
                      <a:srgbClr val="CDD8DE"/>
                    </a:solidFill>
                  </a:tcPr>
                </a:tc>
                <a:tc>
                  <a:txBody>
                    <a:bodyPr lIns="0" tIns="0" rIns="0" bIns="0">
                      <a:noAutofit/>
                    </a:bodyPr>
                    <a:p>
                      <a:endParaRPr sz="1000"/>
                    </a:p>
                  </a:txBody>
                  <a:tcPr marL="0" marR="0" marT="0" marB="0">
                    <a:solidFill>
                      <a:srgbClr val="CDD8DE"/>
                    </a:solidFill>
                  </a:tcPr>
                </a:tc>
                <a:tc>
                  <a:txBody>
                    <a:bodyPr lIns="0" tIns="0" rIns="0" bIns="0">
                      <a:noAutofit/>
                    </a:bodyPr>
                    <a:p>
                      <a:endParaRPr sz="1000"/>
                    </a:p>
                  </a:txBody>
                  <a:tcPr marL="0" marR="0" marT="0" marB="0">
                    <a:solidFill>
                      <a:srgbClr val="CDD8DE"/>
                    </a:solidFill>
                  </a:tcPr>
                </a:tc>
                <a:tc>
                  <a:txBody>
                    <a:bodyPr lIns="0" tIns="0" rIns="0" bIns="0">
                      <a:noAutofit/>
                    </a:bodyPr>
                    <a:p>
                      <a:endParaRPr sz="1000"/>
                    </a:p>
                  </a:txBody>
                  <a:tcPr marL="0" marR="0" marT="0" marB="0">
                    <a:solidFill>
                      <a:srgbClr val="CDD8DE"/>
                    </a:solidFill>
                  </a:tcPr>
                </a:tc>
              </a:tr>
              <a:tr h="216408">
                <a:tc>
                  <a:txBody>
                    <a:bodyPr lIns="0" tIns="0" rIns="0" bIns="0">
                      <a:noAutofit/>
                    </a:bodyPr>
                    <a:p>
                      <a:pPr algn="ctr" indent="0"/>
                      <a:r>
                        <a:rPr lang="en-US" sz="600" spc="50">
                          <a:solidFill>
                            <a:srgbClr val="333333"/>
                          </a:solidFill>
                          <a:latin typeface="Tahoma"/>
                        </a:rPr>
                        <a:t>09/13</a:t>
                      </a:r>
                    </a:p>
                  </a:txBody>
                  <a:tcPr marL="0" marR="0" marT="0" marB="0" anchor="ctr"/>
                </a:tc>
                <a:tc>
                  <a:txBody>
                    <a:bodyPr lIns="0" tIns="0" rIns="0" bIns="0">
                      <a:noAutofit/>
                    </a:bodyPr>
                    <a:p>
                      <a:pPr algn="r" marR="203200" indent="0"/>
                      <a:r>
                        <a:rPr lang="en-US" sz="950">
                          <a:latin typeface="Sylfaen"/>
                        </a:rPr>
                        <a:t>®</a:t>
                      </a:r>
                    </a:p>
                  </a:txBody>
                  <a:tcPr marL="0" marR="0" marT="0" marB="0" anchor="ctr"/>
                </a:tc>
                <a:tc>
                  <a:txBody>
                    <a:bodyPr lIns="0" tIns="0" rIns="0" bIns="0">
                      <a:noAutofit/>
                    </a:bodyPr>
                    <a:p>
                      <a:pPr indent="0"/>
                      <a:r>
                        <a:rPr lang="en-US" sz="600" spc="50">
                          <a:solidFill>
                            <a:srgbClr val="333333"/>
                          </a:solidFill>
                          <a:latin typeface="Tahoma"/>
                        </a:rPr>
                        <a:t>REFUSE: DOMESTIC 240L BIN x 1 units</a:t>
                      </a:r>
                    </a:p>
                  </a:txBody>
                  <a:tcPr marL="0" marR="0" marT="0" marB="0" anchor="ctr"/>
                </a:tc>
                <a:tc>
                  <a:txBody>
                    <a:bodyPr lIns="0" tIns="0" rIns="0" bIns="0">
                      <a:noAutofit/>
                    </a:bodyPr>
                    <a:p>
                      <a:pPr algn="r" indent="0"/>
                      <a:r>
                        <a:rPr lang="en-US" sz="600" spc="50">
                          <a:solidFill>
                            <a:srgbClr val="333333"/>
                          </a:solidFill>
                          <a:latin typeface="Tahoma"/>
                        </a:rPr>
                        <a:t>236.25</a:t>
                      </a:r>
                    </a:p>
                  </a:txBody>
                  <a:tcPr marL="0" marR="0" marT="0" marB="0" anchor="ctr"/>
                </a:tc>
                <a:tc>
                  <a:txBody>
                    <a:bodyPr lIns="0" tIns="0" rIns="0" bIns="0">
                      <a:noAutofit/>
                    </a:bodyPr>
                    <a:p>
                      <a:pPr algn="r" indent="0"/>
                      <a:r>
                        <a:rPr lang="en-US" sz="600" spc="50">
                          <a:solidFill>
                            <a:srgbClr val="333333"/>
                          </a:solidFill>
                          <a:latin typeface="Tahoma"/>
                        </a:rPr>
                        <a:t>35.44</a:t>
                      </a:r>
                    </a:p>
                  </a:txBody>
                  <a:tcPr marL="0" marR="0" marT="0" marB="0" anchor="ctr"/>
                </a:tc>
                <a:tc>
                  <a:txBody>
                    <a:bodyPr lIns="0" tIns="0" rIns="0" bIns="0">
                      <a:noAutofit/>
                    </a:bodyPr>
                    <a:p>
                      <a:pPr algn="r" indent="0"/>
                      <a:r>
                        <a:rPr lang="en-US" sz="600" spc="50">
                          <a:solidFill>
                            <a:srgbClr val="333333"/>
                          </a:solidFill>
                          <a:latin typeface="Tahoma"/>
                        </a:rPr>
                        <a:t>271.69</a:t>
                      </a:r>
                    </a:p>
                  </a:txBody>
                  <a:tcPr marL="0" marR="0" marT="0" marB="0" anchor="ctr"/>
                </a:tc>
              </a:tr>
              <a:tr h="210312">
                <a:tc>
                  <a:txBody>
                    <a:bodyPr lIns="0" tIns="0" rIns="0" bIns="0">
                      <a:noAutofit/>
                    </a:bodyPr>
                    <a:p>
                      <a:endParaRPr sz="1000"/>
                    </a:p>
                  </a:txBody>
                  <a:tcPr marL="0" marR="0" marT="0" marB="0">
                    <a:solidFill>
                      <a:srgbClr val="CDD8DE"/>
                    </a:solidFill>
                  </a:tcPr>
                </a:tc>
                <a:tc>
                  <a:txBody>
                    <a:bodyPr lIns="0" tIns="0" rIns="0" bIns="0">
                      <a:noAutofit/>
                    </a:bodyPr>
                    <a:p>
                      <a:endParaRPr sz="1000"/>
                    </a:p>
                  </a:txBody>
                  <a:tcPr marL="0" marR="0" marT="0" marB="0">
                    <a:solidFill>
                      <a:srgbClr val="CDD8DE"/>
                    </a:solidFill>
                  </a:tcPr>
                </a:tc>
                <a:tc>
                  <a:txBody>
                    <a:bodyPr lIns="0" tIns="0" rIns="0" bIns="0">
                      <a:noAutofit/>
                    </a:bodyPr>
                    <a:p>
                      <a:pPr algn="ctr" indent="0"/>
                      <a:r>
                        <a:rPr lang="en-US" b="1" sz="600">
                          <a:latin typeface="Tahoma"/>
                        </a:rPr>
                        <a:t>WATER SERVICE</a:t>
                      </a:r>
                    </a:p>
                  </a:txBody>
                  <a:tcPr marL="0" marR="0" marT="0" marB="0" anchor="ctr">
                    <a:solidFill>
                      <a:srgbClr val="CDD8DE"/>
                    </a:solidFill>
                  </a:tcPr>
                </a:tc>
                <a:tc>
                  <a:txBody>
                    <a:bodyPr lIns="0" tIns="0" rIns="0" bIns="0">
                      <a:noAutofit/>
                    </a:bodyPr>
                    <a:p>
                      <a:endParaRPr sz="1000"/>
                    </a:p>
                  </a:txBody>
                  <a:tcPr marL="0" marR="0" marT="0" marB="0">
                    <a:solidFill>
                      <a:srgbClr val="CDD8DE"/>
                    </a:solidFill>
                  </a:tcPr>
                </a:tc>
                <a:tc>
                  <a:txBody>
                    <a:bodyPr lIns="0" tIns="0" rIns="0" bIns="0">
                      <a:noAutofit/>
                    </a:bodyPr>
                    <a:p>
                      <a:endParaRPr sz="1000"/>
                    </a:p>
                  </a:txBody>
                  <a:tcPr marL="0" marR="0" marT="0" marB="0">
                    <a:solidFill>
                      <a:srgbClr val="CDD8DE"/>
                    </a:solidFill>
                  </a:tcPr>
                </a:tc>
                <a:tc>
                  <a:txBody>
                    <a:bodyPr lIns="0" tIns="0" rIns="0" bIns="0">
                      <a:noAutofit/>
                    </a:bodyPr>
                    <a:p>
                      <a:endParaRPr sz="1000"/>
                    </a:p>
                  </a:txBody>
                  <a:tcPr marL="0" marR="0" marT="0" marB="0">
                    <a:solidFill>
                      <a:srgbClr val="CDD8DE"/>
                    </a:solidFill>
                  </a:tcPr>
                </a:tc>
              </a:tr>
              <a:tr h="240792">
                <a:tc>
                  <a:txBody>
                    <a:bodyPr lIns="0" tIns="0" rIns="0" bIns="0">
                      <a:noAutofit/>
                    </a:bodyPr>
                    <a:p>
                      <a:pPr algn="ctr" indent="0"/>
                      <a:r>
                        <a:rPr lang="en-US" sz="600" spc="50">
                          <a:solidFill>
                            <a:srgbClr val="333333"/>
                          </a:solidFill>
                          <a:latin typeface="Tahoma"/>
                        </a:rPr>
                        <a:t>09/13</a:t>
                      </a:r>
                    </a:p>
                  </a:txBody>
                  <a:tcPr marL="0" marR="0" marT="0" marB="0"/>
                </a:tc>
                <a:tc>
                  <a:txBody>
                    <a:bodyPr lIns="0" tIns="0" rIns="0" bIns="0">
                      <a:noAutofit/>
                    </a:bodyPr>
                    <a:p>
                      <a:pPr algn="r" marR="203200" indent="0"/>
                      <a:r>
                        <a:rPr lang="en-US" b="1" sz="600">
                          <a:latin typeface="Tahoma"/>
                        </a:rPr>
                        <a:t>p*</a:t>
                      </a:r>
                    </a:p>
                  </a:txBody>
                  <a:tcPr marL="0" marR="0" marT="0" marB="0"/>
                </a:tc>
                <a:tc>
                  <a:txBody>
                    <a:bodyPr lIns="0" tIns="0" rIns="0" bIns="0">
                      <a:noAutofit/>
                    </a:bodyPr>
                    <a:p>
                      <a:pPr marR="317500" indent="0">
                        <a:lnSpc>
                          <a:spcPts val="792"/>
                        </a:lnSpc>
                      </a:pPr>
                      <a:r>
                        <a:rPr lang="en-US" sz="600" spc="50">
                          <a:solidFill>
                            <a:srgbClr val="333333"/>
                          </a:solidFill>
                          <a:latin typeface="Tahoma"/>
                        </a:rPr>
                        <a:t>METER-NO 140047920 TARIFF: WATER-RESIDENTIAL</a:t>
                      </a:r>
                    </a:p>
                  </a:txBody>
                  <a:tcPr marL="0" marR="0" marT="0" marB="0"/>
                </a:tc>
                <a:tc>
                  <a:txBody>
                    <a:bodyPr lIns="0" tIns="0" rIns="0" bIns="0">
                      <a:noAutofit/>
                    </a:bodyPr>
                    <a:p>
                      <a:endParaRPr sz="1200"/>
                    </a:p>
                  </a:txBody>
                  <a:tcPr marL="0" marR="0" marT="0" marB="0"/>
                </a:tc>
                <a:tc>
                  <a:txBody>
                    <a:bodyPr lIns="0" tIns="0" rIns="0" bIns="0">
                      <a:noAutofit/>
                    </a:bodyPr>
                    <a:p>
                      <a:endParaRPr sz="1200"/>
                    </a:p>
                  </a:txBody>
                  <a:tcPr marL="0" marR="0" marT="0" marB="0"/>
                </a:tc>
                <a:tc>
                  <a:txBody>
                    <a:bodyPr lIns="0" tIns="0" rIns="0" bIns="0">
                      <a:noAutofit/>
                    </a:bodyPr>
                    <a:p>
                      <a:endParaRPr sz="1200"/>
                    </a:p>
                  </a:txBody>
                  <a:tcPr marL="0" marR="0" marT="0" marB="0"/>
                </a:tc>
              </a:tr>
              <a:tr h="192024">
                <a:tc>
                  <a:txBody>
                    <a:bodyPr lIns="0" tIns="0" rIns="0" bIns="0">
                      <a:noAutofit/>
                    </a:bodyPr>
                    <a:p>
                      <a:endParaRPr sz="1000"/>
                    </a:p>
                  </a:txBody>
                  <a:tcPr marL="0" marR="0" marT="0" marB="0"/>
                </a:tc>
                <a:tc>
                  <a:txBody>
                    <a:bodyPr lIns="0" tIns="0" rIns="0" bIns="0">
                      <a:noAutofit/>
                    </a:bodyPr>
                    <a:p>
                      <a:pPr algn="ctr" indent="0"/>
                      <a:r>
                        <a:rPr lang="en-US" sz="1000" spc="-50">
                          <a:latin typeface="Tahoma"/>
                        </a:rPr>
                        <a:t>*T*</a:t>
                      </a:r>
                    </a:p>
                    <a:p>
                      <a:pPr algn="r" marR="203200" indent="0"/>
                      <a:r>
                        <a:rPr lang="en-US" b="1" sz="600">
                          <a:latin typeface="Tahoma"/>
                        </a:rPr>
                        <a:t>7*"</a:t>
                      </a:r>
                    </a:p>
                  </a:txBody>
                  <a:tcPr marL="0" marR="0" marT="0" marB="0"/>
                </a:tc>
                <a:tc>
                  <a:txBody>
                    <a:bodyPr lIns="0" tIns="0" rIns="0" bIns="0">
                      <a:noAutofit/>
                    </a:bodyPr>
                    <a:p>
                      <a:pPr indent="0"/>
                      <a:r>
                        <a:rPr lang="en-US" sz="600" spc="50">
                          <a:solidFill>
                            <a:srgbClr val="333333"/>
                          </a:solidFill>
                          <a:latin typeface="Tahoma"/>
                        </a:rPr>
                        <a:t>Curr = 2098 Prev = 2085 Cons = 13</a:t>
                      </a:r>
                    </a:p>
                  </a:txBody>
                  <a:tcPr marL="0" marR="0" marT="0" marB="0" anchor="ctr"/>
                </a:tc>
                <a:tc>
                  <a:txBody>
                    <a:bodyPr lIns="0" tIns="0" rIns="0" bIns="0">
                      <a:noAutofit/>
                    </a:bodyPr>
                    <a:p>
                      <a:endParaRPr sz="1000"/>
                    </a:p>
                  </a:txBody>
                  <a:tcPr marL="0" marR="0" marT="0" marB="0"/>
                </a:tc>
                <a:tc>
                  <a:txBody>
                    <a:bodyPr lIns="0" tIns="0" rIns="0" bIns="0">
                      <a:noAutofit/>
                    </a:bodyPr>
                    <a:p>
                      <a:endParaRPr sz="1000"/>
                    </a:p>
                  </a:txBody>
                  <a:tcPr marL="0" marR="0" marT="0" marB="0"/>
                </a:tc>
                <a:tc>
                  <a:txBody>
                    <a:bodyPr lIns="0" tIns="0" rIns="0" bIns="0">
                      <a:noAutofit/>
                    </a:bodyPr>
                    <a:p>
                      <a:endParaRPr sz="1000"/>
                    </a:p>
                  </a:txBody>
                  <a:tcPr marL="0" marR="0" marT="0" marB="0"/>
                </a:tc>
              </a:tr>
              <a:tr h="216408">
                <a:tc>
                  <a:txBody>
                    <a:bodyPr lIns="0" tIns="0" rIns="0" bIns="0">
                      <a:noAutofit/>
                    </a:bodyPr>
                    <a:p>
                      <a:endParaRPr sz="1100"/>
                    </a:p>
                  </a:txBody>
                  <a:tcPr marL="0" marR="0" marT="0" marB="0"/>
                </a:tc>
                <a:tc>
                  <a:txBody>
                    <a:bodyPr lIns="0" tIns="0" rIns="0" bIns="0">
                      <a:noAutofit/>
                    </a:bodyPr>
                    <a:p>
                      <a:pPr algn="ctr" indent="0"/>
                      <a:r>
                        <a:rPr lang="en-US" sz="1000" spc="-50">
                          <a:latin typeface="Tahoma"/>
                        </a:rPr>
                        <a:t>T*</a:t>
                      </a:r>
                    </a:p>
                    <a:p>
                      <a:pPr algn="r" marR="203200" indent="0"/>
                      <a:r>
                        <a:rPr lang="en-US" b="1" sz="600">
                          <a:latin typeface="Tahoma"/>
                        </a:rPr>
                        <a:t>7*"</a:t>
                      </a:r>
                    </a:p>
                  </a:txBody>
                  <a:tcPr marL="0" marR="0" marT="0" marB="0"/>
                </a:tc>
                <a:tc>
                  <a:txBody>
                    <a:bodyPr lIns="0" tIns="0" rIns="0" bIns="0">
                      <a:noAutofit/>
                    </a:bodyPr>
                    <a:p>
                      <a:pPr indent="0"/>
                      <a:r>
                        <a:rPr lang="en-US" sz="600" spc="50">
                          <a:solidFill>
                            <a:srgbClr val="333333"/>
                          </a:solidFill>
                          <a:latin typeface="Tahoma"/>
                        </a:rPr>
                        <a:t>Reading dates: Curr 25/09/05 Prev 25/06/02</a:t>
                      </a:r>
                    </a:p>
                  </a:txBody>
                  <a:tcPr marL="0" marR="0" marT="0" marB="0" anchor="ctr"/>
                </a:tc>
                <a:tc>
                  <a:txBody>
                    <a:bodyPr lIns="0" tIns="0" rIns="0" bIns="0">
                      <a:noAutofit/>
                    </a:bodyPr>
                    <a:p>
                      <a:endParaRPr sz="1100"/>
                    </a:p>
                  </a:txBody>
                  <a:tcPr marL="0" marR="0" marT="0" marB="0"/>
                </a:tc>
                <a:tc>
                  <a:txBody>
                    <a:bodyPr lIns="0" tIns="0" rIns="0" bIns="0">
                      <a:noAutofit/>
                    </a:bodyPr>
                    <a:p>
                      <a:endParaRPr sz="1100"/>
                    </a:p>
                  </a:txBody>
                  <a:tcPr marL="0" marR="0" marT="0" marB="0"/>
                </a:tc>
                <a:tc>
                  <a:txBody>
                    <a:bodyPr lIns="0" tIns="0" rIns="0" bIns="0">
                      <a:noAutofit/>
                    </a:bodyPr>
                    <a:p>
                      <a:endParaRPr sz="1100"/>
                    </a:p>
                  </a:txBody>
                  <a:tcPr marL="0" marR="0" marT="0" marB="0"/>
                </a:tc>
              </a:tr>
            </a:tbl>
          </a:graphicData>
        </a:graphic>
      </p:graphicFrame>
      <p:sp>
        <p:nvSpPr>
          <p:cNvPr id="20" name=""/>
          <p:cNvSpPr/>
          <p:nvPr/>
        </p:nvSpPr>
        <p:spPr>
          <a:xfrm>
            <a:off x="316992" y="6419088"/>
            <a:ext cx="182880" cy="286512"/>
          </a:xfrm>
          <a:prstGeom prst="rect">
            <a:avLst/>
          </a:prstGeom>
          <a:solidFill>
            <a:srgbClr val="CDD8DE"/>
          </a:solidFill>
        </p:spPr>
        <p:txBody>
          <a:bodyPr lIns="0" tIns="0" rIns="0" bIns="0" wrap="none">
            <a:noAutofit/>
          </a:bodyPr>
          <a:p>
            <a:pPr indent="0"/>
            <a:r>
              <a:rPr lang="en-US" b="1" sz="2100">
                <a:solidFill>
                  <a:srgbClr val="333333"/>
                </a:solidFill>
                <a:latin typeface="Tahoma"/>
              </a:rPr>
              <a:t>C</a:t>
            </a:r>
          </a:p>
        </p:txBody>
      </p:sp>
      <p:sp>
        <p:nvSpPr>
          <p:cNvPr id="21" name=""/>
          <p:cNvSpPr/>
          <p:nvPr/>
        </p:nvSpPr>
        <p:spPr>
          <a:xfrm>
            <a:off x="615696" y="6498336"/>
            <a:ext cx="445008" cy="103632"/>
          </a:xfrm>
          <a:prstGeom prst="rect">
            <a:avLst/>
          </a:prstGeom>
          <a:solidFill>
            <a:srgbClr val="CDD8DE"/>
          </a:solidFill>
        </p:spPr>
        <p:txBody>
          <a:bodyPr lIns="0" tIns="0" rIns="0" bIns="0" wrap="none">
            <a:noAutofit/>
          </a:bodyPr>
          <a:p>
            <a:pPr indent="0"/>
            <a:r>
              <a:rPr lang="en-US" sz="600" spc="50">
                <a:latin typeface="Tahoma"/>
              </a:rPr>
              <a:t>30 Days</a:t>
            </a:r>
          </a:p>
        </p:txBody>
      </p:sp>
      <p:sp>
        <p:nvSpPr>
          <p:cNvPr id="22" name=""/>
          <p:cNvSpPr/>
          <p:nvPr/>
        </p:nvSpPr>
        <p:spPr>
          <a:xfrm>
            <a:off x="1182624" y="6419088"/>
            <a:ext cx="1219200" cy="286512"/>
          </a:xfrm>
          <a:prstGeom prst="rect">
            <a:avLst/>
          </a:prstGeom>
          <a:solidFill>
            <a:srgbClr val="CDD8DE"/>
          </a:solidFill>
        </p:spPr>
        <p:txBody>
          <a:bodyPr lIns="0" tIns="0" rIns="0" bIns="0" wrap="none">
            <a:noAutofit/>
          </a:bodyPr>
          <a:p>
            <a:pPr algn="ctr" indent="0"/>
            <a:r>
              <a:rPr lang="en-US" sz="600" spc="50">
                <a:latin typeface="Tahoma"/>
              </a:rPr>
              <a:t>60 Days</a:t>
            </a:r>
          </a:p>
        </p:txBody>
      </p:sp>
      <p:sp>
        <p:nvSpPr>
          <p:cNvPr id="23" name=""/>
          <p:cNvSpPr/>
          <p:nvPr/>
        </p:nvSpPr>
        <p:spPr>
          <a:xfrm>
            <a:off x="2517648" y="6498336"/>
            <a:ext cx="445008" cy="103632"/>
          </a:xfrm>
          <a:prstGeom prst="rect">
            <a:avLst/>
          </a:prstGeom>
          <a:solidFill>
            <a:srgbClr val="CDD8DE"/>
          </a:solidFill>
        </p:spPr>
        <p:txBody>
          <a:bodyPr lIns="0" tIns="0" rIns="0" bIns="0" wrap="none">
            <a:noAutofit/>
          </a:bodyPr>
          <a:p>
            <a:pPr indent="0"/>
            <a:r>
              <a:rPr lang="en-US" sz="600" spc="50">
                <a:latin typeface="Tahoma"/>
              </a:rPr>
              <a:t>90 Days</a:t>
            </a:r>
          </a:p>
        </p:txBody>
      </p:sp>
      <p:sp>
        <p:nvSpPr>
          <p:cNvPr id="24" name=""/>
          <p:cNvSpPr/>
          <p:nvPr/>
        </p:nvSpPr>
        <p:spPr>
          <a:xfrm>
            <a:off x="3084576" y="6419088"/>
            <a:ext cx="268224" cy="286512"/>
          </a:xfrm>
          <a:prstGeom prst="rect">
            <a:avLst/>
          </a:prstGeom>
          <a:solidFill>
            <a:srgbClr val="CDD8DE"/>
          </a:solidFill>
        </p:spPr>
        <p:txBody>
          <a:bodyPr lIns="0" tIns="0" rIns="0" bIns="0" wrap="none">
            <a:noAutofit/>
          </a:bodyPr>
          <a:p>
            <a:pPr indent="0"/>
            <a:r>
              <a:rPr lang="en-US" b="1" sz="2100">
                <a:solidFill>
                  <a:srgbClr val="1E1F20"/>
                </a:solidFill>
                <a:latin typeface="Tahoma"/>
              </a:rPr>
              <a:t>X</a:t>
            </a:r>
          </a:p>
        </p:txBody>
      </p:sp>
      <p:sp>
        <p:nvSpPr>
          <p:cNvPr id="25" name=""/>
          <p:cNvSpPr/>
          <p:nvPr/>
        </p:nvSpPr>
        <p:spPr>
          <a:xfrm>
            <a:off x="3425952" y="6498336"/>
            <a:ext cx="536448" cy="103632"/>
          </a:xfrm>
          <a:prstGeom prst="rect">
            <a:avLst/>
          </a:prstGeom>
          <a:solidFill>
            <a:srgbClr val="CDD8DE"/>
          </a:solidFill>
        </p:spPr>
        <p:txBody>
          <a:bodyPr lIns="0" tIns="0" rIns="0" bIns="0" wrap="none">
            <a:noAutofit/>
          </a:bodyPr>
          <a:p>
            <a:pPr indent="0"/>
            <a:r>
              <a:rPr lang="en-US" sz="600" spc="50">
                <a:latin typeface="Tahoma"/>
              </a:rPr>
              <a:t>90 + Days</a:t>
            </a:r>
          </a:p>
        </p:txBody>
      </p:sp>
      <p:sp>
        <p:nvSpPr>
          <p:cNvPr id="26" name=""/>
          <p:cNvSpPr/>
          <p:nvPr/>
        </p:nvSpPr>
        <p:spPr>
          <a:xfrm>
            <a:off x="4041648" y="6419088"/>
            <a:ext cx="1286256" cy="286512"/>
          </a:xfrm>
          <a:prstGeom prst="rect">
            <a:avLst/>
          </a:prstGeom>
        </p:spPr>
        <p:txBody>
          <a:bodyPr lIns="0" tIns="0" rIns="0" bIns="0">
            <a:noAutofit/>
          </a:bodyPr>
          <a:p>
            <a:pPr algn="just" marL="431800" marR="431800" indent="-431800">
              <a:lnSpc>
                <a:spcPts val="744"/>
              </a:lnSpc>
            </a:pPr>
            <a:r>
              <a:rPr lang="en-US" sz="2600">
                <a:solidFill>
                  <a:srgbClr val="333333"/>
                </a:solidFill>
                <a:latin typeface="Verdana"/>
              </a:rPr>
              <a:t>X</a:t>
            </a:r>
            <a:r>
              <a:rPr lang="en-US" sz="600" spc="50">
                <a:solidFill>
                  <a:srgbClr val="333333"/>
                </a:solidFill>
                <a:latin typeface="Tahoma"/>
              </a:rPr>
              <a:t> Total Charge (excl.VAT)</a:t>
            </a:r>
          </a:p>
        </p:txBody>
      </p:sp>
      <p:sp>
        <p:nvSpPr>
          <p:cNvPr id="27" name=""/>
          <p:cNvSpPr/>
          <p:nvPr/>
        </p:nvSpPr>
        <p:spPr>
          <a:xfrm>
            <a:off x="5419344" y="6504432"/>
            <a:ext cx="512064" cy="85344"/>
          </a:xfrm>
          <a:prstGeom prst="rect">
            <a:avLst/>
          </a:prstGeom>
        </p:spPr>
        <p:txBody>
          <a:bodyPr lIns="0" tIns="0" rIns="0" bIns="0" wrap="none">
            <a:noAutofit/>
          </a:bodyPr>
          <a:p>
            <a:pPr indent="0"/>
            <a:r>
              <a:rPr lang="en-US" sz="600" spc="50">
                <a:solidFill>
                  <a:srgbClr val="333333"/>
                </a:solidFill>
                <a:latin typeface="Tahoma"/>
              </a:rPr>
              <a:t>Total VAT</a:t>
            </a:r>
          </a:p>
        </p:txBody>
      </p:sp>
      <p:sp>
        <p:nvSpPr>
          <p:cNvPr id="28" name=""/>
          <p:cNvSpPr/>
          <p:nvPr/>
        </p:nvSpPr>
        <p:spPr>
          <a:xfrm>
            <a:off x="6016752" y="6419088"/>
            <a:ext cx="292608" cy="286512"/>
          </a:xfrm>
          <a:prstGeom prst="rect">
            <a:avLst/>
          </a:prstGeom>
        </p:spPr>
        <p:txBody>
          <a:bodyPr lIns="0" tIns="0" rIns="0" bIns="0" wrap="none">
            <a:noAutofit/>
          </a:bodyPr>
          <a:p>
            <a:pPr indent="0"/>
            <a:r>
              <a:rPr lang="en-US" b="1" sz="2100">
                <a:latin typeface="Tahoma"/>
              </a:rPr>
              <a:t>X</a:t>
            </a:r>
          </a:p>
        </p:txBody>
      </p:sp>
      <p:sp>
        <p:nvSpPr>
          <p:cNvPr id="29" name=""/>
          <p:cNvSpPr/>
          <p:nvPr/>
        </p:nvSpPr>
        <p:spPr>
          <a:xfrm>
            <a:off x="6333744" y="6492240"/>
            <a:ext cx="585216" cy="195072"/>
          </a:xfrm>
          <a:prstGeom prst="rect">
            <a:avLst/>
          </a:prstGeom>
        </p:spPr>
        <p:txBody>
          <a:bodyPr lIns="0" tIns="0" rIns="0" bIns="0">
            <a:noAutofit/>
          </a:bodyPr>
          <a:p>
            <a:pPr algn="r" indent="0">
              <a:lnSpc>
                <a:spcPts val="744"/>
              </a:lnSpc>
            </a:pPr>
            <a:r>
              <a:rPr lang="en-US" sz="600" spc="50">
                <a:solidFill>
                  <a:srgbClr val="333333"/>
                </a:solidFill>
                <a:latin typeface="Tahoma"/>
              </a:rPr>
              <a:t>Total Charge (incl.VAT)</a:t>
            </a:r>
          </a:p>
        </p:txBody>
      </p:sp>
      <p:sp>
        <p:nvSpPr>
          <p:cNvPr id="30" name=""/>
          <p:cNvSpPr/>
          <p:nvPr/>
        </p:nvSpPr>
        <p:spPr>
          <a:xfrm>
            <a:off x="7004304" y="6419088"/>
            <a:ext cx="182880" cy="280416"/>
          </a:xfrm>
          <a:prstGeom prst="rect">
            <a:avLst/>
          </a:prstGeom>
        </p:spPr>
        <p:txBody>
          <a:bodyPr lIns="0" tIns="0" rIns="0" bIns="0" wrap="none">
            <a:noAutofit/>
          </a:bodyPr>
          <a:p>
            <a:pPr algn="just" indent="0"/>
            <a:r>
              <a:rPr lang="en-US" sz="1900">
                <a:latin typeface="Palatino Linotype"/>
              </a:rPr>
              <a:t>3</a:t>
            </a:r>
          </a:p>
        </p:txBody>
      </p:sp>
      <p:graphicFrame>
        <p:nvGraphicFramePr>
          <p:cNvPr id="31" name=""/>
          <p:cNvGraphicFramePr>
            <a:graphicFrameLocks noGrp="1"/>
          </p:cNvGraphicFramePr>
          <p:nvPr/>
        </p:nvGraphicFramePr>
        <p:xfrm>
          <a:off x="359664" y="6763512"/>
          <a:ext cx="6775704" cy="252984"/>
        </p:xfrm>
        <a:graphic>
          <a:graphicData uri="http://schemas.openxmlformats.org/drawingml/2006/table">
            <a:tbl>
              <a:tblPr/>
              <a:tblGrid>
                <a:gridCol w="387096"/>
                <a:gridCol w="899160"/>
                <a:gridCol w="950976"/>
                <a:gridCol w="637032"/>
                <a:gridCol w="402336"/>
                <a:gridCol w="576072"/>
                <a:gridCol w="332232"/>
                <a:gridCol w="667512"/>
                <a:gridCol w="362712"/>
                <a:gridCol w="624840"/>
                <a:gridCol w="323088"/>
                <a:gridCol w="612648"/>
              </a:tblGrid>
              <a:tr h="161544">
                <a:tc>
                  <a:txBody>
                    <a:bodyPr lIns="0" tIns="0" rIns="0" bIns="0">
                      <a:noAutofit/>
                    </a:bodyPr>
                    <a:p>
                      <a:endParaRPr sz="800"/>
                    </a:p>
                  </a:txBody>
                  <a:tcPr marL="0" marR="0" marT="0" marB="0"/>
                </a:tc>
                <a:tc>
                  <a:txBody>
                    <a:bodyPr lIns="0" tIns="0" rIns="0" bIns="0">
                      <a:noAutofit/>
                    </a:bodyPr>
                    <a:p>
                      <a:pPr algn="ctr" indent="0"/>
                      <a:r>
                        <a:rPr lang="en-US" sz="600" spc="50">
                          <a:solidFill>
                            <a:srgbClr val="333333"/>
                          </a:solidFill>
                          <a:latin typeface="Tahoma"/>
                        </a:rPr>
                        <a:t>0.00</a:t>
                      </a:r>
                    </a:p>
                  </a:txBody>
                  <a:tcPr marL="0" marR="0" marT="0" marB="0" anchor="b"/>
                </a:tc>
                <a:tc>
                  <a:txBody>
                    <a:bodyPr lIns="0" tIns="0" rIns="0" bIns="0">
                      <a:noAutofit/>
                    </a:bodyPr>
                    <a:p>
                      <a:pPr algn="ctr" indent="0"/>
                      <a:r>
                        <a:rPr lang="en-US" sz="600" spc="50">
                          <a:solidFill>
                            <a:srgbClr val="333333"/>
                          </a:solidFill>
                          <a:latin typeface="Tahoma"/>
                        </a:rPr>
                        <a:t>0.00</a:t>
                      </a:r>
                    </a:p>
                  </a:txBody>
                  <a:tcPr marL="0" marR="0" marT="0" marB="0" anchor="b"/>
                </a:tc>
                <a:tc>
                  <a:txBody>
                    <a:bodyPr lIns="0" tIns="0" rIns="0" bIns="0">
                      <a:noAutofit/>
                    </a:bodyPr>
                    <a:p>
                      <a:pPr algn="r" indent="0"/>
                      <a:r>
                        <a:rPr lang="en-US" sz="600" spc="50">
                          <a:solidFill>
                            <a:srgbClr val="333333"/>
                          </a:solidFill>
                          <a:latin typeface="Tahoma"/>
                        </a:rPr>
                        <a:t>0.00</a:t>
                      </a:r>
                    </a:p>
                  </a:txBody>
                  <a:tcPr marL="0" marR="0" marT="0" marB="0" anchor="b"/>
                </a:tc>
                <a:tc>
                  <a:txBody>
                    <a:bodyPr lIns="0" tIns="0" rIns="0" bIns="0">
                      <a:noAutofit/>
                    </a:bodyPr>
                    <a:p>
                      <a:endParaRPr sz="800"/>
                    </a:p>
                  </a:txBody>
                  <a:tcPr marL="0" marR="0" marT="0" marB="0">
                    <a:solidFill>
                      <a:srgbClr val="CDD8DE"/>
                    </a:solidFill>
                  </a:tcPr>
                </a:tc>
                <a:tc>
                  <a:txBody>
                    <a:bodyPr lIns="0" tIns="0" rIns="0" bIns="0">
                      <a:noAutofit/>
                    </a:bodyPr>
                    <a:p>
                      <a:pPr algn="r" indent="0"/>
                      <a:r>
                        <a:rPr lang="en-US" sz="600" spc="50">
                          <a:latin typeface="Tahoma"/>
                        </a:rPr>
                        <a:t>0.00</a:t>
                      </a:r>
                    </a:p>
                  </a:txBody>
                  <a:tcPr marL="0" marR="0" marT="0" marB="0" anchor="b">
                    <a:solidFill>
                      <a:srgbClr val="CDD8DE"/>
                    </a:solidFill>
                  </a:tcPr>
                </a:tc>
                <a:tc>
                  <a:txBody>
                    <a:bodyPr lIns="0" tIns="0" rIns="0" bIns="0">
                      <a:noAutofit/>
                    </a:bodyPr>
                    <a:p>
                      <a:endParaRPr sz="800"/>
                    </a:p>
                  </a:txBody>
                  <a:tcPr marL="0" marR="0" marT="0" marB="0">
                    <a:solidFill>
                      <a:srgbClr val="CDD8DE"/>
                    </a:solidFill>
                  </a:tcPr>
                </a:tc>
                <a:tc>
                  <a:txBody>
                    <a:bodyPr lIns="0" tIns="0" rIns="0" bIns="0">
                      <a:noAutofit/>
                    </a:bodyPr>
                    <a:p>
                      <a:pPr algn="r" indent="0"/>
                      <a:r>
                        <a:rPr lang="en-US" sz="600" spc="50">
                          <a:latin typeface="Tahoma"/>
                        </a:rPr>
                        <a:t>1022.71</a:t>
                      </a:r>
                    </a:p>
                  </a:txBody>
                  <a:tcPr marL="0" marR="0" marT="0" marB="0" anchor="ctr">
                    <a:solidFill>
                      <a:srgbClr val="CDD8DE"/>
                    </a:solidFill>
                  </a:tcPr>
                </a:tc>
                <a:tc>
                  <a:txBody>
                    <a:bodyPr lIns="0" tIns="0" rIns="0" bIns="0">
                      <a:noAutofit/>
                    </a:bodyPr>
                    <a:p>
                      <a:pPr algn="just" indent="0"/>
                      <a:r>
                        <a:rPr lang="en-US" i="1" sz="800">
                          <a:solidFill>
                            <a:srgbClr val="1E1F20"/>
                          </a:solidFill>
                          <a:latin typeface="Verdana"/>
                        </a:rPr>
                        <a:t>r</a:t>
                      </a:r>
                    </a:p>
                  </a:txBody>
                  <a:tcPr marL="0" marR="0" marT="0" marB="0">
                    <a:solidFill>
                      <a:srgbClr val="CDD8DE"/>
                    </a:solidFill>
                  </a:tcPr>
                </a:tc>
                <a:tc>
                  <a:txBody>
                    <a:bodyPr lIns="0" tIns="0" rIns="0" bIns="0">
                      <a:noAutofit/>
                    </a:bodyPr>
                    <a:p>
                      <a:pPr algn="r" indent="0"/>
                      <a:r>
                        <a:rPr lang="en-US" sz="600" spc="50">
                          <a:latin typeface="Tahoma"/>
                        </a:rPr>
                        <a:t>-53.14</a:t>
                      </a:r>
                      <a:r>
                        <a:rPr lang="en-US" sz="750">
                          <a:latin typeface="Palatino Linotype"/>
                        </a:rPr>
                        <a:t>^</a:t>
                      </a:r>
                    </a:p>
                  </a:txBody>
                  <a:tcPr marL="0" marR="0" marT="0" marB="0">
                    <a:solidFill>
                      <a:srgbClr val="CDD8DE"/>
                    </a:solidFill>
                  </a:tcPr>
                </a:tc>
                <a:tc>
                  <a:txBody>
                    <a:bodyPr lIns="0" tIns="0" rIns="0" bIns="0">
                      <a:noAutofit/>
                    </a:bodyPr>
                    <a:p>
                      <a:pPr indent="0"/>
                      <a:r>
                        <a:rPr lang="en-US" i="1" sz="800">
                          <a:solidFill>
                            <a:srgbClr val="333333"/>
                          </a:solidFill>
                          <a:latin typeface="Verdana"/>
                        </a:rPr>
                        <a:t>s</a:t>
                      </a:r>
                    </a:p>
                  </a:txBody>
                  <a:tcPr marL="0" marR="0" marT="0" marB="0">
                    <a:solidFill>
                      <a:srgbClr val="CDD8DE"/>
                    </a:solidFill>
                  </a:tcPr>
                </a:tc>
                <a:tc>
                  <a:txBody>
                    <a:bodyPr lIns="0" tIns="0" rIns="0" bIns="0">
                      <a:noAutofit/>
                    </a:bodyPr>
                    <a:p>
                      <a:pPr algn="just" indent="0"/>
                      <a:r>
                        <a:rPr lang="en-US" sz="750">
                          <a:solidFill>
                            <a:srgbClr val="1E1F20"/>
                          </a:solidFill>
                          <a:latin typeface="Palatino Linotype"/>
                        </a:rPr>
                        <a:t>-\</a:t>
                      </a:r>
                    </a:p>
                    <a:p>
                      <a:pPr algn="r" indent="0"/>
                      <a:r>
                        <a:rPr lang="en-US" sz="600" spc="50">
                          <a:latin typeface="Tahoma"/>
                        </a:rPr>
                        <a:t>969.57</a:t>
                      </a:r>
                    </a:p>
                  </a:txBody>
                  <a:tcPr marL="0" marR="0" marT="0" marB="0">
                    <a:solidFill>
                      <a:srgbClr val="CDD8DE"/>
                    </a:solidFill>
                  </a:tcPr>
                </a:tc>
              </a:tr>
              <a:tr h="91440">
                <a:tc>
                  <a:txBody>
                    <a:bodyPr lIns="0" tIns="0" rIns="0" bIns="0">
                      <a:noAutofit/>
                    </a:bodyPr>
                    <a:p>
                      <a:pPr indent="0"/>
                      <a:r>
                        <a:rPr lang="en-US" b="1" sz="400" spc="-50">
                          <a:latin typeface="Palatino Linotype"/>
                        </a:rPr>
                        <a:t>V</a:t>
                      </a:r>
                    </a:p>
                  </a:txBody>
                  <a:tcPr marL="0" marR="0" marT="0" marB="0" anchor="b"/>
                </a:tc>
                <a:tc>
                  <a:txBody>
                    <a:bodyPr lIns="0" tIns="0" rIns="0" bIns="0">
                      <a:noAutofit/>
                    </a:bodyPr>
                    <a:p>
                      <a:pPr marL="520700" indent="0"/>
                      <a:r>
                        <a:rPr lang="en-US" i="1" sz="800">
                          <a:latin typeface="Verdana"/>
                        </a:rPr>
                        <a:t>k</a:t>
                      </a:r>
                    </a:p>
                  </a:txBody>
                  <a:tcPr marL="0" marR="0" marT="0" marB="0"/>
                </a:tc>
                <a:tc>
                  <a:txBody>
                    <a:bodyPr lIns="0" tIns="0" rIns="0" bIns="0">
                      <a:noAutofit/>
                    </a:bodyPr>
                    <a:p>
                      <a:pPr marL="571500" indent="0"/>
                      <a:r>
                        <a:rPr lang="en-US" i="1" sz="800">
                          <a:latin typeface="Verdana"/>
                        </a:rPr>
                        <a:t>k</a:t>
                      </a:r>
                    </a:p>
                  </a:txBody>
                  <a:tcPr marL="0" marR="0" marT="0" marB="0"/>
                </a:tc>
                <a:tc>
                  <a:txBody>
                    <a:bodyPr lIns="0" tIns="0" rIns="0" bIns="0">
                      <a:noAutofit/>
                    </a:bodyPr>
                    <a:p>
                      <a:pPr algn="r" indent="0"/>
                      <a:r>
                        <a:rPr lang="en-US" b="1" sz="400" spc="-50">
                          <a:latin typeface="Palatino Linotype"/>
                        </a:rPr>
                        <a:t>y</a:t>
                      </a:r>
                    </a:p>
                  </a:txBody>
                  <a:tcPr marL="0" marR="0" marT="0" marB="0" anchor="b"/>
                </a:tc>
                <a:tc>
                  <a:txBody>
                    <a:bodyPr lIns="0" tIns="0" rIns="0" bIns="0">
                      <a:noAutofit/>
                    </a:bodyPr>
                    <a:p>
                      <a:pPr indent="0"/>
                      <a:r>
                        <a:rPr lang="en-US" b="1" sz="400" spc="-50">
                          <a:solidFill>
                            <a:srgbClr val="4D5254"/>
                          </a:solidFill>
                          <a:latin typeface="Palatino Linotype"/>
                        </a:rPr>
                        <a:t>L</a:t>
                      </a:r>
                    </a:p>
                  </a:txBody>
                  <a:tcPr marL="0" marR="0" marT="0" marB="0" anchor="b">
                    <a:solidFill>
                      <a:srgbClr val="CDD8DE"/>
                    </a:solidFill>
                  </a:tcPr>
                </a:tc>
                <a:tc>
                  <a:txBody>
                    <a:bodyPr lIns="0" tIns="0" rIns="0" bIns="0">
                      <a:noAutofit/>
                    </a:bodyPr>
                    <a:p>
                      <a:pPr algn="r" indent="0"/>
                      <a:r>
                        <a:rPr lang="en-US" sz="750">
                          <a:solidFill>
                            <a:srgbClr val="4D5254"/>
                          </a:solidFill>
                          <a:latin typeface="Palatino Linotype"/>
                        </a:rPr>
                        <a:t>J</a:t>
                      </a:r>
                    </a:p>
                  </a:txBody>
                  <a:tcPr marL="0" marR="0" marT="0" marB="0" anchor="b">
                    <a:solidFill>
                      <a:srgbClr val="CDD8DE"/>
                    </a:solidFill>
                  </a:tcPr>
                </a:tc>
                <a:tc>
                  <a:txBody>
                    <a:bodyPr lIns="0" tIns="0" rIns="0" bIns="0">
                      <a:noAutofit/>
                    </a:bodyPr>
                    <a:p>
                      <a:pPr algn="just" indent="0"/>
                      <a:r>
                        <a:rPr lang="en-US" b="1" i="1" sz="600">
                          <a:solidFill>
                            <a:srgbClr val="333333"/>
                          </a:solidFill>
                          <a:latin typeface="Verdana"/>
                        </a:rPr>
                        <a:t>\</a:t>
                      </a:r>
                      <a:r>
                        <a:rPr lang="en-US" sz="1000">
                          <a:solidFill>
                            <a:srgbClr val="333333"/>
                          </a:solidFill>
                          <a:latin typeface="Palatino Linotype"/>
                        </a:rPr>
                        <a:t>_</a:t>
                      </a:r>
                    </a:p>
                  </a:txBody>
                  <a:tcPr marL="0" marR="0" marT="0" marB="0" anchor="b">
                    <a:solidFill>
                      <a:srgbClr val="CDD8DE"/>
                    </a:solidFill>
                  </a:tcPr>
                </a:tc>
                <a:tc>
                  <a:txBody>
                    <a:bodyPr lIns="0" tIns="0" rIns="0" bIns="0">
                      <a:noAutofit/>
                    </a:bodyPr>
                    <a:p>
                      <a:endParaRPr sz="500"/>
                    </a:p>
                  </a:txBody>
                  <a:tcPr marL="0" marR="0" marT="0" marB="0">
                    <a:solidFill>
                      <a:srgbClr val="CDD8DE"/>
                    </a:solidFill>
                  </a:tcPr>
                </a:tc>
                <a:tc>
                  <a:txBody>
                    <a:bodyPr lIns="0" tIns="0" rIns="0" bIns="0">
                      <a:noAutofit/>
                    </a:bodyPr>
                    <a:p>
                      <a:pPr algn="just" indent="0"/>
                      <a:r>
                        <a:rPr lang="en-US" b="1" sz="400" spc="-50">
                          <a:solidFill>
                            <a:srgbClr val="1E1F20"/>
                          </a:solidFill>
                          <a:latin typeface="Palatino Linotype"/>
                        </a:rPr>
                        <a:t>v</a:t>
                      </a:r>
                      <a:r>
                        <a:rPr lang="en-US" sz="750">
                          <a:solidFill>
                            <a:srgbClr val="6B7072"/>
                          </a:solidFill>
                          <a:latin typeface="Palatino Linotype"/>
                        </a:rPr>
                        <a:t>_</a:t>
                      </a:r>
                    </a:p>
                  </a:txBody>
                  <a:tcPr marL="0" marR="0" marT="0" marB="0" anchor="b">
                    <a:solidFill>
                      <a:srgbClr val="CDD8DE"/>
                    </a:solidFill>
                  </a:tcPr>
                </a:tc>
                <a:tc>
                  <a:txBody>
                    <a:bodyPr lIns="0" tIns="0" rIns="0" bIns="0">
                      <a:noAutofit/>
                    </a:bodyPr>
                    <a:p>
                      <a:pPr algn="r" indent="0"/>
                      <a:r>
                        <a:rPr lang="en-US" i="1" sz="800">
                          <a:solidFill>
                            <a:srgbClr val="1E1F20"/>
                          </a:solidFill>
                          <a:latin typeface="Verdana"/>
                        </a:rPr>
                        <a:t>J</a:t>
                      </a:r>
                    </a:p>
                  </a:txBody>
                  <a:tcPr marL="0" marR="0" marT="0" marB="0" anchor="b">
                    <a:solidFill>
                      <a:srgbClr val="CDD8DE"/>
                    </a:solidFill>
                  </a:tcPr>
                </a:tc>
                <a:tc>
                  <a:txBody>
                    <a:bodyPr lIns="0" tIns="0" rIns="0" bIns="0">
                      <a:noAutofit/>
                    </a:bodyPr>
                    <a:p>
                      <a:endParaRPr sz="500"/>
                    </a:p>
                  </a:txBody>
                  <a:tcPr marL="0" marR="0" marT="0" marB="0">
                    <a:solidFill>
                      <a:srgbClr val="CDD8DE"/>
                    </a:solidFill>
                  </a:tcPr>
                </a:tc>
                <a:tc>
                  <a:txBody>
                    <a:bodyPr lIns="0" tIns="0" rIns="0" bIns="0">
                      <a:noAutofit/>
                    </a:bodyPr>
                    <a:p>
                      <a:pPr algn="just" indent="0"/>
                      <a:r>
                        <a:rPr lang="en-US" sz="750">
                          <a:solidFill>
                            <a:srgbClr val="333333"/>
                          </a:solidFill>
                          <a:latin typeface="Palatino Linotype"/>
                        </a:rPr>
                        <a:t>_</a:t>
                      </a:r>
                      <a:r>
                        <a:rPr lang="en-US" i="1" sz="800">
                          <a:solidFill>
                            <a:srgbClr val="333333"/>
                          </a:solidFill>
                          <a:latin typeface="Verdana"/>
                        </a:rPr>
                        <a:t>J</a:t>
                      </a:r>
                    </a:p>
                  </a:txBody>
                  <a:tcPr marL="0" marR="0" marT="0" marB="0" anchor="b">
                    <a:solidFill>
                      <a:srgbClr val="CDD8DE"/>
                    </a:solidFill>
                  </a:tcPr>
                </a:tc>
              </a:tr>
            </a:tbl>
          </a:graphicData>
        </a:graphic>
      </p:graphicFrame>
      <p:sp>
        <p:nvSpPr>
          <p:cNvPr id="32" name=""/>
          <p:cNvSpPr/>
          <p:nvPr/>
        </p:nvSpPr>
        <p:spPr>
          <a:xfrm>
            <a:off x="1280160" y="7156704"/>
            <a:ext cx="975360" cy="85344"/>
          </a:xfrm>
          <a:prstGeom prst="rect">
            <a:avLst/>
          </a:prstGeom>
        </p:spPr>
        <p:txBody>
          <a:bodyPr lIns="0" tIns="0" rIns="0" bIns="0" wrap="none">
            <a:noAutofit/>
          </a:bodyPr>
          <a:p>
            <a:pPr indent="0"/>
            <a:r>
              <a:rPr lang="en-US" b="1" sz="600">
                <a:solidFill>
                  <a:srgbClr val="333333"/>
                </a:solidFill>
                <a:latin typeface="Tahoma"/>
              </a:rPr>
              <a:t>Amount In Advance</a:t>
            </a:r>
          </a:p>
        </p:txBody>
      </p:sp>
      <p:sp>
        <p:nvSpPr>
          <p:cNvPr id="33" name=""/>
          <p:cNvSpPr/>
          <p:nvPr/>
        </p:nvSpPr>
        <p:spPr>
          <a:xfrm>
            <a:off x="3669792" y="7156704"/>
            <a:ext cx="499872" cy="85344"/>
          </a:xfrm>
          <a:prstGeom prst="rect">
            <a:avLst/>
          </a:prstGeom>
        </p:spPr>
        <p:txBody>
          <a:bodyPr lIns="0" tIns="0" rIns="0" bIns="0" wrap="none">
            <a:noAutofit/>
          </a:bodyPr>
          <a:p>
            <a:pPr indent="0"/>
            <a:r>
              <a:rPr lang="en-US" b="1" sz="600">
                <a:solidFill>
                  <a:srgbClr val="333333"/>
                </a:solidFill>
                <a:latin typeface="Tahoma"/>
              </a:rPr>
              <a:t>Due Date</a:t>
            </a:r>
          </a:p>
        </p:txBody>
      </p:sp>
      <p:sp>
        <p:nvSpPr>
          <p:cNvPr id="34" name=""/>
          <p:cNvSpPr/>
          <p:nvPr/>
        </p:nvSpPr>
        <p:spPr>
          <a:xfrm>
            <a:off x="4200144" y="7077456"/>
            <a:ext cx="182880" cy="268224"/>
          </a:xfrm>
          <a:prstGeom prst="rect">
            <a:avLst/>
          </a:prstGeom>
        </p:spPr>
        <p:txBody>
          <a:bodyPr lIns="0" tIns="0" rIns="0" bIns="0" wrap="none">
            <a:noAutofit/>
          </a:bodyPr>
          <a:p>
            <a:pPr indent="0"/>
            <a:r>
              <a:rPr lang="en-US" b="1" sz="2100">
                <a:latin typeface="Tahoma"/>
              </a:rPr>
              <a:t>C</a:t>
            </a:r>
          </a:p>
        </p:txBody>
      </p:sp>
      <p:sp>
        <p:nvSpPr>
          <p:cNvPr id="35" name=""/>
          <p:cNvSpPr/>
          <p:nvPr/>
        </p:nvSpPr>
        <p:spPr>
          <a:xfrm>
            <a:off x="4425696" y="7138416"/>
            <a:ext cx="597408" cy="85344"/>
          </a:xfrm>
          <a:prstGeom prst="rect">
            <a:avLst/>
          </a:prstGeom>
        </p:spPr>
        <p:txBody>
          <a:bodyPr lIns="0" tIns="0" rIns="0" bIns="0" wrap="none">
            <a:noAutofit/>
          </a:bodyPr>
          <a:p>
            <a:pPr indent="0"/>
            <a:r>
              <a:rPr lang="en-US" sz="600" spc="50">
                <a:solidFill>
                  <a:srgbClr val="333333"/>
                </a:solidFill>
                <a:latin typeface="Tahoma"/>
              </a:rPr>
              <a:t>2025-10-13</a:t>
            </a:r>
          </a:p>
        </p:txBody>
      </p:sp>
      <p:sp>
        <p:nvSpPr>
          <p:cNvPr id="36" name=""/>
          <p:cNvSpPr/>
          <p:nvPr/>
        </p:nvSpPr>
        <p:spPr>
          <a:xfrm>
            <a:off x="5071872" y="7083552"/>
            <a:ext cx="182880" cy="256032"/>
          </a:xfrm>
          <a:prstGeom prst="rect">
            <a:avLst/>
          </a:prstGeom>
        </p:spPr>
        <p:txBody>
          <a:bodyPr lIns="0" tIns="0" rIns="0" bIns="0" wrap="none">
            <a:noAutofit/>
          </a:bodyPr>
          <a:p>
            <a:pPr indent="0"/>
            <a:r>
              <a:rPr lang="en-US" b="1" sz="2100">
                <a:latin typeface="Tahoma"/>
              </a:rPr>
              <a:t>J</a:t>
            </a:r>
          </a:p>
        </p:txBody>
      </p:sp>
      <p:sp>
        <p:nvSpPr>
          <p:cNvPr id="37" name=""/>
          <p:cNvSpPr/>
          <p:nvPr/>
        </p:nvSpPr>
        <p:spPr>
          <a:xfrm>
            <a:off x="5309616" y="7150608"/>
            <a:ext cx="835152" cy="103632"/>
          </a:xfrm>
          <a:prstGeom prst="rect">
            <a:avLst/>
          </a:prstGeom>
        </p:spPr>
        <p:txBody>
          <a:bodyPr lIns="0" tIns="0" rIns="0" bIns="0" wrap="none">
            <a:noAutofit/>
          </a:bodyPr>
          <a:p>
            <a:pPr indent="0"/>
            <a:r>
              <a:rPr lang="en-US" b="1" sz="600">
                <a:solidFill>
                  <a:srgbClr val="333333"/>
                </a:solidFill>
                <a:latin typeface="Tahoma"/>
              </a:rPr>
              <a:t>Amount Payable</a:t>
            </a:r>
          </a:p>
        </p:txBody>
      </p:sp>
      <p:sp>
        <p:nvSpPr>
          <p:cNvPr id="38" name=""/>
          <p:cNvSpPr/>
          <p:nvPr/>
        </p:nvSpPr>
        <p:spPr>
          <a:xfrm>
            <a:off x="6175248" y="7077456"/>
            <a:ext cx="1018032" cy="268224"/>
          </a:xfrm>
          <a:prstGeom prst="rect">
            <a:avLst/>
          </a:prstGeom>
        </p:spPr>
        <p:txBody>
          <a:bodyPr lIns="0" tIns="0" rIns="0" bIns="0" wrap="none">
            <a:noAutofit/>
          </a:bodyPr>
          <a:p>
            <a:pPr algn="r" indent="0"/>
            <a:r>
              <a:rPr lang="en-US" sz="600" spc="50">
                <a:solidFill>
                  <a:srgbClr val="333333"/>
                </a:solidFill>
                <a:latin typeface="Tahoma"/>
              </a:rPr>
              <a:t>970.00</a:t>
            </a:r>
            <a:r>
              <a:rPr lang="en-US" sz="600" spc="50">
                <a:latin typeface="Tahoma"/>
              </a:rPr>
              <a:t>^</a:t>
            </a:r>
          </a:p>
        </p:txBody>
      </p:sp>
      <p:sp>
        <p:nvSpPr>
          <p:cNvPr id="39" name=""/>
          <p:cNvSpPr/>
          <p:nvPr/>
        </p:nvSpPr>
        <p:spPr>
          <a:xfrm>
            <a:off x="396240" y="7424928"/>
            <a:ext cx="469392" cy="85344"/>
          </a:xfrm>
          <a:prstGeom prst="rect">
            <a:avLst/>
          </a:prstGeom>
        </p:spPr>
        <p:txBody>
          <a:bodyPr lIns="0" tIns="0" rIns="0" bIns="0" wrap="none">
            <a:noAutofit/>
          </a:bodyPr>
          <a:p>
            <a:pPr indent="0"/>
            <a:r>
              <a:rPr lang="en-US" sz="600" spc="50">
                <a:solidFill>
                  <a:srgbClr val="333333"/>
                </a:solidFill>
                <a:latin typeface="Tahoma"/>
              </a:rPr>
              <a:t>MESSAGE</a:t>
            </a:r>
          </a:p>
        </p:txBody>
      </p:sp>
      <p:sp>
        <p:nvSpPr>
          <p:cNvPr id="40" name=""/>
          <p:cNvSpPr/>
          <p:nvPr/>
        </p:nvSpPr>
        <p:spPr>
          <a:xfrm>
            <a:off x="883920" y="8180832"/>
            <a:ext cx="1243584" cy="134112"/>
          </a:xfrm>
          <a:prstGeom prst="rect">
            <a:avLst/>
          </a:prstGeom>
        </p:spPr>
        <p:txBody>
          <a:bodyPr lIns="0" tIns="0" rIns="0" bIns="0" wrap="none">
            <a:noAutofit/>
          </a:bodyPr>
          <a:p>
            <a:pPr indent="0"/>
            <a:r>
              <a:rPr lang="en-US" sz="750">
                <a:solidFill>
                  <a:srgbClr val="0000FE"/>
                </a:solidFill>
                <a:latin typeface="Tahoma"/>
                <a:hlinkClick r:id="rLinkId4"/>
              </a:rPr>
              <a:t>www.ekurhuleni.gov.za</a:t>
            </a:r>
          </a:p>
        </p:txBody>
      </p:sp>
      <p:sp>
        <p:nvSpPr>
          <p:cNvPr id="41" name=""/>
          <p:cNvSpPr/>
          <p:nvPr/>
        </p:nvSpPr>
        <p:spPr>
          <a:xfrm>
            <a:off x="2154936" y="8522208"/>
            <a:ext cx="1575816" cy="79248"/>
          </a:xfrm>
          <a:prstGeom prst="rect">
            <a:avLst/>
          </a:prstGeom>
        </p:spPr>
        <p:txBody>
          <a:bodyPr lIns="0" tIns="0" rIns="0" bIns="0" wrap="none">
            <a:noAutofit/>
          </a:bodyPr>
          <a:p>
            <a:pPr indent="0">
              <a:spcAft>
                <a:spcPts val="630"/>
              </a:spcAft>
            </a:pPr>
            <a:r>
              <a:rPr lang="en-US" sz="600" spc="50">
                <a:latin typeface="Tahoma"/>
                <a:hlinkClick r:id="rLinkId5"/>
              </a:rPr>
              <a:t>www.siyakhokha.ekurhuleni.gov.za</a:t>
            </a:r>
          </a:p>
        </p:txBody>
      </p:sp>
      <p:sp>
        <p:nvSpPr>
          <p:cNvPr id="42" name=""/>
          <p:cNvSpPr/>
          <p:nvPr/>
        </p:nvSpPr>
        <p:spPr>
          <a:xfrm>
            <a:off x="2441448" y="8720328"/>
            <a:ext cx="1417320" cy="79248"/>
          </a:xfrm>
          <a:prstGeom prst="rect">
            <a:avLst/>
          </a:prstGeom>
        </p:spPr>
        <p:txBody>
          <a:bodyPr lIns="0" tIns="0" rIns="0" bIns="0" wrap="none">
            <a:noAutofit/>
          </a:bodyPr>
          <a:p>
            <a:pPr algn="just" indent="0">
              <a:lnSpc>
                <a:spcPts val="768"/>
              </a:lnSpc>
            </a:pPr>
            <a:r>
              <a:rPr lang="en-US" sz="600" spc="50">
                <a:solidFill>
                  <a:srgbClr val="333333"/>
                </a:solidFill>
                <a:latin typeface="Tahoma"/>
              </a:rPr>
              <a:t>Siyakhokha Portal    </a:t>
            </a:r>
            <a:r>
              <a:rPr lang="en-US" cap="small" sz="600" spc="50">
                <a:latin typeface="Tahoma"/>
              </a:rPr>
              <a:t>j</a:t>
            </a:r>
          </a:p>
        </p:txBody>
      </p:sp>
      <p:sp>
        <p:nvSpPr>
          <p:cNvPr id="43" name=""/>
          <p:cNvSpPr/>
          <p:nvPr/>
        </p:nvSpPr>
        <p:spPr>
          <a:xfrm>
            <a:off x="2438400" y="8790432"/>
            <a:ext cx="1420368" cy="109728"/>
          </a:xfrm>
          <a:prstGeom prst="rect">
            <a:avLst/>
          </a:prstGeom>
        </p:spPr>
        <p:txBody>
          <a:bodyPr lIns="0" tIns="0" rIns="0" bIns="0" wrap="none">
            <a:noAutofit/>
          </a:bodyPr>
          <a:p>
            <a:pPr algn="just" indent="0">
              <a:lnSpc>
                <a:spcPts val="768"/>
              </a:lnSpc>
            </a:pPr>
            <a:r>
              <a:rPr lang="en-US" sz="600" spc="50">
                <a:latin typeface="Tahoma"/>
                <a:hlinkClick r:id="rLinkId6"/>
              </a:rPr>
              <a:t>siya khokha@ekurhuleni.gov.za</a:t>
            </a:r>
            <a:r>
              <a:rPr lang="en-US" baseline="30000" sz="600" spc="50">
                <a:latin typeface="Tahoma"/>
              </a:rPr>
              <a:t>t</a:t>
            </a:r>
          </a:p>
        </p:txBody>
      </p:sp>
      <p:sp>
        <p:nvSpPr>
          <p:cNvPr id="44" name=""/>
          <p:cNvSpPr/>
          <p:nvPr/>
        </p:nvSpPr>
        <p:spPr>
          <a:xfrm>
            <a:off x="3956304" y="8613648"/>
            <a:ext cx="1456944" cy="390144"/>
          </a:xfrm>
          <a:prstGeom prst="rect">
            <a:avLst/>
          </a:prstGeom>
        </p:spPr>
        <p:txBody>
          <a:bodyPr lIns="0" tIns="0" rIns="0" bIns="0">
            <a:noAutofit/>
          </a:bodyPr>
          <a:p>
            <a:pPr marR="342900" indent="152400">
              <a:lnSpc>
                <a:spcPts val="768"/>
              </a:lnSpc>
            </a:pPr>
            <a:r>
              <a:rPr lang="en-US" sz="600" spc="50">
                <a:solidFill>
                  <a:srgbClr val="333333"/>
                </a:solidFill>
                <a:latin typeface="Tahoma"/>
              </a:rPr>
              <a:t>Phone: 0860 543 000 </a:t>
            </a:r>
            <a:r>
              <a:rPr lang="en-US" sz="600" spc="50">
                <a:latin typeface="Tahoma"/>
              </a:rPr>
              <a:t>X </a:t>
            </a:r>
            <a:r>
              <a:rPr lang="en-US" sz="600" spc="50">
                <a:solidFill>
                  <a:srgbClr val="333333"/>
                </a:solidFill>
                <a:latin typeface="Tahoma"/>
              </a:rPr>
              <a:t>Email:</a:t>
            </a:r>
          </a:p>
          <a:p>
            <a:pPr marL="152400" indent="-152400">
              <a:lnSpc>
                <a:spcPts val="768"/>
              </a:lnSpc>
            </a:pPr>
            <a:r>
              <a:rPr lang="en-US" sz="600" spc="50">
                <a:solidFill>
                  <a:srgbClr val="333333"/>
                </a:solidFill>
                <a:latin typeface="Tahoma"/>
              </a:rPr>
              <a:t>“ </a:t>
            </a:r>
            <a:r>
              <a:rPr lang="en-US" sz="600" spc="50">
                <a:solidFill>
                  <a:srgbClr val="333333"/>
                </a:solidFill>
                <a:latin typeface="Tahoma"/>
                <a:hlinkClick r:id="rLinkId7"/>
              </a:rPr>
              <a:t>callcentre@ekurhuleni.gov.za</a:t>
            </a:r>
            <a:r>
              <a:rPr lang="en-US" sz="600" spc="50">
                <a:solidFill>
                  <a:srgbClr val="333333"/>
                </a:solidFill>
                <a:latin typeface="Tahoma"/>
              </a:rPr>
              <a:t> Twitter: @EMM_Call_Centre</a:t>
            </a:r>
          </a:p>
        </p:txBody>
      </p:sp>
      <p:sp>
        <p:nvSpPr>
          <p:cNvPr id="45" name=""/>
          <p:cNvSpPr/>
          <p:nvPr/>
        </p:nvSpPr>
        <p:spPr>
          <a:xfrm>
            <a:off x="920496" y="9009888"/>
            <a:ext cx="1200912" cy="109728"/>
          </a:xfrm>
          <a:prstGeom prst="rect">
            <a:avLst/>
          </a:prstGeom>
        </p:spPr>
        <p:txBody>
          <a:bodyPr lIns="0" tIns="0" rIns="0" bIns="0" wrap="none">
            <a:noAutofit/>
          </a:bodyPr>
          <a:p>
            <a:pPr indent="0"/>
            <a:r>
              <a:rPr lang="en-US" sz="600" spc="50">
                <a:solidFill>
                  <a:srgbClr val="333333"/>
                </a:solidFill>
                <a:latin typeface="Tahoma"/>
              </a:rPr>
              <a:t>a partnership that works</a:t>
            </a:r>
          </a:p>
        </p:txBody>
      </p:sp>
      <p:sp>
        <p:nvSpPr>
          <p:cNvPr id="46" name=""/>
          <p:cNvSpPr/>
          <p:nvPr/>
        </p:nvSpPr>
        <p:spPr>
          <a:xfrm>
            <a:off x="6571488" y="8436864"/>
            <a:ext cx="664464" cy="176784"/>
          </a:xfrm>
          <a:prstGeom prst="rect">
            <a:avLst/>
          </a:prstGeom>
        </p:spPr>
        <p:txBody>
          <a:bodyPr lIns="0" tIns="0" rIns="0" bIns="0">
            <a:noAutofit/>
          </a:bodyPr>
          <a:p>
            <a:pPr algn="r" indent="0"/>
            <a:r>
              <a:rPr lang="en-US" b="1" sz="600">
                <a:solidFill>
                  <a:srgbClr val="333333"/>
                </a:solidFill>
                <a:latin typeface="Tahoma"/>
              </a:rPr>
              <a:t>REMITTANCE</a:t>
            </a:r>
          </a:p>
          <a:p>
            <a:pPr algn="r" indent="0"/>
            <a:r>
              <a:rPr lang="en-US" b="1" sz="600">
                <a:solidFill>
                  <a:srgbClr val="333333"/>
                </a:solidFill>
                <a:latin typeface="Tahoma"/>
              </a:rPr>
              <a:t>ADVICE</a:t>
            </a:r>
          </a:p>
        </p:txBody>
      </p:sp>
      <p:sp>
        <p:nvSpPr>
          <p:cNvPr id="47" name=""/>
          <p:cNvSpPr/>
          <p:nvPr/>
        </p:nvSpPr>
        <p:spPr>
          <a:xfrm>
            <a:off x="6556248" y="8772144"/>
            <a:ext cx="627888" cy="152400"/>
          </a:xfrm>
          <a:prstGeom prst="rect">
            <a:avLst/>
          </a:prstGeom>
        </p:spPr>
        <p:txBody>
          <a:bodyPr lIns="0" tIns="0" rIns="0" bIns="0">
            <a:noAutofit/>
          </a:bodyPr>
          <a:p>
            <a:pPr algn="r" indent="0">
              <a:lnSpc>
                <a:spcPts val="720"/>
              </a:lnSpc>
            </a:pPr>
            <a:r>
              <a:rPr lang="en-US" b="1" sz="600">
                <a:solidFill>
                  <a:srgbClr val="333333"/>
                </a:solidFill>
                <a:latin typeface="Tahoma"/>
              </a:rPr>
              <a:t>VAT Reg No. 4280193493</a:t>
            </a:r>
          </a:p>
        </p:txBody>
      </p:sp>
      <p:sp>
        <p:nvSpPr>
          <p:cNvPr id="48" name=""/>
          <p:cNvSpPr/>
          <p:nvPr/>
        </p:nvSpPr>
        <p:spPr>
          <a:xfrm>
            <a:off x="1185672" y="9695688"/>
            <a:ext cx="1304544" cy="60960"/>
          </a:xfrm>
          <a:prstGeom prst="rect">
            <a:avLst/>
          </a:prstGeom>
        </p:spPr>
        <p:txBody>
          <a:bodyPr lIns="0" tIns="0" rIns="0" bIns="0" wrap="none">
            <a:noAutofit/>
          </a:bodyPr>
          <a:p>
            <a:pPr indent="0"/>
            <a:r>
              <a:rPr lang="en-US" sz="600" spc="50">
                <a:solidFill>
                  <a:srgbClr val="333333"/>
                </a:solidFill>
                <a:latin typeface="Tahoma"/>
              </a:rPr>
              <a:t>&gt; &gt;&gt;&gt;&gt;&gt;&gt; 9 1339 2608 2948</a:t>
            </a:r>
          </a:p>
        </p:txBody>
      </p:sp>
      <p:sp>
        <p:nvSpPr>
          <p:cNvPr id="49" name=""/>
          <p:cNvSpPr/>
          <p:nvPr/>
        </p:nvSpPr>
        <p:spPr>
          <a:xfrm>
            <a:off x="1179576" y="9796272"/>
            <a:ext cx="149352" cy="57912"/>
          </a:xfrm>
          <a:prstGeom prst="rect">
            <a:avLst/>
          </a:prstGeom>
        </p:spPr>
        <p:txBody>
          <a:bodyPr lIns="0" tIns="0" rIns="0" bIns="0" wrap="none">
            <a:noAutofit/>
          </a:bodyPr>
          <a:p>
            <a:pPr indent="0"/>
            <a:r>
              <a:rPr lang="en-US" sz="600" spc="100">
                <a:solidFill>
                  <a:srgbClr val="333333"/>
                </a:solidFill>
                <a:latin typeface="Palatino Linotype"/>
              </a:rPr>
              <a:t>510</a:t>
            </a:r>
          </a:p>
        </p:txBody>
      </p:sp>
      <p:sp>
        <p:nvSpPr>
          <p:cNvPr id="50" name=""/>
          <p:cNvSpPr/>
          <p:nvPr/>
        </p:nvSpPr>
        <p:spPr>
          <a:xfrm>
            <a:off x="1932432" y="9863328"/>
            <a:ext cx="512064" cy="158496"/>
          </a:xfrm>
          <a:prstGeom prst="rect">
            <a:avLst/>
          </a:prstGeom>
        </p:spPr>
        <p:txBody>
          <a:bodyPr lIns="0" tIns="0" rIns="0" bIns="0" wrap="none">
            <a:noAutofit/>
          </a:bodyPr>
          <a:p>
            <a:pPr algn="r" indent="0"/>
            <a:r>
              <a:rPr lang="en-US" sz="600" spc="50">
                <a:solidFill>
                  <a:srgbClr val="E38202"/>
                </a:solidFill>
                <a:latin typeface="Tahoma"/>
              </a:rPr>
              <a:t>(P£j@) </a:t>
            </a:r>
            <a:r>
              <a:rPr lang="en-US" baseline="-25000" sz="600" spc="50">
                <a:solidFill>
                  <a:srgbClr val="333333"/>
                </a:solidFill>
                <a:latin typeface="Tahoma"/>
              </a:rPr>
              <a:t>x</a:t>
            </a:r>
          </a:p>
        </p:txBody>
      </p:sp>
      <p:sp>
        <p:nvSpPr>
          <p:cNvPr id="51" name=""/>
          <p:cNvSpPr/>
          <p:nvPr/>
        </p:nvSpPr>
        <p:spPr>
          <a:xfrm>
            <a:off x="1179576" y="10030968"/>
            <a:ext cx="542544" cy="57912"/>
          </a:xfrm>
          <a:prstGeom prst="rect">
            <a:avLst/>
          </a:prstGeom>
        </p:spPr>
        <p:txBody>
          <a:bodyPr lIns="0" tIns="0" rIns="0" bIns="0" wrap="none">
            <a:noAutofit/>
          </a:bodyPr>
          <a:p>
            <a:pPr indent="0"/>
            <a:r>
              <a:rPr lang="en-US" sz="600" spc="100">
                <a:solidFill>
                  <a:srgbClr val="333333"/>
                </a:solidFill>
                <a:latin typeface="Palatino Linotype"/>
              </a:rPr>
              <a:t>2608294851</a:t>
            </a:r>
          </a:p>
        </p:txBody>
      </p:sp>
      <p:sp>
        <p:nvSpPr>
          <p:cNvPr id="52" name=""/>
          <p:cNvSpPr/>
          <p:nvPr/>
        </p:nvSpPr>
        <p:spPr>
          <a:xfrm>
            <a:off x="2462784" y="9942576"/>
            <a:ext cx="822960" cy="91440"/>
          </a:xfrm>
          <a:prstGeom prst="rect">
            <a:avLst/>
          </a:prstGeom>
        </p:spPr>
        <p:txBody>
          <a:bodyPr lIns="0" tIns="0" rIns="0" bIns="0" wrap="none">
            <a:noAutofit/>
          </a:bodyPr>
          <a:p>
            <a:pPr indent="0"/>
            <a:r>
              <a:rPr lang="en-US" sz="600" spc="50">
                <a:solidFill>
                  <a:srgbClr val="333333"/>
                </a:solidFill>
                <a:latin typeface="Tahoma"/>
              </a:rPr>
              <a:t>15442608294851</a:t>
            </a:r>
          </a:p>
        </p:txBody>
      </p:sp>
      <p:graphicFrame>
        <p:nvGraphicFramePr>
          <p:cNvPr id="53" name=""/>
          <p:cNvGraphicFramePr>
            <a:graphicFrameLocks noGrp="1"/>
          </p:cNvGraphicFramePr>
          <p:nvPr/>
        </p:nvGraphicFramePr>
        <p:xfrm>
          <a:off x="3983736" y="9165336"/>
          <a:ext cx="3075432" cy="286512"/>
        </p:xfrm>
        <a:graphic>
          <a:graphicData uri="http://schemas.openxmlformats.org/drawingml/2006/table">
            <a:tbl>
              <a:tblPr/>
              <a:tblGrid>
                <a:gridCol w="1743456"/>
                <a:gridCol w="1331976"/>
              </a:tblGrid>
              <a:tr h="112776">
                <a:tc>
                  <a:txBody>
                    <a:bodyPr lIns="0" tIns="0" rIns="0" bIns="0">
                      <a:noAutofit/>
                    </a:bodyPr>
                    <a:p>
                      <a:pPr indent="0"/>
                      <a:r>
                        <a:rPr lang="en-US" sz="600" spc="50">
                          <a:solidFill>
                            <a:srgbClr val="333333"/>
                          </a:solidFill>
                          <a:latin typeface="Tahoma"/>
                        </a:rPr>
                        <a:t>Name</a:t>
                      </a:r>
                    </a:p>
                  </a:txBody>
                  <a:tcPr marL="0" marR="0" marT="0" marB="0"/>
                </a:tc>
                <a:tc>
                  <a:txBody>
                    <a:bodyPr lIns="0" tIns="0" rIns="0" bIns="0">
                      <a:noAutofit/>
                    </a:bodyPr>
                    <a:p>
                      <a:pPr algn="r" indent="0"/>
                      <a:r>
                        <a:rPr lang="en-US" sz="600" spc="50">
                          <a:latin typeface="Tahoma"/>
                        </a:rPr>
                        <a:t>Y</a:t>
                      </a:r>
                    </a:p>
                  </a:txBody>
                  <a:tcPr marL="0" marR="0" marT="0" marB="0"/>
                </a:tc>
              </a:tr>
              <a:tr h="100584">
                <a:tc>
                  <a:txBody>
                    <a:bodyPr lIns="0" tIns="0" rIns="0" bIns="0">
                      <a:noAutofit/>
                    </a:bodyPr>
                    <a:p>
                      <a:pPr indent="0"/>
                      <a:r>
                        <a:rPr lang="en-US" sz="600" spc="50">
                          <a:solidFill>
                            <a:srgbClr val="333333"/>
                          </a:solidFill>
                          <a:latin typeface="Tahoma"/>
                        </a:rPr>
                        <a:t>M MKELA</a:t>
                      </a:r>
                    </a:p>
                  </a:txBody>
                  <a:tcPr marL="0" marR="0" marT="0" marB="0"/>
                </a:tc>
                <a:tc>
                  <a:txBody>
                    <a:bodyPr lIns="0" tIns="0" rIns="0" bIns="0">
                      <a:noAutofit/>
                    </a:bodyPr>
                    <a:p>
                      <a:endParaRPr sz="500"/>
                    </a:p>
                  </a:txBody>
                  <a:tcPr marL="0" marR="0" marT="0" marB="0"/>
                </a:tc>
              </a:tr>
              <a:tr h="73152">
                <a:tc>
                  <a:txBody>
                    <a:bodyPr lIns="0" tIns="0" rIns="0" bIns="0">
                      <a:noAutofit/>
                    </a:bodyPr>
                    <a:p>
                      <a:pPr indent="0"/>
                      <a:r>
                        <a:rPr lang="en-US" sz="600" spc="50">
                          <a:latin typeface="Tahoma"/>
                        </a:rPr>
                        <a:t>v</a:t>
                      </a:r>
                    </a:p>
                  </a:txBody>
                  <a:tcPr marL="0" marR="0" marT="0" marB="0" anchor="b"/>
                </a:tc>
                <a:tc>
                  <a:txBody>
                    <a:bodyPr lIns="0" tIns="0" rIns="0" bIns="0">
                      <a:noAutofit/>
                    </a:bodyPr>
                    <a:p>
                      <a:pPr algn="r" indent="0"/>
                      <a:r>
                        <a:rPr lang="en-US" sz="600" spc="50">
                          <a:latin typeface="Tahoma"/>
                        </a:rPr>
                        <a:t>y</a:t>
                      </a:r>
                    </a:p>
                  </a:txBody>
                  <a:tcPr marL="0" marR="0" marT="0" marB="0" anchor="b"/>
                </a:tc>
              </a:tr>
            </a:tbl>
          </a:graphicData>
        </a:graphic>
      </p:graphicFrame>
      <p:graphicFrame>
        <p:nvGraphicFramePr>
          <p:cNvPr id="54" name=""/>
          <p:cNvGraphicFramePr>
            <a:graphicFrameLocks noGrp="1"/>
          </p:cNvGraphicFramePr>
          <p:nvPr/>
        </p:nvGraphicFramePr>
        <p:xfrm>
          <a:off x="3983736" y="9500616"/>
          <a:ext cx="3075432" cy="286512"/>
        </p:xfrm>
        <a:graphic>
          <a:graphicData uri="http://schemas.openxmlformats.org/drawingml/2006/table">
            <a:tbl>
              <a:tblPr/>
              <a:tblGrid>
                <a:gridCol w="1914144"/>
                <a:gridCol w="1161288"/>
              </a:tblGrid>
              <a:tr h="109728">
                <a:tc>
                  <a:txBody>
                    <a:bodyPr lIns="0" tIns="0" rIns="0" bIns="0">
                      <a:noAutofit/>
                    </a:bodyPr>
                    <a:p>
                      <a:pPr indent="0"/>
                      <a:r>
                        <a:rPr lang="en-US" sz="600" spc="50">
                          <a:solidFill>
                            <a:srgbClr val="333333"/>
                          </a:solidFill>
                          <a:latin typeface="Tahoma"/>
                        </a:rPr>
                        <a:t>Account Number</a:t>
                      </a:r>
                    </a:p>
                  </a:txBody>
                  <a:tcPr marL="0" marR="0" marT="0" marB="0"/>
                </a:tc>
                <a:tc>
                  <a:txBody>
                    <a:bodyPr lIns="0" tIns="0" rIns="0" bIns="0">
                      <a:noAutofit/>
                    </a:bodyPr>
                    <a:p>
                      <a:pPr algn="r" indent="0"/>
                      <a:r>
                        <a:rPr lang="en-US" sz="600" spc="50">
                          <a:latin typeface="Tahoma"/>
                        </a:rPr>
                        <a:t>X</a:t>
                      </a:r>
                    </a:p>
                  </a:txBody>
                  <a:tcPr marL="0" marR="0" marT="0" marB="0"/>
                </a:tc>
              </a:tr>
              <a:tr h="103632">
                <a:tc>
                  <a:txBody>
                    <a:bodyPr lIns="0" tIns="0" rIns="0" bIns="0">
                      <a:noAutofit/>
                    </a:bodyPr>
                    <a:p>
                      <a:pPr indent="0"/>
                      <a:r>
                        <a:rPr lang="en-US" sz="600" spc="50">
                          <a:solidFill>
                            <a:srgbClr val="333333"/>
                          </a:solidFill>
                          <a:latin typeface="Tahoma"/>
                        </a:rPr>
                        <a:t>2608294851</a:t>
                      </a:r>
                    </a:p>
                  </a:txBody>
                  <a:tcPr marL="0" marR="0" marT="0" marB="0"/>
                </a:tc>
                <a:tc>
                  <a:txBody>
                    <a:bodyPr lIns="0" tIns="0" rIns="0" bIns="0">
                      <a:noAutofit/>
                    </a:bodyPr>
                    <a:p>
                      <a:endParaRPr sz="500"/>
                    </a:p>
                  </a:txBody>
                  <a:tcPr marL="0" marR="0" marT="0" marB="0"/>
                </a:tc>
              </a:tr>
              <a:tr h="73152">
                <a:tc>
                  <a:txBody>
                    <a:bodyPr lIns="0" tIns="0" rIns="0" bIns="0">
                      <a:noAutofit/>
                    </a:bodyPr>
                    <a:p>
                      <a:pPr indent="0"/>
                      <a:r>
                        <a:rPr lang="en-US" sz="600" spc="50">
                          <a:latin typeface="Tahoma"/>
                        </a:rPr>
                        <a:t>V</a:t>
                      </a:r>
                    </a:p>
                  </a:txBody>
                  <a:tcPr marL="0" marR="0" marT="0" marB="0" anchor="b"/>
                </a:tc>
                <a:tc>
                  <a:txBody>
                    <a:bodyPr lIns="0" tIns="0" rIns="0" bIns="0">
                      <a:noAutofit/>
                    </a:bodyPr>
                    <a:p>
                      <a:pPr algn="r" indent="0"/>
                      <a:r>
                        <a:rPr lang="en-US" sz="600" spc="50">
                          <a:latin typeface="Tahoma"/>
                        </a:rPr>
                        <a:t>y</a:t>
                      </a:r>
                    </a:p>
                  </a:txBody>
                  <a:tcPr marL="0" marR="0" marT="0" marB="0" anchor="b"/>
                </a:tc>
              </a:tr>
            </a:tbl>
          </a:graphicData>
        </a:graphic>
      </p:graphicFrame>
      <p:graphicFrame>
        <p:nvGraphicFramePr>
          <p:cNvPr id="55" name=""/>
          <p:cNvGraphicFramePr>
            <a:graphicFrameLocks noGrp="1"/>
          </p:cNvGraphicFramePr>
          <p:nvPr/>
        </p:nvGraphicFramePr>
        <p:xfrm>
          <a:off x="3983736" y="9832848"/>
          <a:ext cx="3075432" cy="286512"/>
        </p:xfrm>
        <a:graphic>
          <a:graphicData uri="http://schemas.openxmlformats.org/drawingml/2006/table">
            <a:tbl>
              <a:tblPr/>
              <a:tblGrid>
                <a:gridCol w="1536192"/>
                <a:gridCol w="1539240"/>
              </a:tblGrid>
              <a:tr h="118872">
                <a:tc>
                  <a:txBody>
                    <a:bodyPr lIns="0" tIns="0" rIns="0" bIns="0">
                      <a:noAutofit/>
                    </a:bodyPr>
                    <a:p>
                      <a:pPr algn="ctr" marL="101600" indent="0"/>
                      <a:r>
                        <a:rPr lang="en-US" sz="600" spc="50">
                          <a:solidFill>
                            <a:srgbClr val="333333"/>
                          </a:solidFill>
                          <a:latin typeface="Tahoma"/>
                        </a:rPr>
                        <a:t>Due Date</a:t>
                      </a:r>
                    </a:p>
                  </a:txBody>
                  <a:tcPr marL="0" marR="0" marT="0" marB="0" anchor="b"/>
                </a:tc>
                <a:tc>
                  <a:txBody>
                    <a:bodyPr lIns="0" tIns="0" rIns="0" bIns="0">
                      <a:noAutofit/>
                    </a:bodyPr>
                    <a:p>
                      <a:pPr algn="ctr" marL="114300" indent="0"/>
                      <a:r>
                        <a:rPr lang="en-US" sz="600" spc="50">
                          <a:solidFill>
                            <a:srgbClr val="333333"/>
                          </a:solidFill>
                          <a:latin typeface="Tahoma"/>
                        </a:rPr>
                        <a:t>Amount Payable</a:t>
                      </a:r>
                    </a:p>
                  </a:txBody>
                  <a:tcPr marL="0" marR="0" marT="0" marB="0" anchor="b"/>
                </a:tc>
              </a:tr>
              <a:tr h="97536">
                <a:tc>
                  <a:txBody>
                    <a:bodyPr lIns="0" tIns="0" rIns="0" bIns="0">
                      <a:noAutofit/>
                    </a:bodyPr>
                    <a:p>
                      <a:pPr algn="ctr" indent="0"/>
                      <a:r>
                        <a:rPr lang="en-US" sz="600" spc="50">
                          <a:solidFill>
                            <a:srgbClr val="333333"/>
                          </a:solidFill>
                          <a:latin typeface="Tahoma"/>
                        </a:rPr>
                        <a:t>2025-10-13</a:t>
                      </a:r>
                    </a:p>
                  </a:txBody>
                  <a:tcPr marL="0" marR="0" marT="0" marB="0"/>
                </a:tc>
                <a:tc>
                  <a:txBody>
                    <a:bodyPr lIns="0" tIns="0" rIns="0" bIns="0">
                      <a:noAutofit/>
                    </a:bodyPr>
                    <a:p>
                      <a:pPr algn="ctr" indent="0"/>
                      <a:r>
                        <a:rPr lang="en-US" sz="600" spc="50">
                          <a:solidFill>
                            <a:srgbClr val="333333"/>
                          </a:solidFill>
                          <a:latin typeface="Tahoma"/>
                        </a:rPr>
                        <a:t>970.00</a:t>
                      </a:r>
                    </a:p>
                  </a:txBody>
                  <a:tcPr marL="0" marR="0" marT="0" marB="0"/>
                </a:tc>
              </a:tr>
              <a:tr h="70104">
                <a:tc>
                  <a:txBody>
                    <a:bodyPr lIns="0" tIns="0" rIns="0" bIns="0">
                      <a:noAutofit/>
                    </a:bodyPr>
                    <a:p>
                      <a:pPr indent="0"/>
                      <a:r>
                        <a:rPr lang="en-US" sz="600" spc="50">
                          <a:latin typeface="Tahoma"/>
                        </a:rPr>
                        <a:t>Y</a:t>
                      </a:r>
                    </a:p>
                  </a:txBody>
                  <a:tcPr marL="0" marR="0" marT="0" marB="0"/>
                </a:tc>
                <a:tc>
                  <a:txBody>
                    <a:bodyPr lIns="0" tIns="0" rIns="0" bIns="0">
                      <a:noAutofit/>
                    </a:bodyPr>
                    <a:p>
                      <a:pPr algn="r" indent="0"/>
                      <a:r>
                        <a:rPr lang="en-US" sz="600" spc="50">
                          <a:latin typeface="Tahoma"/>
                        </a:rPr>
                        <a:t>y</a:t>
                      </a:r>
                    </a:p>
                  </a:txBody>
                  <a:tcPr marL="0" marR="0" marT="0" marB="0"/>
                </a:tc>
              </a:tr>
            </a:tbl>
          </a:graphicData>
        </a:graphic>
      </p:graphicFrame>
      <p:sp>
        <p:nvSpPr>
          <p:cNvPr id="56" name=""/>
          <p:cNvSpPr/>
          <p:nvPr/>
        </p:nvSpPr>
        <p:spPr>
          <a:xfrm>
            <a:off x="3011424" y="7150608"/>
            <a:ext cx="164592" cy="54864"/>
          </a:xfrm>
          <a:prstGeom prst="rect">
            <a:avLst/>
          </a:prstGeom>
        </p:spPr>
        <p:txBody>
          <a:bodyPr lIns="0" tIns="0" rIns="0" bIns="0" wrap="none">
            <a:noAutofit/>
          </a:bodyPr>
          <a:p>
            <a:pPr indent="0"/>
            <a:r>
              <a:rPr lang="en-US" sz="600" spc="50">
                <a:solidFill>
                  <a:srgbClr val="333333"/>
                </a:solidFill>
                <a:latin typeface="Tahoma"/>
              </a:rPr>
              <a:t>0.00</a:t>
            </a:r>
          </a:p>
        </p:txBody>
      </p:sp>
      <p:sp>
        <p:nvSpPr>
          <p:cNvPr id="57" name=""/>
          <p:cNvSpPr/>
          <p:nvPr/>
        </p:nvSpPr>
        <p:spPr>
          <a:xfrm>
            <a:off x="3493008" y="10518648"/>
            <a:ext cx="569976" cy="128016"/>
          </a:xfrm>
          <a:prstGeom prst="rect">
            <a:avLst/>
          </a:prstGeom>
        </p:spPr>
        <p:txBody>
          <a:bodyPr lIns="0" tIns="0" rIns="0" bIns="0" wrap="none">
            <a:noAutofit/>
          </a:bodyPr>
          <a:p>
            <a:pPr indent="0"/>
            <a:r>
              <a:rPr lang="en-US" sz="700" spc="50">
                <a:latin typeface="Tahoma"/>
              </a:rPr>
              <a:t>Page: 1 of 3</a:t>
            </a: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pic>
        <p:nvPicPr>
          <p:cNvPr id="2" name=""/>
          <p:cNvPicPr>
            <a:picLocks noChangeAspect="1"/>
          </p:cNvPicPr>
          <p:nvPr/>
        </p:nvPicPr>
        <p:blipFill>
          <a:blip r:embed="rPictId0"/>
          <a:stretch>
            <a:fillRect/>
          </a:stretch>
        </p:blipFill>
        <p:spPr>
          <a:xfrm>
            <a:off x="359664" y="816864"/>
            <a:ext cx="536448" cy="612648"/>
          </a:xfrm>
          <a:prstGeom prst="rect">
            <a:avLst/>
          </a:prstGeom>
        </p:spPr>
      </p:pic>
      <p:pic>
        <p:nvPicPr>
          <p:cNvPr id="3" name=""/>
          <p:cNvPicPr>
            <a:picLocks noChangeAspect="1"/>
          </p:cNvPicPr>
          <p:nvPr/>
        </p:nvPicPr>
        <p:blipFill>
          <a:blip r:embed="rPictId1"/>
          <a:stretch>
            <a:fillRect/>
          </a:stretch>
        </p:blipFill>
        <p:spPr>
          <a:xfrm>
            <a:off x="2042160" y="1237488"/>
            <a:ext cx="1978152" cy="252984"/>
          </a:xfrm>
          <a:prstGeom prst="rect">
            <a:avLst/>
          </a:prstGeom>
        </p:spPr>
      </p:pic>
      <p:pic>
        <p:nvPicPr>
          <p:cNvPr id="4" name=""/>
          <p:cNvPicPr>
            <a:picLocks noChangeAspect="1"/>
          </p:cNvPicPr>
          <p:nvPr/>
        </p:nvPicPr>
        <p:blipFill>
          <a:blip r:embed="rPictId2"/>
          <a:stretch>
            <a:fillRect/>
          </a:stretch>
        </p:blipFill>
        <p:spPr>
          <a:xfrm>
            <a:off x="359664" y="7101840"/>
            <a:ext cx="1426464" cy="566928"/>
          </a:xfrm>
          <a:prstGeom prst="rect">
            <a:avLst/>
          </a:prstGeom>
        </p:spPr>
      </p:pic>
      <p:pic>
        <p:nvPicPr>
          <p:cNvPr id="5" name=""/>
          <p:cNvPicPr>
            <a:picLocks noChangeAspect="1"/>
          </p:cNvPicPr>
          <p:nvPr/>
        </p:nvPicPr>
        <p:blipFill>
          <a:blip r:embed="rPictId3"/>
          <a:stretch>
            <a:fillRect/>
          </a:stretch>
        </p:blipFill>
        <p:spPr>
          <a:xfrm>
            <a:off x="5413248" y="6912864"/>
            <a:ext cx="1139952" cy="926592"/>
          </a:xfrm>
          <a:prstGeom prst="rect">
            <a:avLst/>
          </a:prstGeom>
        </p:spPr>
      </p:pic>
      <p:pic>
        <p:nvPicPr>
          <p:cNvPr id="6" name=""/>
          <p:cNvPicPr>
            <a:picLocks noChangeAspect="1"/>
          </p:cNvPicPr>
          <p:nvPr/>
        </p:nvPicPr>
        <p:blipFill>
          <a:blip r:embed="rPictId4"/>
          <a:stretch>
            <a:fillRect/>
          </a:stretch>
        </p:blipFill>
        <p:spPr>
          <a:xfrm>
            <a:off x="438912" y="7943088"/>
            <a:ext cx="499872" cy="1011936"/>
          </a:xfrm>
          <a:prstGeom prst="rect">
            <a:avLst/>
          </a:prstGeom>
        </p:spPr>
      </p:pic>
      <p:pic>
        <p:nvPicPr>
          <p:cNvPr id="7" name=""/>
          <p:cNvPicPr>
            <a:picLocks noChangeAspect="1"/>
          </p:cNvPicPr>
          <p:nvPr/>
        </p:nvPicPr>
        <p:blipFill>
          <a:blip r:embed="rPictId5"/>
          <a:stretch>
            <a:fillRect/>
          </a:stretch>
        </p:blipFill>
        <p:spPr>
          <a:xfrm>
            <a:off x="1170432" y="7943088"/>
            <a:ext cx="499872" cy="359664"/>
          </a:xfrm>
          <a:prstGeom prst="rect">
            <a:avLst/>
          </a:prstGeom>
        </p:spPr>
      </p:pic>
      <p:pic>
        <p:nvPicPr>
          <p:cNvPr id="8" name=""/>
          <p:cNvPicPr>
            <a:picLocks noChangeAspect="1"/>
          </p:cNvPicPr>
          <p:nvPr/>
        </p:nvPicPr>
        <p:blipFill>
          <a:blip r:embed="rPictId6"/>
          <a:stretch>
            <a:fillRect/>
          </a:stretch>
        </p:blipFill>
        <p:spPr>
          <a:xfrm>
            <a:off x="2164080" y="7943088"/>
            <a:ext cx="1426464" cy="359664"/>
          </a:xfrm>
          <a:prstGeom prst="rect">
            <a:avLst/>
          </a:prstGeom>
        </p:spPr>
      </p:pic>
      <p:sp>
        <p:nvSpPr>
          <p:cNvPr id="9" name=""/>
          <p:cNvSpPr/>
          <p:nvPr/>
        </p:nvSpPr>
        <p:spPr>
          <a:xfrm>
            <a:off x="914400" y="594360"/>
            <a:ext cx="1078992" cy="112776"/>
          </a:xfrm>
          <a:prstGeom prst="rect">
            <a:avLst/>
          </a:prstGeom>
        </p:spPr>
        <p:txBody>
          <a:bodyPr lIns="0" tIns="0" rIns="0" bIns="0" wrap="none">
            <a:noAutofit/>
          </a:bodyPr>
          <a:p>
            <a:pPr indent="0"/>
            <a:r>
              <a:rPr lang="en-US" sz="650" spc="50">
                <a:solidFill>
                  <a:srgbClr val="0000FE"/>
                </a:solidFill>
                <a:latin typeface="Tahoma"/>
                <a:hlinkClick r:id="rLinkId0"/>
              </a:rPr>
              <a:t>www.ekurhuleni.gov.za</a:t>
            </a:r>
          </a:p>
        </p:txBody>
      </p:sp>
      <p:sp>
        <p:nvSpPr>
          <p:cNvPr id="10" name=""/>
          <p:cNvSpPr/>
          <p:nvPr/>
        </p:nvSpPr>
        <p:spPr>
          <a:xfrm>
            <a:off x="920496" y="1054608"/>
            <a:ext cx="1002792" cy="384048"/>
          </a:xfrm>
          <a:prstGeom prst="rect">
            <a:avLst/>
          </a:prstGeom>
        </p:spPr>
        <p:txBody>
          <a:bodyPr lIns="0" tIns="0" rIns="0" bIns="0">
            <a:noAutofit/>
          </a:bodyPr>
          <a:p>
            <a:pPr indent="0">
              <a:lnSpc>
                <a:spcPts val="1440"/>
              </a:lnSpc>
            </a:pPr>
            <a:r>
              <a:rPr lang="en-US" sz="1600">
                <a:latin typeface="Tahoma"/>
              </a:rPr>
              <a:t>City of Ekurhuleni</a:t>
            </a:r>
          </a:p>
        </p:txBody>
      </p:sp>
      <p:sp>
        <p:nvSpPr>
          <p:cNvPr id="11" name=""/>
          <p:cNvSpPr/>
          <p:nvPr/>
        </p:nvSpPr>
        <p:spPr>
          <a:xfrm>
            <a:off x="2045208" y="1057656"/>
            <a:ext cx="1612392" cy="115824"/>
          </a:xfrm>
          <a:prstGeom prst="rect">
            <a:avLst/>
          </a:prstGeom>
        </p:spPr>
        <p:txBody>
          <a:bodyPr lIns="0" tIns="0" rIns="0" bIns="0" wrap="none">
            <a:noAutofit/>
          </a:bodyPr>
          <a:p>
            <a:pPr indent="0"/>
            <a:r>
              <a:rPr lang="en-US" sz="600" spc="50">
                <a:latin typeface="Tahoma"/>
                <a:hlinkClick r:id="rLinkId1"/>
              </a:rPr>
              <a:t>www .siya khokha .ekurhuleni.gov.za</a:t>
            </a:r>
          </a:p>
        </p:txBody>
      </p:sp>
      <p:sp>
        <p:nvSpPr>
          <p:cNvPr id="12" name=""/>
          <p:cNvSpPr/>
          <p:nvPr/>
        </p:nvSpPr>
        <p:spPr>
          <a:xfrm>
            <a:off x="859536" y="1548384"/>
            <a:ext cx="1136904" cy="112776"/>
          </a:xfrm>
          <a:prstGeom prst="rect">
            <a:avLst/>
          </a:prstGeom>
        </p:spPr>
        <p:txBody>
          <a:bodyPr lIns="0" tIns="0" rIns="0" bIns="0" wrap="none">
            <a:noAutofit/>
          </a:bodyPr>
          <a:p>
            <a:pPr indent="0"/>
            <a:r>
              <a:rPr lang="en-US" sz="600" spc="50">
                <a:solidFill>
                  <a:srgbClr val="333333"/>
                </a:solidFill>
                <a:latin typeface="Tahoma"/>
              </a:rPr>
              <a:t>a partnership that works</a:t>
            </a:r>
          </a:p>
        </p:txBody>
      </p:sp>
      <p:sp>
        <p:nvSpPr>
          <p:cNvPr id="13" name=""/>
          <p:cNvSpPr/>
          <p:nvPr/>
        </p:nvSpPr>
        <p:spPr>
          <a:xfrm>
            <a:off x="4108704" y="1158240"/>
            <a:ext cx="1331976" cy="402336"/>
          </a:xfrm>
          <a:prstGeom prst="rect">
            <a:avLst/>
          </a:prstGeom>
        </p:spPr>
        <p:txBody>
          <a:bodyPr lIns="0" tIns="0" rIns="0" bIns="0">
            <a:noAutofit/>
          </a:bodyPr>
          <a:p>
            <a:pPr marR="355600" indent="0">
              <a:lnSpc>
                <a:spcPts val="768"/>
              </a:lnSpc>
            </a:pPr>
            <a:r>
              <a:rPr lang="en-US" sz="600" spc="50">
                <a:solidFill>
                  <a:srgbClr val="333333"/>
                </a:solidFill>
                <a:latin typeface="Tahoma"/>
              </a:rPr>
              <a:t>Phone: 0860 543 000 Email:</a:t>
            </a:r>
          </a:p>
          <a:p>
            <a:pPr algn="just" indent="0">
              <a:lnSpc>
                <a:spcPts val="768"/>
              </a:lnSpc>
            </a:pPr>
            <a:r>
              <a:rPr lang="en-US" sz="600" spc="50">
                <a:solidFill>
                  <a:srgbClr val="333333"/>
                </a:solidFill>
                <a:latin typeface="Tahoma"/>
                <a:hlinkClick r:id="rLinkId2"/>
              </a:rPr>
              <a:t>callcentre@ekurhuleni.gov.za</a:t>
            </a:r>
            <a:r>
              <a:rPr lang="en-US" sz="600" spc="50">
                <a:solidFill>
                  <a:srgbClr val="333333"/>
                </a:solidFill>
                <a:latin typeface="Tahoma"/>
              </a:rPr>
              <a:t> Twitter: @EMM_Call_Centre</a:t>
            </a:r>
          </a:p>
        </p:txBody>
      </p:sp>
      <p:sp>
        <p:nvSpPr>
          <p:cNvPr id="14" name=""/>
          <p:cNvSpPr/>
          <p:nvPr/>
        </p:nvSpPr>
        <p:spPr>
          <a:xfrm>
            <a:off x="5928360" y="950976"/>
            <a:ext cx="1277112" cy="585216"/>
          </a:xfrm>
          <a:prstGeom prst="rect">
            <a:avLst/>
          </a:prstGeom>
        </p:spPr>
        <p:txBody>
          <a:bodyPr lIns="0" tIns="0" rIns="0" bIns="0">
            <a:noAutofit/>
          </a:bodyPr>
          <a:p>
            <a:pPr algn="r" indent="0">
              <a:spcAft>
                <a:spcPts val="840"/>
              </a:spcAft>
            </a:pPr>
            <a:r>
              <a:rPr lang="en-US" b="1" sz="600">
                <a:solidFill>
                  <a:srgbClr val="333333"/>
                </a:solidFill>
                <a:latin typeface="Tahoma"/>
              </a:rPr>
              <a:t>COPY TAX INVOICE</a:t>
            </a:r>
          </a:p>
          <a:p>
            <a:pPr algn="r" indent="0">
              <a:spcAft>
                <a:spcPts val="420"/>
              </a:spcAft>
            </a:pPr>
            <a:r>
              <a:rPr lang="en-US" b="1" sz="600">
                <a:solidFill>
                  <a:srgbClr val="333333"/>
                </a:solidFill>
                <a:latin typeface="Tahoma"/>
              </a:rPr>
              <a:t>VAT Reg No. 4280193493</a:t>
            </a:r>
          </a:p>
          <a:p>
            <a:pPr algn="r" indent="0">
              <a:lnSpc>
                <a:spcPts val="672"/>
              </a:lnSpc>
            </a:pPr>
            <a:r>
              <a:rPr lang="en-US" sz="600" spc="50">
                <a:solidFill>
                  <a:srgbClr val="333333"/>
                </a:solidFill>
                <a:latin typeface="Tahoma"/>
              </a:rPr>
              <a:t>Invoice Number: 26082948512025/09/13</a:t>
            </a:r>
          </a:p>
        </p:txBody>
      </p:sp>
      <p:graphicFrame>
        <p:nvGraphicFramePr>
          <p:cNvPr id="15" name=""/>
          <p:cNvGraphicFramePr>
            <a:graphicFrameLocks noGrp="1"/>
          </p:cNvGraphicFramePr>
          <p:nvPr/>
        </p:nvGraphicFramePr>
        <p:xfrm>
          <a:off x="359664" y="1703832"/>
          <a:ext cx="6833616" cy="1834896"/>
        </p:xfrm>
        <a:graphic>
          <a:graphicData uri="http://schemas.openxmlformats.org/drawingml/2006/table">
            <a:tbl>
              <a:tblPr/>
              <a:tblGrid>
                <a:gridCol w="835152"/>
                <a:gridCol w="1194816"/>
                <a:gridCol w="1456944"/>
                <a:gridCol w="1225296"/>
                <a:gridCol w="749808"/>
                <a:gridCol w="1371600"/>
              </a:tblGrid>
              <a:tr h="252984">
                <a:tc>
                  <a:txBody>
                    <a:bodyPr lIns="0" tIns="0" rIns="0" bIns="0">
                      <a:noAutofit/>
                    </a:bodyPr>
                    <a:p>
                      <a:pPr algn="ctr" indent="0"/>
                      <a:r>
                        <a:rPr lang="en-US" b="1" sz="600">
                          <a:latin typeface="Tahoma"/>
                        </a:rPr>
                        <a:t>Name</a:t>
                      </a:r>
                    </a:p>
                  </a:txBody>
                  <a:tcPr marL="0" marR="0" marT="0" marB="0" anchor="ctr">
                    <a:solidFill>
                      <a:srgbClr val="CDD8DE"/>
                    </a:solidFill>
                  </a:tcPr>
                </a:tc>
                <a:tc gridSpan="2">
                  <a:txBody>
                    <a:bodyPr lIns="0" tIns="0" rIns="0" bIns="0">
                      <a:noAutofit/>
                    </a:bodyPr>
                    <a:p>
                      <a:pPr indent="0"/>
                      <a:r>
                        <a:rPr lang="en-US" sz="600" spc="50">
                          <a:solidFill>
                            <a:srgbClr val="333333"/>
                          </a:solidFill>
                          <a:latin typeface="Tahoma"/>
                        </a:rPr>
                        <a:t>M MKELA</a:t>
                      </a:r>
                    </a:p>
                  </a:txBody>
                  <a:tcPr marL="0" marR="0" marT="0" marB="0" anchor="ctr"/>
                </a:tc>
                <a:tc hMerge="1">
                  <a:txBody>
                    <a:bodyPr lIns="0" tIns="0" rIns="0" bIns="0">
                      <a:noAutofit/>
                    </a:bodyPr>
                    <a:p>
                      <a:endParaRPr sz="1200"/>
                    </a:p>
                  </a:txBody>
                  <a:tcPr marL="0" marR="0" marT="0" marB="0"/>
                </a:tc>
                <a:tc>
                  <a:txBody>
                    <a:bodyPr lIns="0" tIns="0" rIns="0" bIns="0">
                      <a:noAutofit/>
                    </a:bodyPr>
                    <a:p>
                      <a:pPr algn="ctr" indent="0"/>
                      <a:r>
                        <a:rPr lang="en-US" b="1" sz="600">
                          <a:latin typeface="Tahoma"/>
                        </a:rPr>
                        <a:t>Account Number</a:t>
                      </a:r>
                    </a:p>
                  </a:txBody>
                  <a:tcPr marL="0" marR="0" marT="0" marB="0" anchor="ctr">
                    <a:solidFill>
                      <a:srgbClr val="CDD8DE"/>
                    </a:solidFill>
                  </a:tcPr>
                </a:tc>
                <a:tc gridSpan="2">
                  <a:txBody>
                    <a:bodyPr lIns="0" tIns="0" rIns="0" bIns="0">
                      <a:noAutofit/>
                    </a:bodyPr>
                    <a:p>
                      <a:pPr indent="0"/>
                      <a:r>
                        <a:rPr lang="en-US" sz="600" spc="50">
                          <a:solidFill>
                            <a:srgbClr val="333333"/>
                          </a:solidFill>
                          <a:latin typeface="Tahoma"/>
                        </a:rPr>
                        <a:t>2608294851</a:t>
                      </a:r>
                    </a:p>
                  </a:txBody>
                  <a:tcPr marL="0" marR="0" marT="0" marB="0" anchor="ctr"/>
                </a:tc>
                <a:tc hMerge="1">
                  <a:txBody>
                    <a:bodyPr lIns="0" tIns="0" rIns="0" bIns="0">
                      <a:noAutofit/>
                    </a:bodyPr>
                    <a:p>
                      <a:endParaRPr sz="1200"/>
                    </a:p>
                  </a:txBody>
                  <a:tcPr marL="0" marR="0" marT="0" marB="0"/>
                </a:tc>
              </a:tr>
              <a:tr h="225552">
                <a:tc>
                  <a:txBody>
                    <a:bodyPr lIns="0" tIns="0" rIns="0" bIns="0">
                      <a:noAutofit/>
                    </a:bodyPr>
                    <a:p>
                      <a:pPr marL="101600" indent="0"/>
                      <a:r>
                        <a:rPr lang="en-US" b="1" sz="600">
                          <a:solidFill>
                            <a:srgbClr val="333333"/>
                          </a:solidFill>
                          <a:latin typeface="Tahoma"/>
                        </a:rPr>
                        <a:t>Ward Number</a:t>
                      </a:r>
                    </a:p>
                  </a:txBody>
                  <a:tcPr marL="0" marR="0" marT="0" marB="0" anchor="ctr"/>
                </a:tc>
                <a:tc>
                  <a:txBody>
                    <a:bodyPr lIns="0" tIns="0" rIns="0" bIns="0">
                      <a:noAutofit/>
                    </a:bodyPr>
                    <a:p>
                      <a:pPr indent="0"/>
                      <a:r>
                        <a:rPr lang="en-US" sz="600" spc="50">
                          <a:solidFill>
                            <a:srgbClr val="333333"/>
                          </a:solidFill>
                          <a:latin typeface="Tahoma"/>
                        </a:rPr>
                        <a:t>39</a:t>
                      </a:r>
                    </a:p>
                  </a:txBody>
                  <a:tcPr marL="0" marR="0" marT="0" marB="0" anchor="ctr"/>
                </a:tc>
                <a:tc>
                  <a:txBody>
                    <a:bodyPr lIns="0" tIns="0" rIns="0" bIns="0">
                      <a:noAutofit/>
                    </a:bodyPr>
                    <a:p>
                      <a:pPr algn="ctr" indent="0"/>
                      <a:r>
                        <a:rPr lang="en-US" b="1" sz="600">
                          <a:latin typeface="Tahoma"/>
                        </a:rPr>
                        <a:t>Payments Included Until</a:t>
                      </a:r>
                    </a:p>
                  </a:txBody>
                  <a:tcPr marL="0" marR="0" marT="0" marB="0" anchor="ctr">
                    <a:solidFill>
                      <a:srgbClr val="CDD8DE"/>
                    </a:solidFill>
                  </a:tcPr>
                </a:tc>
                <a:tc>
                  <a:txBody>
                    <a:bodyPr lIns="0" tIns="0" rIns="0" bIns="0">
                      <a:noAutofit/>
                    </a:bodyPr>
                    <a:p>
                      <a:pPr algn="ctr" indent="0"/>
                      <a:r>
                        <a:rPr lang="en-US" sz="600" spc="50">
                          <a:solidFill>
                            <a:srgbClr val="333333"/>
                          </a:solidFill>
                          <a:latin typeface="Tahoma"/>
                        </a:rPr>
                        <a:t>2025-09-13</a:t>
                      </a:r>
                    </a:p>
                  </a:txBody>
                  <a:tcPr marL="0" marR="0" marT="0" marB="0" anchor="ctr"/>
                </a:tc>
                <a:tc>
                  <a:txBody>
                    <a:bodyPr lIns="0" tIns="0" rIns="0" bIns="0">
                      <a:noAutofit/>
                    </a:bodyPr>
                    <a:p>
                      <a:pPr algn="r" indent="0"/>
                      <a:r>
                        <a:rPr lang="en-US" b="1" sz="600">
                          <a:latin typeface="Tahoma"/>
                        </a:rPr>
                        <a:t>Vat Reg. No.</a:t>
                      </a:r>
                    </a:p>
                  </a:txBody>
                  <a:tcPr marL="0" marR="0" marT="0" marB="0" anchor="ctr">
                    <a:solidFill>
                      <a:srgbClr val="CDD8DE"/>
                    </a:solidFill>
                  </a:tcPr>
                </a:tc>
                <a:tc>
                  <a:txBody>
                    <a:bodyPr lIns="0" tIns="0" rIns="0" bIns="0">
                      <a:noAutofit/>
                    </a:bodyPr>
                    <a:p>
                      <a:endParaRPr sz="1100"/>
                    </a:p>
                  </a:txBody>
                  <a:tcPr marL="0" marR="0" marT="0" marB="0"/>
                </a:tc>
              </a:tr>
              <a:tr h="213360">
                <a:tc gridSpan="3" rowSpan="2">
                  <a:txBody>
                    <a:bodyPr lIns="0" tIns="0" rIns="0" bIns="0">
                      <a:noAutofit/>
                    </a:bodyPr>
                    <a:p>
                      <a:pPr algn="ctr" indent="0"/>
                      <a:r>
                        <a:rPr lang="en-US" b="1" sz="600">
                          <a:latin typeface="Tahoma"/>
                        </a:rPr>
                        <a:t>Street Address</a:t>
                      </a:r>
                    </a:p>
                  </a:txBody>
                  <a:tcPr marL="0" marR="0" marT="0" marB="0" anchor="ctr">
                    <a:solidFill>
                      <a:srgbClr val="CDD8DE"/>
                    </a:solidFill>
                  </a:tcPr>
                </a:tc>
                <a:tc hMerge="1" rowSpan="2">
                  <a:txBody>
                    <a:bodyPr lIns="0" tIns="0" rIns="0" bIns="0">
                      <a:noAutofit/>
                    </a:bodyPr>
                    <a:p>
                      <a:endParaRPr sz="1100"/>
                    </a:p>
                  </a:txBody>
                  <a:tcPr marL="0" marR="0" marT="0" marB="0"/>
                </a:tc>
                <a:tc hMerge="1" rowSpan="2">
                  <a:txBody>
                    <a:bodyPr lIns="0" tIns="0" rIns="0" bIns="0">
                      <a:noAutofit/>
                    </a:bodyPr>
                    <a:p>
                      <a:endParaRPr sz="1100"/>
                    </a:p>
                  </a:txBody>
                  <a:tcPr marL="0" marR="0" marT="0" marB="0"/>
                </a:tc>
                <a:tc gridSpan="2">
                  <a:txBody>
                    <a:bodyPr lIns="0" tIns="0" rIns="0" bIns="0">
                      <a:noAutofit/>
                    </a:bodyPr>
                    <a:p>
                      <a:pPr algn="ctr" indent="0"/>
                      <a:r>
                        <a:rPr lang="en-US" b="1" sz="600">
                          <a:latin typeface="Tahoma"/>
                        </a:rPr>
                        <a:t>Electricity / Water Deposit</a:t>
                      </a:r>
                    </a:p>
                  </a:txBody>
                  <a:tcPr marL="0" marR="0" marT="0" marB="0" anchor="ctr">
                    <a:solidFill>
                      <a:srgbClr val="CDD8DE"/>
                    </a:solidFill>
                  </a:tcPr>
                </a:tc>
                <a:tc hMerge="1">
                  <a:txBody>
                    <a:bodyPr lIns="0" tIns="0" rIns="0" bIns="0">
                      <a:noAutofit/>
                    </a:bodyPr>
                    <a:p>
                      <a:endParaRPr sz="1100"/>
                    </a:p>
                  </a:txBody>
                  <a:tcPr marL="0" marR="0" marT="0" marB="0"/>
                </a:tc>
                <a:tc rowSpan="2">
                  <a:txBody>
                    <a:bodyPr lIns="0" tIns="0" rIns="0" bIns="0">
                      <a:noAutofit/>
                    </a:bodyPr>
                    <a:p>
                      <a:pPr algn="ctr" indent="0"/>
                      <a:r>
                        <a:rPr lang="en-US" b="1" sz="600">
                          <a:latin typeface="Tahoma"/>
                        </a:rPr>
                        <a:t>Statement Date</a:t>
                      </a:r>
                    </a:p>
                  </a:txBody>
                  <a:tcPr marL="0" marR="0" marT="0" marB="0" anchor="ctr">
                    <a:solidFill>
                      <a:srgbClr val="CDD8DE"/>
                    </a:solidFill>
                  </a:tcPr>
                </a:tc>
              </a:tr>
              <a:tr h="143256">
                <a:tc gridSpan="3" vMerge="1">
                  <a:txBody>
                    <a:bodyPr lIns="0" tIns="0" rIns="0" bIns="0">
                      <a:noAutofit/>
                    </a:bodyPr>
                    <a:p>
                      <a:endParaRPr sz="700"/>
                    </a:p>
                  </a:txBody>
                  <a:tcPr marL="0" marR="0" marT="0" marB="0"/>
                </a:tc>
                <a:tc hMerge="1" vMerge="1">
                  <a:txBody>
                    <a:bodyPr lIns="0" tIns="0" rIns="0" bIns="0">
                      <a:noAutofit/>
                    </a:bodyPr>
                    <a:p>
                      <a:endParaRPr sz="700"/>
                    </a:p>
                  </a:txBody>
                  <a:tcPr marL="0" marR="0" marT="0" marB="0"/>
                </a:tc>
                <a:tc hMerge="1" vMerge="1">
                  <a:txBody>
                    <a:bodyPr lIns="0" tIns="0" rIns="0" bIns="0">
                      <a:noAutofit/>
                    </a:bodyPr>
                    <a:p>
                      <a:endParaRPr sz="700"/>
                    </a:p>
                  </a:txBody>
                  <a:tcPr marL="0" marR="0" marT="0" marB="0"/>
                </a:tc>
                <a:tc>
                  <a:txBody>
                    <a:bodyPr lIns="0" tIns="0" rIns="0" bIns="0">
                      <a:noAutofit/>
                    </a:bodyPr>
                    <a:p>
                      <a:pPr algn="ctr" indent="0"/>
                      <a:r>
                        <a:rPr lang="en-US" b="1" sz="600">
                          <a:latin typeface="Tahoma"/>
                        </a:rPr>
                        <a:t>Cash</a:t>
                      </a:r>
                    </a:p>
                  </a:txBody>
                  <a:tcPr marL="0" marR="0" marT="0" marB="0" anchor="b">
                    <a:solidFill>
                      <a:srgbClr val="CDD8DE"/>
                    </a:solidFill>
                  </a:tcPr>
                </a:tc>
                <a:tc>
                  <a:txBody>
                    <a:bodyPr lIns="0" tIns="0" rIns="0" bIns="0">
                      <a:noAutofit/>
                    </a:bodyPr>
                    <a:p>
                      <a:pPr algn="ctr" indent="0"/>
                      <a:r>
                        <a:rPr lang="en-US" b="1" sz="600">
                          <a:latin typeface="Tahoma"/>
                        </a:rPr>
                        <a:t>Guarantee</a:t>
                      </a:r>
                    </a:p>
                  </a:txBody>
                  <a:tcPr marL="0" marR="0" marT="0" marB="0" anchor="b">
                    <a:solidFill>
                      <a:srgbClr val="CDD8DE"/>
                    </a:solidFill>
                  </a:tcPr>
                </a:tc>
                <a:tc vMerge="1">
                  <a:txBody>
                    <a:bodyPr lIns="0" tIns="0" rIns="0" bIns="0">
                      <a:noAutofit/>
                    </a:bodyPr>
                    <a:p>
                      <a:endParaRPr sz="700"/>
                    </a:p>
                  </a:txBody>
                  <a:tcPr marL="0" marR="0" marT="0" marB="0"/>
                </a:tc>
              </a:tr>
              <a:tr h="213360">
                <a:tc gridSpan="3">
                  <a:txBody>
                    <a:bodyPr lIns="0" tIns="0" rIns="0" bIns="0">
                      <a:noAutofit/>
                    </a:bodyPr>
                    <a:p>
                      <a:pPr indent="0"/>
                      <a:r>
                        <a:rPr lang="en-US" sz="600" spc="50">
                          <a:solidFill>
                            <a:srgbClr val="333333"/>
                          </a:solidFill>
                          <a:latin typeface="Tahoma"/>
                        </a:rPr>
                        <a:t>0009 NEELS</a:t>
                      </a:r>
                    </a:p>
                  </a:txBody>
                  <a:tcPr marL="0" marR="0" marT="0" marB="0" anchor="ctr"/>
                </a:tc>
                <a:tc hMerge="1">
                  <a:txBody>
                    <a:bodyPr lIns="0" tIns="0" rIns="0" bIns="0">
                      <a:noAutofit/>
                    </a:bodyPr>
                    <a:p>
                      <a:endParaRPr sz="1100"/>
                    </a:p>
                  </a:txBody>
                  <a:tcPr marL="0" marR="0" marT="0" marB="0"/>
                </a:tc>
                <a:tc hMerge="1">
                  <a:txBody>
                    <a:bodyPr lIns="0" tIns="0" rIns="0" bIns="0">
                      <a:noAutofit/>
                    </a:bodyPr>
                    <a:p>
                      <a:endParaRPr sz="1100"/>
                    </a:p>
                  </a:txBody>
                  <a:tcPr marL="0" marR="0" marT="0" marB="0"/>
                </a:tc>
                <a:tc>
                  <a:txBody>
                    <a:bodyPr lIns="0" tIns="0" rIns="0" bIns="0">
                      <a:noAutofit/>
                    </a:bodyPr>
                    <a:p>
                      <a:pPr algn="r" indent="0"/>
                      <a:r>
                        <a:rPr lang="en-US" sz="600" spc="50">
                          <a:solidFill>
                            <a:srgbClr val="333333"/>
                          </a:solidFill>
                          <a:latin typeface="Tahoma"/>
                        </a:rPr>
                        <a:t>593.00</a:t>
                      </a:r>
                    </a:p>
                  </a:txBody>
                  <a:tcPr marL="0" marR="0" marT="0" marB="0" anchor="ctr"/>
                </a:tc>
                <a:tc>
                  <a:txBody>
                    <a:bodyPr lIns="0" tIns="0" rIns="0" bIns="0">
                      <a:noAutofit/>
                    </a:bodyPr>
                    <a:p>
                      <a:pPr algn="r" indent="0"/>
                      <a:r>
                        <a:rPr lang="en-US" sz="600" spc="50">
                          <a:solidFill>
                            <a:srgbClr val="333333"/>
                          </a:solidFill>
                          <a:latin typeface="Tahoma"/>
                        </a:rPr>
                        <a:t>0.00</a:t>
                      </a:r>
                    </a:p>
                  </a:txBody>
                  <a:tcPr marL="0" marR="0" marT="0" marB="0" anchor="ctr"/>
                </a:tc>
                <a:tc>
                  <a:txBody>
                    <a:bodyPr lIns="0" tIns="0" rIns="0" bIns="0">
                      <a:noAutofit/>
                    </a:bodyPr>
                    <a:p>
                      <a:pPr algn="ctr" indent="0"/>
                      <a:r>
                        <a:rPr lang="en-US" sz="600" spc="50">
                          <a:solidFill>
                            <a:srgbClr val="333333"/>
                          </a:solidFill>
                          <a:latin typeface="Tahoma"/>
                        </a:rPr>
                        <a:t>2025-09-13</a:t>
                      </a:r>
                    </a:p>
                  </a:txBody>
                  <a:tcPr marL="0" marR="0" marT="0" marB="0" anchor="ctr"/>
                </a:tc>
              </a:tr>
              <a:tr h="143256">
                <a:tc gridSpan="3" rowSpan="2">
                  <a:txBody>
                    <a:bodyPr lIns="0" tIns="0" rIns="0" bIns="0">
                      <a:noAutofit/>
                    </a:bodyPr>
                    <a:p>
                      <a:pPr algn="ctr" indent="0"/>
                      <a:r>
                        <a:rPr lang="en-US" b="1" sz="600">
                          <a:latin typeface="Tahoma"/>
                        </a:rPr>
                        <a:t>Township</a:t>
                      </a:r>
                    </a:p>
                  </a:txBody>
                  <a:tcPr marL="0" marR="0" marT="0" marB="0" anchor="ctr">
                    <a:solidFill>
                      <a:srgbClr val="CDD8DE"/>
                    </a:solidFill>
                  </a:tcPr>
                </a:tc>
                <a:tc hMerge="1" rowSpan="2">
                  <a:txBody>
                    <a:bodyPr lIns="0" tIns="0" rIns="0" bIns="0">
                      <a:noAutofit/>
                    </a:bodyPr>
                    <a:p>
                      <a:endParaRPr sz="700"/>
                    </a:p>
                  </a:txBody>
                  <a:tcPr marL="0" marR="0" marT="0" marB="0"/>
                </a:tc>
                <a:tc hMerge="1" rowSpan="2">
                  <a:txBody>
                    <a:bodyPr lIns="0" tIns="0" rIns="0" bIns="0">
                      <a:noAutofit/>
                    </a:bodyPr>
                    <a:p>
                      <a:endParaRPr sz="700"/>
                    </a:p>
                  </a:txBody>
                  <a:tcPr marL="0" marR="0" marT="0" marB="0"/>
                </a:tc>
                <a:tc gridSpan="2">
                  <a:txBody>
                    <a:bodyPr lIns="0" tIns="0" rIns="0" bIns="0">
                      <a:noAutofit/>
                    </a:bodyPr>
                    <a:p>
                      <a:pPr algn="ctr" indent="0"/>
                      <a:r>
                        <a:rPr lang="en-US" b="1" sz="600">
                          <a:latin typeface="Tahoma"/>
                        </a:rPr>
                        <a:t>Sectional Title</a:t>
                      </a:r>
                    </a:p>
                  </a:txBody>
                  <a:tcPr marL="0" marR="0" marT="0" marB="0" anchor="b">
                    <a:solidFill>
                      <a:srgbClr val="CDD8DE"/>
                    </a:solidFill>
                  </a:tcPr>
                </a:tc>
                <a:tc hMerge="1">
                  <a:txBody>
                    <a:bodyPr lIns="0" tIns="0" rIns="0" bIns="0">
                      <a:noAutofit/>
                    </a:bodyPr>
                    <a:p>
                      <a:endParaRPr sz="700"/>
                    </a:p>
                  </a:txBody>
                  <a:tcPr marL="0" marR="0" marT="0" marB="0"/>
                </a:tc>
                <a:tc>
                  <a:txBody>
                    <a:bodyPr lIns="0" tIns="0" rIns="0" bIns="0">
                      <a:noAutofit/>
                    </a:bodyPr>
                    <a:p>
                      <a:pPr algn="ctr" indent="0"/>
                      <a:r>
                        <a:rPr lang="en-US" b="1" sz="600">
                          <a:latin typeface="Tahoma"/>
                        </a:rPr>
                        <a:t>Property Valuation</a:t>
                      </a:r>
                    </a:p>
                  </a:txBody>
                  <a:tcPr marL="0" marR="0" marT="0" marB="0" anchor="b">
                    <a:solidFill>
                      <a:srgbClr val="CDD8DE"/>
                    </a:solidFill>
                  </a:tcPr>
                </a:tc>
              </a:tr>
              <a:tr h="176784">
                <a:tc gridSpan="3" vMerge="1">
                  <a:txBody>
                    <a:bodyPr lIns="0" tIns="0" rIns="0" bIns="0">
                      <a:noAutofit/>
                    </a:bodyPr>
                    <a:p>
                      <a:endParaRPr sz="900"/>
                    </a:p>
                  </a:txBody>
                  <a:tcPr marL="0" marR="0" marT="0" marB="0"/>
                </a:tc>
                <a:tc hMerge="1" vMerge="1">
                  <a:txBody>
                    <a:bodyPr lIns="0" tIns="0" rIns="0" bIns="0">
                      <a:noAutofit/>
                    </a:bodyPr>
                    <a:p>
                      <a:endParaRPr sz="900"/>
                    </a:p>
                  </a:txBody>
                  <a:tcPr marL="0" marR="0" marT="0" marB="0"/>
                </a:tc>
                <a:tc hMerge="1" vMerge="1">
                  <a:txBody>
                    <a:bodyPr lIns="0" tIns="0" rIns="0" bIns="0">
                      <a:noAutofit/>
                    </a:bodyPr>
                    <a:p>
                      <a:endParaRPr sz="900"/>
                    </a:p>
                  </a:txBody>
                  <a:tcPr marL="0" marR="0" marT="0" marB="0"/>
                </a:tc>
                <a:tc>
                  <a:txBody>
                    <a:bodyPr lIns="0" tIns="0" rIns="0" bIns="0">
                      <a:noAutofit/>
                    </a:bodyPr>
                    <a:p>
                      <a:pPr algn="ctr" indent="0"/>
                      <a:r>
                        <a:rPr lang="en-US" b="1" sz="600">
                          <a:latin typeface="Tahoma"/>
                        </a:rPr>
                        <a:t>Sectional Title Name</a:t>
                      </a:r>
                    </a:p>
                  </a:txBody>
                  <a:tcPr marL="0" marR="0" marT="0" marB="0" anchor="ctr">
                    <a:solidFill>
                      <a:srgbClr val="CDD8DE"/>
                    </a:solidFill>
                  </a:tcPr>
                </a:tc>
                <a:tc>
                  <a:txBody>
                    <a:bodyPr lIns="0" tIns="0" rIns="0" bIns="0">
                      <a:noAutofit/>
                    </a:bodyPr>
                    <a:p>
                      <a:pPr algn="ctr" indent="0"/>
                      <a:r>
                        <a:rPr lang="en-US" b="1" sz="600">
                          <a:latin typeface="Tahoma"/>
                        </a:rPr>
                        <a:t>Unit No</a:t>
                      </a:r>
                    </a:p>
                  </a:txBody>
                  <a:tcPr marL="0" marR="0" marT="0" marB="0" anchor="ctr">
                    <a:solidFill>
                      <a:srgbClr val="CDD8DE"/>
                    </a:solidFill>
                  </a:tcPr>
                </a:tc>
                <a:tc>
                  <a:txBody>
                    <a:bodyPr lIns="0" tIns="0" rIns="0" bIns="0">
                      <a:noAutofit/>
                    </a:bodyPr>
                    <a:p>
                      <a:pPr algn="ctr" indent="0"/>
                      <a:r>
                        <a:rPr lang="en-US" b="1" sz="600">
                          <a:latin typeface="Tahoma"/>
                        </a:rPr>
                        <a:t>Total Value</a:t>
                      </a:r>
                    </a:p>
                  </a:txBody>
                  <a:tcPr marL="0" marR="0" marT="0" marB="0" anchor="ctr">
                    <a:solidFill>
                      <a:srgbClr val="CDD8DE"/>
                    </a:solidFill>
                  </a:tcPr>
                </a:tc>
              </a:tr>
              <a:tr h="213360">
                <a:tc gridSpan="3">
                  <a:txBody>
                    <a:bodyPr lIns="0" tIns="0" rIns="0" bIns="0">
                      <a:noAutofit/>
                    </a:bodyPr>
                    <a:p>
                      <a:pPr indent="0"/>
                      <a:r>
                        <a:rPr lang="en-US" sz="600" spc="50">
                          <a:solidFill>
                            <a:srgbClr val="333333"/>
                          </a:solidFill>
                          <a:latin typeface="Tahoma"/>
                        </a:rPr>
                        <a:t>KLIPPOORTJE AGRICULTURAL LOTS</a:t>
                      </a:r>
                    </a:p>
                  </a:txBody>
                  <a:tcPr marL="0" marR="0" marT="0" marB="0" anchor="ctr"/>
                </a:tc>
                <a:tc hMerge="1">
                  <a:txBody>
                    <a:bodyPr lIns="0" tIns="0" rIns="0" bIns="0">
                      <a:noAutofit/>
                    </a:bodyPr>
                    <a:p>
                      <a:endParaRPr sz="1100"/>
                    </a:p>
                  </a:txBody>
                  <a:tcPr marL="0" marR="0" marT="0" marB="0"/>
                </a:tc>
                <a:tc hMerge="1">
                  <a:txBody>
                    <a:bodyPr lIns="0" tIns="0" rIns="0" bIns="0">
                      <a:noAutofit/>
                    </a:bodyPr>
                    <a:p>
                      <a:endParaRPr sz="1100"/>
                    </a:p>
                  </a:txBody>
                  <a:tcPr marL="0" marR="0" marT="0" marB="0"/>
                </a:tc>
                <a:tc>
                  <a:txBody>
                    <a:bodyPr lIns="0" tIns="0" rIns="0" bIns="0">
                      <a:noAutofit/>
                    </a:bodyPr>
                    <a:p>
                      <a:endParaRPr sz="1100"/>
                    </a:p>
                  </a:txBody>
                  <a:tcPr marL="0" marR="0" marT="0" marB="0"/>
                </a:tc>
                <a:tc>
                  <a:txBody>
                    <a:bodyPr lIns="0" tIns="0" rIns="0" bIns="0">
                      <a:noAutofit/>
                    </a:bodyPr>
                    <a:p>
                      <a:endParaRPr sz="1100"/>
                    </a:p>
                  </a:txBody>
                  <a:tcPr marL="0" marR="0" marT="0" marB="0"/>
                </a:tc>
                <a:tc>
                  <a:txBody>
                    <a:bodyPr lIns="0" tIns="0" rIns="0" bIns="0">
                      <a:noAutofit/>
                    </a:bodyPr>
                    <a:p>
                      <a:pPr indent="0"/>
                      <a:r>
                        <a:rPr lang="en-US" sz="600" spc="50">
                          <a:solidFill>
                            <a:srgbClr val="333333"/>
                          </a:solidFill>
                          <a:latin typeface="Tahoma"/>
                        </a:rPr>
                        <a:t>1185000</a:t>
                      </a:r>
                    </a:p>
                  </a:txBody>
                  <a:tcPr marL="0" marR="0" marT="0" marB="0" anchor="ctr"/>
                </a:tc>
              </a:tr>
              <a:tr h="252984">
                <a:tc>
                  <a:txBody>
                    <a:bodyPr lIns="0" tIns="0" rIns="0" bIns="0">
                      <a:noAutofit/>
                    </a:bodyPr>
                    <a:p>
                      <a:pPr algn="ctr" indent="0"/>
                      <a:r>
                        <a:rPr lang="en-US" b="1" sz="600">
                          <a:latin typeface="Tahoma"/>
                        </a:rPr>
                        <a:t>ERF Number</a:t>
                      </a:r>
                    </a:p>
                  </a:txBody>
                  <a:tcPr marL="0" marR="0" marT="0" marB="0" anchor="ctr">
                    <a:solidFill>
                      <a:srgbClr val="CDD8DE"/>
                    </a:solidFill>
                  </a:tcPr>
                </a:tc>
                <a:tc>
                  <a:txBody>
                    <a:bodyPr lIns="0" tIns="0" rIns="0" bIns="0">
                      <a:noAutofit/>
                    </a:bodyPr>
                    <a:p>
                      <a:pPr indent="0"/>
                      <a:r>
                        <a:rPr lang="en-US" sz="600" spc="50">
                          <a:solidFill>
                            <a:srgbClr val="333333"/>
                          </a:solidFill>
                          <a:latin typeface="Tahoma"/>
                        </a:rPr>
                        <a:t>M88 000 00000059</a:t>
                      </a:r>
                    </a:p>
                  </a:txBody>
                  <a:tcPr marL="0" marR="0" marT="0" marB="0" anchor="ctr"/>
                </a:tc>
                <a:tc>
                  <a:txBody>
                    <a:bodyPr lIns="0" tIns="0" rIns="0" bIns="0">
                      <a:noAutofit/>
                    </a:bodyPr>
                    <a:p>
                      <a:pPr algn="ctr" indent="0"/>
                      <a:r>
                        <a:rPr lang="en-US" b="1" sz="600">
                          <a:latin typeface="Tahoma"/>
                        </a:rPr>
                        <a:t>Portion</a:t>
                      </a:r>
                    </a:p>
                  </a:txBody>
                  <a:tcPr marL="0" marR="0" marT="0" marB="0" anchor="ctr">
                    <a:solidFill>
                      <a:srgbClr val="CDD8DE"/>
                    </a:solidFill>
                  </a:tcPr>
                </a:tc>
                <a:tc>
                  <a:txBody>
                    <a:bodyPr lIns="0" tIns="0" rIns="0" bIns="0">
                      <a:noAutofit/>
                    </a:bodyPr>
                    <a:p>
                      <a:pPr indent="0"/>
                      <a:r>
                        <a:rPr lang="en-US" sz="600" spc="50">
                          <a:solidFill>
                            <a:srgbClr val="333333"/>
                          </a:solidFill>
                          <a:latin typeface="Tahoma"/>
                        </a:rPr>
                        <a:t>00013 0000 0000</a:t>
                      </a:r>
                    </a:p>
                  </a:txBody>
                  <a:tcPr marL="0" marR="0" marT="0" marB="0" anchor="ctr"/>
                </a:tc>
                <a:tc>
                  <a:txBody>
                    <a:bodyPr lIns="0" tIns="0" rIns="0" bIns="0">
                      <a:noAutofit/>
                    </a:bodyPr>
                    <a:p>
                      <a:pPr algn="ctr" indent="0"/>
                      <a:r>
                        <a:rPr lang="en-US" sz="600" spc="50">
                          <a:latin typeface="Tahoma"/>
                        </a:rPr>
                        <a:t>Area m2</a:t>
                      </a:r>
                    </a:p>
                  </a:txBody>
                  <a:tcPr marL="0" marR="0" marT="0" marB="0" anchor="ctr">
                    <a:solidFill>
                      <a:srgbClr val="CDD8DE"/>
                    </a:solidFill>
                  </a:tcPr>
                </a:tc>
                <a:tc>
                  <a:txBody>
                    <a:bodyPr lIns="0" tIns="0" rIns="0" bIns="0">
                      <a:noAutofit/>
                    </a:bodyPr>
                    <a:p>
                      <a:pPr indent="0"/>
                      <a:r>
                        <a:rPr lang="en-US" sz="600" spc="50">
                          <a:solidFill>
                            <a:srgbClr val="333333"/>
                          </a:solidFill>
                          <a:latin typeface="Tahoma"/>
                        </a:rPr>
                        <a:t>991</a:t>
                      </a:r>
                    </a:p>
                  </a:txBody>
                  <a:tcPr marL="0" marR="0" marT="0" marB="0" anchor="ctr"/>
                </a:tc>
              </a:tr>
            </a:tbl>
          </a:graphicData>
        </a:graphic>
      </p:graphicFrame>
      <p:graphicFrame>
        <p:nvGraphicFramePr>
          <p:cNvPr id="16" name=""/>
          <p:cNvGraphicFramePr>
            <a:graphicFrameLocks noGrp="1"/>
          </p:cNvGraphicFramePr>
          <p:nvPr/>
        </p:nvGraphicFramePr>
        <p:xfrm>
          <a:off x="359664" y="3608832"/>
          <a:ext cx="6833616" cy="1502664"/>
        </p:xfrm>
        <a:graphic>
          <a:graphicData uri="http://schemas.openxmlformats.org/drawingml/2006/table">
            <a:tbl>
              <a:tblPr/>
              <a:tblGrid>
                <a:gridCol w="829056"/>
                <a:gridCol w="539496"/>
                <a:gridCol w="2389632"/>
                <a:gridCol w="1021080"/>
                <a:gridCol w="1024128"/>
                <a:gridCol w="1030224"/>
              </a:tblGrid>
              <a:tr h="195072">
                <a:tc>
                  <a:txBody>
                    <a:bodyPr lIns="0" tIns="0" rIns="0" bIns="0">
                      <a:noAutofit/>
                    </a:bodyPr>
                    <a:p>
                      <a:endParaRPr sz="1000"/>
                    </a:p>
                  </a:txBody>
                  <a:tcPr marL="0" marR="0" marT="0" marB="0"/>
                </a:tc>
                <a:tc>
                  <a:txBody>
                    <a:bodyPr lIns="0" tIns="0" rIns="0" bIns="0">
                      <a:noAutofit/>
                    </a:bodyPr>
                    <a:p>
                      <a:pPr marL="241300" indent="0"/>
                      <a:r>
                        <a:rPr lang="en-US" b="1" sz="400" spc="-50">
                          <a:latin typeface="Palatino Linotype"/>
                        </a:rPr>
                        <a:t>T*</a:t>
                      </a:r>
                    </a:p>
                  </a:txBody>
                  <a:tcPr marL="0" marR="0" marT="0" marB="0"/>
                </a:tc>
                <a:tc>
                  <a:txBody>
                    <a:bodyPr lIns="0" tIns="0" rIns="0" bIns="0">
                      <a:noAutofit/>
                    </a:bodyPr>
                    <a:p>
                      <a:pPr indent="0"/>
                      <a:r>
                        <a:rPr lang="en-US" sz="600" spc="50">
                          <a:solidFill>
                            <a:srgbClr val="333333"/>
                          </a:solidFill>
                          <a:latin typeface="Tahoma"/>
                        </a:rPr>
                        <a:t>WATER 13 kl</a:t>
                      </a:r>
                    </a:p>
                  </a:txBody>
                  <a:tcPr marL="0" marR="0" marT="0" marB="0" anchor="ctr"/>
                </a:tc>
                <a:tc>
                  <a:txBody>
                    <a:bodyPr lIns="0" tIns="0" rIns="0" bIns="0">
                      <a:noAutofit/>
                    </a:bodyPr>
                    <a:p>
                      <a:pPr algn="r" indent="0"/>
                      <a:r>
                        <a:rPr lang="en-US" sz="600" spc="50">
                          <a:solidFill>
                            <a:srgbClr val="333333"/>
                          </a:solidFill>
                          <a:latin typeface="Tahoma"/>
                        </a:rPr>
                        <a:t>283.46</a:t>
                      </a:r>
                    </a:p>
                  </a:txBody>
                  <a:tcPr marL="0" marR="0" marT="0" marB="0" anchor="ctr"/>
                </a:tc>
                <a:tc>
                  <a:txBody>
                    <a:bodyPr lIns="0" tIns="0" rIns="0" bIns="0">
                      <a:noAutofit/>
                    </a:bodyPr>
                    <a:p>
                      <a:pPr algn="r" indent="0"/>
                      <a:r>
                        <a:rPr lang="en-US" sz="600" spc="50">
                          <a:solidFill>
                            <a:srgbClr val="333333"/>
                          </a:solidFill>
                          <a:latin typeface="Tahoma"/>
                        </a:rPr>
                        <a:t>42.52</a:t>
                      </a:r>
                    </a:p>
                  </a:txBody>
                  <a:tcPr marL="0" marR="0" marT="0" marB="0" anchor="ctr"/>
                </a:tc>
                <a:tc>
                  <a:txBody>
                    <a:bodyPr lIns="0" tIns="0" rIns="0" bIns="0">
                      <a:noAutofit/>
                    </a:bodyPr>
                    <a:p>
                      <a:pPr algn="r" indent="0"/>
                      <a:r>
                        <a:rPr lang="en-US" sz="600" spc="50">
                          <a:solidFill>
                            <a:srgbClr val="333333"/>
                          </a:solidFill>
                          <a:latin typeface="Tahoma"/>
                        </a:rPr>
                        <a:t>325.98</a:t>
                      </a:r>
                    </a:p>
                  </a:txBody>
                  <a:tcPr marL="0" marR="0" marT="0" marB="0" anchor="ctr"/>
                </a:tc>
              </a:tr>
              <a:tr h="259080">
                <a:tc>
                  <a:txBody>
                    <a:bodyPr lIns="0" tIns="0" rIns="0" bIns="0">
                      <a:noAutofit/>
                    </a:bodyPr>
                    <a:p>
                      <a:pPr algn="ctr" indent="0"/>
                      <a:r>
                        <a:rPr lang="en-US" sz="600" spc="50">
                          <a:solidFill>
                            <a:srgbClr val="333333"/>
                          </a:solidFill>
                          <a:latin typeface="Tahoma"/>
                        </a:rPr>
                        <a:t>09/13</a:t>
                      </a:r>
                    </a:p>
                  </a:txBody>
                  <a:tcPr marL="0" marR="0" marT="0" marB="0" anchor="ctr"/>
                </a:tc>
                <a:tc>
                  <a:txBody>
                    <a:bodyPr lIns="0" tIns="0" rIns="0" bIns="0">
                      <a:noAutofit/>
                    </a:bodyPr>
                    <a:p>
                      <a:pPr marL="241300" indent="0"/>
                      <a:r>
                        <a:rPr lang="en-US" b="1" sz="400" spc="-50">
                          <a:latin typeface="Palatino Linotype"/>
                        </a:rPr>
                        <a:t>T*</a:t>
                      </a:r>
                    </a:p>
                  </a:txBody>
                  <a:tcPr marL="0" marR="0" marT="0" marB="0"/>
                </a:tc>
                <a:tc>
                  <a:txBody>
                    <a:bodyPr lIns="0" tIns="0" rIns="0" bIns="0">
                      <a:noAutofit/>
                    </a:bodyPr>
                    <a:p>
                      <a:pPr marR="571500" indent="0">
                        <a:lnSpc>
                          <a:spcPts val="768"/>
                        </a:lnSpc>
                      </a:pPr>
                      <a:r>
                        <a:rPr lang="en-US" sz="600" spc="50">
                          <a:solidFill>
                            <a:srgbClr val="333333"/>
                          </a:solidFill>
                          <a:latin typeface="Tahoma"/>
                        </a:rPr>
                        <a:t>METER-NO 140047920 TARIFF: WATER-RESIDENTIAL</a:t>
                      </a:r>
                    </a:p>
                  </a:txBody>
                  <a:tcPr marL="0" marR="0" marT="0" marB="0" anchor="ctr"/>
                </a:tc>
                <a:tc>
                  <a:txBody>
                    <a:bodyPr lIns="0" tIns="0" rIns="0" bIns="0">
                      <a:noAutofit/>
                    </a:bodyPr>
                    <a:p>
                      <a:endParaRPr sz="1300"/>
                    </a:p>
                  </a:txBody>
                  <a:tcPr marL="0" marR="0" marT="0" marB="0"/>
                </a:tc>
                <a:tc>
                  <a:txBody>
                    <a:bodyPr lIns="0" tIns="0" rIns="0" bIns="0">
                      <a:noAutofit/>
                    </a:bodyPr>
                    <a:p>
                      <a:endParaRPr sz="1300"/>
                    </a:p>
                  </a:txBody>
                  <a:tcPr marL="0" marR="0" marT="0" marB="0"/>
                </a:tc>
                <a:tc>
                  <a:txBody>
                    <a:bodyPr lIns="0" tIns="0" rIns="0" bIns="0">
                      <a:noAutofit/>
                    </a:bodyPr>
                    <a:p>
                      <a:endParaRPr sz="1300"/>
                    </a:p>
                  </a:txBody>
                  <a:tcPr marL="0" marR="0" marT="0" marB="0"/>
                </a:tc>
              </a:tr>
              <a:tr h="188976">
                <a:tc>
                  <a:txBody>
                    <a:bodyPr lIns="0" tIns="0" rIns="0" bIns="0">
                      <a:noAutofit/>
                    </a:bodyPr>
                    <a:p>
                      <a:endParaRPr sz="900"/>
                    </a:p>
                  </a:txBody>
                  <a:tcPr marL="0" marR="0" marT="0" marB="0"/>
                </a:tc>
                <a:tc>
                  <a:txBody>
                    <a:bodyPr lIns="0" tIns="0" rIns="0" bIns="0">
                      <a:noAutofit/>
                    </a:bodyPr>
                    <a:p>
                      <a:pPr marL="241300" indent="0"/>
                      <a:r>
                        <a:rPr lang="en-US" b="1" sz="400" spc="-50">
                          <a:latin typeface="Palatino Linotype"/>
                        </a:rPr>
                        <a:t>*T*</a:t>
                      </a:r>
                    </a:p>
                    <a:p>
                      <a:pPr algn="r" marR="203200" indent="0"/>
                      <a:r>
                        <a:rPr lang="en-US" sz="600" spc="50">
                          <a:latin typeface="Tahoma"/>
                        </a:rPr>
                        <a:t>7*"</a:t>
                      </a:r>
                    </a:p>
                  </a:txBody>
                  <a:tcPr marL="0" marR="0" marT="0" marB="0"/>
                </a:tc>
                <a:tc>
                  <a:txBody>
                    <a:bodyPr lIns="0" tIns="0" rIns="0" bIns="0">
                      <a:noAutofit/>
                    </a:bodyPr>
                    <a:p>
                      <a:pPr indent="0"/>
                      <a:r>
                        <a:rPr lang="en-US" sz="600" spc="50">
                          <a:solidFill>
                            <a:srgbClr val="333333"/>
                          </a:solidFill>
                          <a:latin typeface="Tahoma"/>
                        </a:rPr>
                        <a:t>INTERIM REVERSAL 28.000 Kl</a:t>
                      </a:r>
                    </a:p>
                  </a:txBody>
                  <a:tcPr marL="0" marR="0" marT="0" marB="0" anchor="ctr"/>
                </a:tc>
                <a:tc>
                  <a:txBody>
                    <a:bodyPr lIns="0" tIns="0" rIns="0" bIns="0">
                      <a:noAutofit/>
                    </a:bodyPr>
                    <a:p>
                      <a:pPr algn="r" indent="0"/>
                      <a:r>
                        <a:rPr lang="en-US" sz="600" spc="50">
                          <a:solidFill>
                            <a:srgbClr val="333333"/>
                          </a:solidFill>
                          <a:latin typeface="Tahoma"/>
                        </a:rPr>
                        <a:t>-819.73</a:t>
                      </a:r>
                    </a:p>
                  </a:txBody>
                  <a:tcPr marL="0" marR="0" marT="0" marB="0" anchor="ctr"/>
                </a:tc>
                <a:tc>
                  <a:txBody>
                    <a:bodyPr lIns="0" tIns="0" rIns="0" bIns="0">
                      <a:noAutofit/>
                    </a:bodyPr>
                    <a:p>
                      <a:pPr algn="r" indent="0"/>
                      <a:r>
                        <a:rPr lang="en-US" sz="600" spc="50">
                          <a:solidFill>
                            <a:srgbClr val="333333"/>
                          </a:solidFill>
                          <a:latin typeface="Tahoma"/>
                        </a:rPr>
                        <a:t>-122.96</a:t>
                      </a:r>
                    </a:p>
                  </a:txBody>
                  <a:tcPr marL="0" marR="0" marT="0" marB="0" anchor="ctr"/>
                </a:tc>
                <a:tc>
                  <a:txBody>
                    <a:bodyPr lIns="0" tIns="0" rIns="0" bIns="0">
                      <a:noAutofit/>
                    </a:bodyPr>
                    <a:p>
                      <a:pPr algn="r" indent="0"/>
                      <a:r>
                        <a:rPr lang="en-US" sz="600" spc="50">
                          <a:solidFill>
                            <a:srgbClr val="333333"/>
                          </a:solidFill>
                          <a:latin typeface="Tahoma"/>
                        </a:rPr>
                        <a:t>-942.69</a:t>
                      </a:r>
                    </a:p>
                  </a:txBody>
                  <a:tcPr marL="0" marR="0" marT="0" marB="0" anchor="ctr"/>
                </a:tc>
              </a:tr>
              <a:tr h="210312">
                <a:tc>
                  <a:txBody>
                    <a:bodyPr lIns="0" tIns="0" rIns="0" bIns="0">
                      <a:noAutofit/>
                    </a:bodyPr>
                    <a:p>
                      <a:endParaRPr sz="1000"/>
                    </a:p>
                  </a:txBody>
                  <a:tcPr marL="0" marR="0" marT="0" marB="0">
                    <a:solidFill>
                      <a:srgbClr val="CDD8DE"/>
                    </a:solidFill>
                  </a:tcPr>
                </a:tc>
                <a:tc>
                  <a:txBody>
                    <a:bodyPr lIns="0" tIns="0" rIns="0" bIns="0">
                      <a:noAutofit/>
                    </a:bodyPr>
                    <a:p>
                      <a:endParaRPr sz="1000"/>
                    </a:p>
                  </a:txBody>
                  <a:tcPr marL="0" marR="0" marT="0" marB="0">
                    <a:solidFill>
                      <a:srgbClr val="CDD8DE"/>
                    </a:solidFill>
                  </a:tcPr>
                </a:tc>
                <a:tc>
                  <a:txBody>
                    <a:bodyPr lIns="0" tIns="0" rIns="0" bIns="0">
                      <a:noAutofit/>
                    </a:bodyPr>
                    <a:p>
                      <a:pPr algn="ctr" indent="0"/>
                      <a:r>
                        <a:rPr lang="en-US" b="1" sz="600">
                          <a:latin typeface="Tahoma"/>
                        </a:rPr>
                        <a:t>SEWERAGE</a:t>
                      </a:r>
                    </a:p>
                  </a:txBody>
                  <a:tcPr marL="0" marR="0" marT="0" marB="0" anchor="ctr">
                    <a:solidFill>
                      <a:srgbClr val="CDD8DE"/>
                    </a:solidFill>
                  </a:tcPr>
                </a:tc>
                <a:tc>
                  <a:txBody>
                    <a:bodyPr lIns="0" tIns="0" rIns="0" bIns="0">
                      <a:noAutofit/>
                    </a:bodyPr>
                    <a:p>
                      <a:endParaRPr sz="1000"/>
                    </a:p>
                  </a:txBody>
                  <a:tcPr marL="0" marR="0" marT="0" marB="0">
                    <a:solidFill>
                      <a:srgbClr val="CDD8DE"/>
                    </a:solidFill>
                  </a:tcPr>
                </a:tc>
                <a:tc>
                  <a:txBody>
                    <a:bodyPr lIns="0" tIns="0" rIns="0" bIns="0">
                      <a:noAutofit/>
                    </a:bodyPr>
                    <a:p>
                      <a:endParaRPr sz="1000"/>
                    </a:p>
                  </a:txBody>
                  <a:tcPr marL="0" marR="0" marT="0" marB="0">
                    <a:solidFill>
                      <a:srgbClr val="CDD8DE"/>
                    </a:solidFill>
                  </a:tcPr>
                </a:tc>
                <a:tc>
                  <a:txBody>
                    <a:bodyPr lIns="0" tIns="0" rIns="0" bIns="0">
                      <a:noAutofit/>
                    </a:bodyPr>
                    <a:p>
                      <a:endParaRPr sz="1000"/>
                    </a:p>
                  </a:txBody>
                  <a:tcPr marL="0" marR="0" marT="0" marB="0">
                    <a:solidFill>
                      <a:srgbClr val="CDD8DE"/>
                    </a:solidFill>
                  </a:tcPr>
                </a:tc>
              </a:tr>
              <a:tr h="219456">
                <a:tc>
                  <a:txBody>
                    <a:bodyPr lIns="0" tIns="0" rIns="0" bIns="0">
                      <a:noAutofit/>
                    </a:bodyPr>
                    <a:p>
                      <a:pPr algn="ctr" indent="0"/>
                      <a:r>
                        <a:rPr lang="en-US" sz="600" spc="50">
                          <a:solidFill>
                            <a:srgbClr val="333333"/>
                          </a:solidFill>
                          <a:latin typeface="Tahoma"/>
                        </a:rPr>
                        <a:t>09/13</a:t>
                      </a:r>
                    </a:p>
                  </a:txBody>
                  <a:tcPr marL="0" marR="0" marT="0" marB="0" anchor="ctr"/>
                </a:tc>
                <a:tc>
                  <a:txBody>
                    <a:bodyPr lIns="0" tIns="0" rIns="0" bIns="0">
                      <a:noAutofit/>
                    </a:bodyPr>
                    <a:p>
                      <a:pPr marL="241300" indent="0"/>
                      <a:r>
                        <a:rPr lang="en-US" b="1" sz="750">
                          <a:latin typeface="Tahoma"/>
                        </a:rPr>
                        <a:t>1?</a:t>
                      </a:r>
                    </a:p>
                  </a:txBody>
                  <a:tcPr marL="0" marR="0" marT="0" marB="0"/>
                </a:tc>
                <a:tc>
                  <a:txBody>
                    <a:bodyPr lIns="0" tIns="0" rIns="0" bIns="0">
                      <a:noAutofit/>
                    </a:bodyPr>
                    <a:p>
                      <a:pPr indent="0"/>
                      <a:r>
                        <a:rPr lang="en-US" sz="600" spc="50">
                          <a:solidFill>
                            <a:srgbClr val="333333"/>
                          </a:solidFill>
                          <a:latin typeface="Tahoma"/>
                        </a:rPr>
                        <a:t>SEWER-RESIDENTIAL 13 kl</a:t>
                      </a:r>
                    </a:p>
                  </a:txBody>
                  <a:tcPr marL="0" marR="0" marT="0" marB="0" anchor="ctr"/>
                </a:tc>
                <a:tc>
                  <a:txBody>
                    <a:bodyPr lIns="0" tIns="0" rIns="0" bIns="0">
                      <a:noAutofit/>
                    </a:bodyPr>
                    <a:p>
                      <a:pPr algn="r" indent="0"/>
                      <a:r>
                        <a:rPr lang="en-US" sz="600" spc="50">
                          <a:solidFill>
                            <a:srgbClr val="333333"/>
                          </a:solidFill>
                          <a:latin typeface="Tahoma"/>
                        </a:rPr>
                        <a:t>339.47</a:t>
                      </a:r>
                    </a:p>
                  </a:txBody>
                  <a:tcPr marL="0" marR="0" marT="0" marB="0" anchor="ctr"/>
                </a:tc>
                <a:tc>
                  <a:txBody>
                    <a:bodyPr lIns="0" tIns="0" rIns="0" bIns="0">
                      <a:noAutofit/>
                    </a:bodyPr>
                    <a:p>
                      <a:pPr algn="r" indent="0"/>
                      <a:r>
                        <a:rPr lang="en-US" sz="600" spc="50">
                          <a:solidFill>
                            <a:srgbClr val="333333"/>
                          </a:solidFill>
                          <a:latin typeface="Tahoma"/>
                        </a:rPr>
                        <a:t>50.92</a:t>
                      </a:r>
                    </a:p>
                  </a:txBody>
                  <a:tcPr marL="0" marR="0" marT="0" marB="0" anchor="ctr"/>
                </a:tc>
                <a:tc>
                  <a:txBody>
                    <a:bodyPr lIns="0" tIns="0" rIns="0" bIns="0">
                      <a:noAutofit/>
                    </a:bodyPr>
                    <a:p>
                      <a:pPr algn="r" indent="0"/>
                      <a:r>
                        <a:rPr lang="en-US" sz="600" spc="50">
                          <a:solidFill>
                            <a:srgbClr val="333333"/>
                          </a:solidFill>
                          <a:latin typeface="Tahoma"/>
                        </a:rPr>
                        <a:t>390.39</a:t>
                      </a:r>
                    </a:p>
                  </a:txBody>
                  <a:tcPr marL="0" marR="0" marT="0" marB="0" anchor="ctr"/>
                </a:tc>
              </a:tr>
              <a:tr h="213360">
                <a:tc>
                  <a:txBody>
                    <a:bodyPr lIns="0" tIns="0" rIns="0" bIns="0">
                      <a:noAutofit/>
                    </a:bodyPr>
                    <a:p>
                      <a:pPr algn="ctr" indent="0"/>
                      <a:r>
                        <a:rPr lang="en-US" sz="600" spc="50">
                          <a:solidFill>
                            <a:srgbClr val="333333"/>
                          </a:solidFill>
                          <a:latin typeface="Tahoma"/>
                        </a:rPr>
                        <a:t>09/13</a:t>
                      </a:r>
                    </a:p>
                  </a:txBody>
                  <a:tcPr marL="0" marR="0" marT="0" marB="0" anchor="ctr"/>
                </a:tc>
                <a:tc>
                  <a:txBody>
                    <a:bodyPr lIns="0" tIns="0" rIns="0" bIns="0">
                      <a:noAutofit/>
                    </a:bodyPr>
                    <a:p>
                      <a:pPr marL="241300" indent="0"/>
                      <a:r>
                        <a:rPr lang="en-US" b="1" sz="750">
                          <a:latin typeface="Tahoma"/>
                        </a:rPr>
                        <a:t>1?</a:t>
                      </a:r>
                    </a:p>
                  </a:txBody>
                  <a:tcPr marL="0" marR="0" marT="0" marB="0"/>
                </a:tc>
                <a:tc>
                  <a:txBody>
                    <a:bodyPr lIns="0" tIns="0" rIns="0" bIns="0">
                      <a:noAutofit/>
                    </a:bodyPr>
                    <a:p>
                      <a:pPr indent="0"/>
                      <a:r>
                        <a:rPr lang="en-US" sz="600" spc="50">
                          <a:solidFill>
                            <a:srgbClr val="333333"/>
                          </a:solidFill>
                          <a:latin typeface="Tahoma"/>
                        </a:rPr>
                        <a:t>INTERIM REVERSAL</a:t>
                      </a:r>
                    </a:p>
                  </a:txBody>
                  <a:tcPr marL="0" marR="0" marT="0" marB="0" anchor="ctr"/>
                </a:tc>
                <a:tc>
                  <a:txBody>
                    <a:bodyPr lIns="0" tIns="0" rIns="0" bIns="0">
                      <a:noAutofit/>
                    </a:bodyPr>
                    <a:p>
                      <a:pPr algn="r" indent="0"/>
                      <a:r>
                        <a:rPr lang="en-US" sz="600" spc="50">
                          <a:solidFill>
                            <a:srgbClr val="333333"/>
                          </a:solidFill>
                          <a:latin typeface="Tahoma"/>
                        </a:rPr>
                        <a:t>-605.47</a:t>
                      </a:r>
                    </a:p>
                  </a:txBody>
                  <a:tcPr marL="0" marR="0" marT="0" marB="0" anchor="ctr"/>
                </a:tc>
                <a:tc>
                  <a:txBody>
                    <a:bodyPr lIns="0" tIns="0" rIns="0" bIns="0">
                      <a:noAutofit/>
                    </a:bodyPr>
                    <a:p>
                      <a:pPr algn="r" indent="0"/>
                      <a:r>
                        <a:rPr lang="en-US" sz="600" spc="50">
                          <a:solidFill>
                            <a:srgbClr val="333333"/>
                          </a:solidFill>
                          <a:latin typeface="Tahoma"/>
                        </a:rPr>
                        <a:t>-90.82</a:t>
                      </a:r>
                    </a:p>
                  </a:txBody>
                  <a:tcPr marL="0" marR="0" marT="0" marB="0" anchor="ctr"/>
                </a:tc>
                <a:tc>
                  <a:txBody>
                    <a:bodyPr lIns="0" tIns="0" rIns="0" bIns="0">
                      <a:noAutofit/>
                    </a:bodyPr>
                    <a:p>
                      <a:pPr algn="r" indent="0"/>
                      <a:r>
                        <a:rPr lang="en-US" sz="600" spc="50">
                          <a:solidFill>
                            <a:srgbClr val="333333"/>
                          </a:solidFill>
                          <a:latin typeface="Tahoma"/>
                        </a:rPr>
                        <a:t>-696.29</a:t>
                      </a:r>
                    </a:p>
                  </a:txBody>
                  <a:tcPr marL="0" marR="0" marT="0" marB="0" anchor="ctr"/>
                </a:tc>
              </a:tr>
              <a:tr h="216408">
                <a:tc>
                  <a:txBody>
                    <a:bodyPr lIns="0" tIns="0" rIns="0" bIns="0">
                      <a:noAutofit/>
                    </a:bodyPr>
                    <a:p>
                      <a:endParaRPr sz="1100"/>
                    </a:p>
                  </a:txBody>
                  <a:tcPr marL="0" marR="0" marT="0" marB="0"/>
                </a:tc>
                <a:tc>
                  <a:txBody>
                    <a:bodyPr lIns="0" tIns="0" rIns="0" bIns="0">
                      <a:noAutofit/>
                    </a:bodyPr>
                    <a:p>
                      <a:endParaRPr sz="1100"/>
                    </a:p>
                  </a:txBody>
                  <a:tcPr marL="0" marR="0" marT="0" marB="0"/>
                </a:tc>
                <a:tc>
                  <a:txBody>
                    <a:bodyPr lIns="0" tIns="0" rIns="0" bIns="0">
                      <a:noAutofit/>
                    </a:bodyPr>
                    <a:p>
                      <a:pPr indent="0"/>
                      <a:r>
                        <a:rPr lang="en-US" sz="600" spc="50">
                          <a:solidFill>
                            <a:srgbClr val="333333"/>
                          </a:solidFill>
                          <a:latin typeface="Tahoma"/>
                        </a:rPr>
                        <a:t>TOTAL CURRENT LEVY 586.18</a:t>
                      </a:r>
                    </a:p>
                  </a:txBody>
                  <a:tcPr marL="0" marR="0" marT="0" marB="0" anchor="ctr"/>
                </a:tc>
                <a:tc>
                  <a:txBody>
                    <a:bodyPr lIns="0" tIns="0" rIns="0" bIns="0">
                      <a:noAutofit/>
                    </a:bodyPr>
                    <a:p>
                      <a:endParaRPr sz="1100"/>
                    </a:p>
                  </a:txBody>
                  <a:tcPr marL="0" marR="0" marT="0" marB="0"/>
                </a:tc>
                <a:tc>
                  <a:txBody>
                    <a:bodyPr lIns="0" tIns="0" rIns="0" bIns="0">
                      <a:noAutofit/>
                    </a:bodyPr>
                    <a:p>
                      <a:endParaRPr sz="1100"/>
                    </a:p>
                  </a:txBody>
                  <a:tcPr marL="0" marR="0" marT="0" marB="0"/>
                </a:tc>
                <a:tc>
                  <a:txBody>
                    <a:bodyPr lIns="0" tIns="0" rIns="0" bIns="0">
                      <a:noAutofit/>
                    </a:bodyPr>
                    <a:p>
                      <a:endParaRPr sz="1100"/>
                    </a:p>
                  </a:txBody>
                  <a:tcPr marL="0" marR="0" marT="0" marB="0"/>
                </a:tc>
              </a:tr>
            </a:tbl>
          </a:graphicData>
        </a:graphic>
      </p:graphicFrame>
      <p:sp>
        <p:nvSpPr>
          <p:cNvPr id="17" name=""/>
          <p:cNvSpPr/>
          <p:nvPr/>
        </p:nvSpPr>
        <p:spPr>
          <a:xfrm>
            <a:off x="316992" y="5151120"/>
            <a:ext cx="170688" cy="286512"/>
          </a:xfrm>
          <a:prstGeom prst="rect">
            <a:avLst/>
          </a:prstGeom>
          <a:solidFill>
            <a:srgbClr val="CDD8DE"/>
          </a:solidFill>
        </p:spPr>
        <p:txBody>
          <a:bodyPr lIns="0" tIns="0" rIns="0" bIns="0" wrap="none">
            <a:noAutofit/>
          </a:bodyPr>
          <a:p>
            <a:pPr indent="0"/>
            <a:r>
              <a:rPr lang="en-US" sz="2500">
                <a:latin typeface="Tahoma"/>
              </a:rPr>
              <a:t>C</a:t>
            </a:r>
          </a:p>
        </p:txBody>
      </p:sp>
      <p:sp>
        <p:nvSpPr>
          <p:cNvPr id="18" name=""/>
          <p:cNvSpPr/>
          <p:nvPr/>
        </p:nvSpPr>
        <p:spPr>
          <a:xfrm>
            <a:off x="615696" y="5230368"/>
            <a:ext cx="445008" cy="109728"/>
          </a:xfrm>
          <a:prstGeom prst="rect">
            <a:avLst/>
          </a:prstGeom>
          <a:solidFill>
            <a:srgbClr val="CDD8DE"/>
          </a:solidFill>
        </p:spPr>
        <p:txBody>
          <a:bodyPr lIns="0" tIns="0" rIns="0" bIns="0" wrap="none">
            <a:noAutofit/>
          </a:bodyPr>
          <a:p>
            <a:pPr indent="0"/>
            <a:r>
              <a:rPr lang="en-US" sz="600" spc="50">
                <a:latin typeface="Tahoma"/>
              </a:rPr>
              <a:t>30 Days</a:t>
            </a:r>
          </a:p>
        </p:txBody>
      </p:sp>
      <p:sp>
        <p:nvSpPr>
          <p:cNvPr id="19" name=""/>
          <p:cNvSpPr/>
          <p:nvPr/>
        </p:nvSpPr>
        <p:spPr>
          <a:xfrm>
            <a:off x="1188720" y="5151120"/>
            <a:ext cx="249936" cy="286512"/>
          </a:xfrm>
          <a:prstGeom prst="rect">
            <a:avLst/>
          </a:prstGeom>
          <a:solidFill>
            <a:srgbClr val="CDD8DE"/>
          </a:solidFill>
        </p:spPr>
        <p:txBody>
          <a:bodyPr lIns="0" tIns="0" rIns="0" bIns="0" wrap="none">
            <a:noAutofit/>
          </a:bodyPr>
          <a:p>
            <a:pPr indent="0"/>
            <a:r>
              <a:rPr lang="en-US" b="1" sz="2100">
                <a:solidFill>
                  <a:srgbClr val="1E1F20"/>
                </a:solidFill>
                <a:latin typeface="Tahoma"/>
              </a:rPr>
              <a:t>X</a:t>
            </a:r>
          </a:p>
        </p:txBody>
      </p:sp>
      <p:sp>
        <p:nvSpPr>
          <p:cNvPr id="20" name=""/>
          <p:cNvSpPr/>
          <p:nvPr/>
        </p:nvSpPr>
        <p:spPr>
          <a:xfrm>
            <a:off x="1566672" y="5230368"/>
            <a:ext cx="445008" cy="109728"/>
          </a:xfrm>
          <a:prstGeom prst="rect">
            <a:avLst/>
          </a:prstGeom>
          <a:solidFill>
            <a:srgbClr val="CDD8DE"/>
          </a:solidFill>
        </p:spPr>
        <p:txBody>
          <a:bodyPr lIns="0" tIns="0" rIns="0" bIns="0" wrap="none">
            <a:noAutofit/>
          </a:bodyPr>
          <a:p>
            <a:pPr indent="0"/>
            <a:r>
              <a:rPr lang="en-US" sz="600" spc="50">
                <a:latin typeface="Tahoma"/>
              </a:rPr>
              <a:t>60 Days</a:t>
            </a:r>
          </a:p>
        </p:txBody>
      </p:sp>
      <p:sp>
        <p:nvSpPr>
          <p:cNvPr id="21" name=""/>
          <p:cNvSpPr/>
          <p:nvPr/>
        </p:nvSpPr>
        <p:spPr>
          <a:xfrm>
            <a:off x="2133600" y="5151120"/>
            <a:ext cx="1213104" cy="292608"/>
          </a:xfrm>
          <a:prstGeom prst="rect">
            <a:avLst/>
          </a:prstGeom>
          <a:solidFill>
            <a:srgbClr val="CDD8DE"/>
          </a:solidFill>
        </p:spPr>
        <p:txBody>
          <a:bodyPr lIns="0" tIns="0" rIns="0" bIns="0" wrap="none">
            <a:noAutofit/>
          </a:bodyPr>
          <a:p>
            <a:pPr algn="ctr" indent="0"/>
            <a:r>
              <a:rPr lang="en-US" u="sng" sz="600" spc="50">
                <a:latin typeface="Tahoma"/>
              </a:rPr>
              <a:t>90 Days</a:t>
            </a:r>
          </a:p>
        </p:txBody>
      </p:sp>
      <p:sp>
        <p:nvSpPr>
          <p:cNvPr id="22" name=""/>
          <p:cNvSpPr/>
          <p:nvPr/>
        </p:nvSpPr>
        <p:spPr>
          <a:xfrm>
            <a:off x="3425952" y="5230368"/>
            <a:ext cx="536448" cy="109728"/>
          </a:xfrm>
          <a:prstGeom prst="rect">
            <a:avLst/>
          </a:prstGeom>
          <a:solidFill>
            <a:srgbClr val="CDD8DE"/>
          </a:solidFill>
        </p:spPr>
        <p:txBody>
          <a:bodyPr lIns="0" tIns="0" rIns="0" bIns="0" wrap="none">
            <a:noAutofit/>
          </a:bodyPr>
          <a:p>
            <a:pPr indent="0"/>
            <a:r>
              <a:rPr lang="en-US" sz="600" spc="50">
                <a:latin typeface="Tahoma"/>
              </a:rPr>
              <a:t>90 + Days</a:t>
            </a:r>
          </a:p>
        </p:txBody>
      </p:sp>
      <p:sp>
        <p:nvSpPr>
          <p:cNvPr id="23" name=""/>
          <p:cNvSpPr/>
          <p:nvPr/>
        </p:nvSpPr>
        <p:spPr>
          <a:xfrm>
            <a:off x="4047744" y="5151120"/>
            <a:ext cx="1280160" cy="286512"/>
          </a:xfrm>
          <a:prstGeom prst="rect">
            <a:avLst/>
          </a:prstGeom>
        </p:spPr>
        <p:txBody>
          <a:bodyPr lIns="0" tIns="0" rIns="0" bIns="0">
            <a:noAutofit/>
          </a:bodyPr>
          <a:p>
            <a:pPr algn="just" marL="431800" marR="431800" indent="-431800">
              <a:lnSpc>
                <a:spcPts val="720"/>
              </a:lnSpc>
            </a:pPr>
            <a:r>
              <a:rPr lang="en-US" sz="2600">
                <a:solidFill>
                  <a:srgbClr val="333333"/>
                </a:solidFill>
                <a:latin typeface="Verdana"/>
              </a:rPr>
              <a:t>X</a:t>
            </a:r>
            <a:r>
              <a:rPr lang="en-US" sz="600" spc="50">
                <a:solidFill>
                  <a:srgbClr val="333333"/>
                </a:solidFill>
                <a:latin typeface="Tahoma"/>
              </a:rPr>
              <a:t> Total Charge (excl.VAT)</a:t>
            </a:r>
          </a:p>
        </p:txBody>
      </p:sp>
      <p:sp>
        <p:nvSpPr>
          <p:cNvPr id="24" name=""/>
          <p:cNvSpPr/>
          <p:nvPr/>
        </p:nvSpPr>
        <p:spPr>
          <a:xfrm>
            <a:off x="5419344" y="5236464"/>
            <a:ext cx="512064" cy="85344"/>
          </a:xfrm>
          <a:prstGeom prst="rect">
            <a:avLst/>
          </a:prstGeom>
        </p:spPr>
        <p:txBody>
          <a:bodyPr lIns="0" tIns="0" rIns="0" bIns="0" wrap="none">
            <a:noAutofit/>
          </a:bodyPr>
          <a:p>
            <a:pPr indent="0"/>
            <a:r>
              <a:rPr lang="en-US" sz="600" spc="50">
                <a:solidFill>
                  <a:srgbClr val="333333"/>
                </a:solidFill>
                <a:latin typeface="Tahoma"/>
              </a:rPr>
              <a:t>Total VAT</a:t>
            </a:r>
          </a:p>
        </p:txBody>
      </p:sp>
      <p:sp>
        <p:nvSpPr>
          <p:cNvPr id="25" name=""/>
          <p:cNvSpPr/>
          <p:nvPr/>
        </p:nvSpPr>
        <p:spPr>
          <a:xfrm>
            <a:off x="6016752" y="5151120"/>
            <a:ext cx="292608" cy="286512"/>
          </a:xfrm>
          <a:prstGeom prst="rect">
            <a:avLst/>
          </a:prstGeom>
        </p:spPr>
        <p:txBody>
          <a:bodyPr lIns="0" tIns="0" rIns="0" bIns="0" wrap="none">
            <a:noAutofit/>
          </a:bodyPr>
          <a:p>
            <a:pPr indent="0"/>
            <a:r>
              <a:rPr lang="en-US" b="1" sz="2100">
                <a:latin typeface="Tahoma"/>
              </a:rPr>
              <a:t>DC</a:t>
            </a:r>
          </a:p>
        </p:txBody>
      </p:sp>
      <p:sp>
        <p:nvSpPr>
          <p:cNvPr id="26" name=""/>
          <p:cNvSpPr/>
          <p:nvPr/>
        </p:nvSpPr>
        <p:spPr>
          <a:xfrm>
            <a:off x="6333744" y="5224272"/>
            <a:ext cx="585216" cy="195072"/>
          </a:xfrm>
          <a:prstGeom prst="rect">
            <a:avLst/>
          </a:prstGeom>
        </p:spPr>
        <p:txBody>
          <a:bodyPr lIns="0" tIns="0" rIns="0" bIns="0">
            <a:noAutofit/>
          </a:bodyPr>
          <a:p>
            <a:pPr algn="r" indent="0">
              <a:lnSpc>
                <a:spcPts val="720"/>
              </a:lnSpc>
            </a:pPr>
            <a:r>
              <a:rPr lang="en-US" sz="600" spc="50">
                <a:solidFill>
                  <a:srgbClr val="333333"/>
                </a:solidFill>
                <a:latin typeface="Tahoma"/>
              </a:rPr>
              <a:t>Total Charge (incl.VAT)</a:t>
            </a:r>
          </a:p>
        </p:txBody>
      </p:sp>
      <p:sp>
        <p:nvSpPr>
          <p:cNvPr id="27" name=""/>
          <p:cNvSpPr/>
          <p:nvPr/>
        </p:nvSpPr>
        <p:spPr>
          <a:xfrm>
            <a:off x="7004304" y="5151120"/>
            <a:ext cx="182880" cy="280416"/>
          </a:xfrm>
          <a:prstGeom prst="rect">
            <a:avLst/>
          </a:prstGeom>
        </p:spPr>
        <p:txBody>
          <a:bodyPr lIns="0" tIns="0" rIns="0" bIns="0" wrap="none">
            <a:noAutofit/>
          </a:bodyPr>
          <a:p>
            <a:pPr indent="0"/>
            <a:r>
              <a:rPr lang="en-US" b="1" sz="2100">
                <a:latin typeface="Tahoma"/>
              </a:rPr>
              <a:t>D</a:t>
            </a:r>
          </a:p>
        </p:txBody>
      </p:sp>
      <p:graphicFrame>
        <p:nvGraphicFramePr>
          <p:cNvPr id="28" name=""/>
          <p:cNvGraphicFramePr>
            <a:graphicFrameLocks noGrp="1"/>
          </p:cNvGraphicFramePr>
          <p:nvPr/>
        </p:nvGraphicFramePr>
        <p:xfrm>
          <a:off x="1033272" y="5498592"/>
          <a:ext cx="4387088" cy="252984"/>
        </p:xfrm>
        <a:graphic>
          <a:graphicData uri="http://schemas.openxmlformats.org/drawingml/2006/table">
            <a:tbl>
              <a:tblPr/>
              <a:tblGrid>
                <a:gridCol w="612648"/>
                <a:gridCol w="950976"/>
                <a:gridCol w="637032"/>
                <a:gridCol w="414528"/>
                <a:gridCol w="563880"/>
                <a:gridCol w="338328"/>
                <a:gridCol w="661416"/>
                <a:gridCol w="208280"/>
              </a:tblGrid>
              <a:tr h="158496">
                <a:tc>
                  <a:txBody>
                    <a:bodyPr lIns="0" tIns="0" rIns="0" bIns="0">
                      <a:noAutofit/>
                    </a:bodyPr>
                    <a:p>
                      <a:pPr indent="0"/>
                      <a:r>
                        <a:rPr lang="en-US" sz="600" spc="50">
                          <a:solidFill>
                            <a:srgbClr val="333333"/>
                          </a:solidFill>
                          <a:latin typeface="Tahoma"/>
                        </a:rPr>
                        <a:t>0.00</a:t>
                      </a:r>
                    </a:p>
                  </a:txBody>
                  <a:tcPr marL="0" marR="0" marT="0" marB="0" anchor="b"/>
                </a:tc>
                <a:tc>
                  <a:txBody>
                    <a:bodyPr lIns="0" tIns="0" rIns="0" bIns="0">
                      <a:noAutofit/>
                    </a:bodyPr>
                    <a:p>
                      <a:pPr algn="ctr" indent="0"/>
                      <a:r>
                        <a:rPr lang="en-US" sz="600" spc="50">
                          <a:solidFill>
                            <a:srgbClr val="333333"/>
                          </a:solidFill>
                          <a:latin typeface="Tahoma"/>
                        </a:rPr>
                        <a:t>0.00</a:t>
                      </a:r>
                    </a:p>
                  </a:txBody>
                  <a:tcPr marL="0" marR="0" marT="0" marB="0" anchor="b"/>
                </a:tc>
                <a:tc>
                  <a:txBody>
                    <a:bodyPr lIns="0" tIns="0" rIns="0" bIns="0">
                      <a:noAutofit/>
                    </a:bodyPr>
                    <a:p>
                      <a:pPr algn="r" indent="0"/>
                      <a:r>
                        <a:rPr lang="en-US" sz="600" spc="50">
                          <a:solidFill>
                            <a:srgbClr val="333333"/>
                          </a:solidFill>
                          <a:latin typeface="Tahoma"/>
                        </a:rPr>
                        <a:t>0.00</a:t>
                      </a:r>
                    </a:p>
                  </a:txBody>
                  <a:tcPr marL="0" marR="0" marT="0" marB="0" anchor="b"/>
                </a:tc>
                <a:tc>
                  <a:txBody>
                    <a:bodyPr lIns="0" tIns="0" rIns="0" bIns="0">
                      <a:noAutofit/>
                    </a:bodyPr>
                    <a:p>
                      <a:pPr algn="just" indent="0"/>
                      <a:r>
                        <a:rPr lang="en-US" b="1" i="1" sz="900">
                          <a:solidFill>
                            <a:srgbClr val="333333"/>
                          </a:solidFill>
                          <a:latin typeface="Tahoma"/>
                        </a:rPr>
                        <a:t>f</a:t>
                      </a:r>
                    </a:p>
                  </a:txBody>
                  <a:tcPr marL="0" marR="0" marT="0" marB="0" anchor="ctr">
                    <a:solidFill>
                      <a:srgbClr val="CDD8DE"/>
                    </a:solidFill>
                  </a:tcPr>
                </a:tc>
                <a:tc>
                  <a:txBody>
                    <a:bodyPr lIns="0" tIns="0" rIns="0" bIns="0">
                      <a:noAutofit/>
                    </a:bodyPr>
                    <a:p>
                      <a:pPr algn="r" indent="0"/>
                      <a:r>
                        <a:rPr lang="en-US" sz="600" spc="50">
                          <a:solidFill>
                            <a:srgbClr val="333333"/>
                          </a:solidFill>
                          <a:latin typeface="Tahoma"/>
                        </a:rPr>
                        <a:t>X</a:t>
                      </a:r>
                    </a:p>
                    <a:p>
                      <a:pPr algn="r" indent="0"/>
                      <a:r>
                        <a:rPr lang="en-US" sz="600" spc="50">
                          <a:latin typeface="Tahoma"/>
                        </a:rPr>
                        <a:t>0.00</a:t>
                      </a:r>
                    </a:p>
                  </a:txBody>
                  <a:tcPr marL="0" marR="0" marT="0" marB="0">
                    <a:solidFill>
                      <a:srgbClr val="CDD8DE"/>
                    </a:solidFill>
                  </a:tcPr>
                </a:tc>
                <a:tc>
                  <a:txBody>
                    <a:bodyPr lIns="0" tIns="0" rIns="0" bIns="0">
                      <a:noAutofit/>
                    </a:bodyPr>
                    <a:p>
                      <a:pPr algn="just" indent="0"/>
                      <a:r>
                        <a:rPr lang="en-US" b="1" i="1" sz="900">
                          <a:solidFill>
                            <a:srgbClr val="333333"/>
                          </a:solidFill>
                          <a:latin typeface="Tahoma"/>
                        </a:rPr>
                        <a:t>f</a:t>
                      </a:r>
                    </a:p>
                  </a:txBody>
                  <a:tcPr marL="0" marR="0" marT="0" marB="0" anchor="b">
                    <a:solidFill>
                      <a:srgbClr val="CDD8DE"/>
                    </a:solidFill>
                  </a:tcPr>
                </a:tc>
                <a:tc>
                  <a:txBody>
                    <a:bodyPr lIns="0" tIns="0" rIns="0" bIns="0">
                      <a:noAutofit/>
                    </a:bodyPr>
                    <a:p>
                      <a:pPr algn="just" indent="0"/>
                      <a:r>
                        <a:rPr lang="en-US" sz="600" spc="50">
                          <a:latin typeface="Tahoma"/>
                        </a:rPr>
                        <a:t>-</a:t>
                      </a:r>
                    </a:p>
                    <a:p>
                      <a:pPr algn="r" indent="0"/>
                      <a:r>
                        <a:rPr lang="en-US" sz="600" spc="50">
                          <a:latin typeface="Tahoma"/>
                        </a:rPr>
                        <a:t>1022.71</a:t>
                      </a:r>
                    </a:p>
                  </a:txBody>
                  <a:tcPr marL="0" marR="0" marT="0" marB="0">
                    <a:solidFill>
                      <a:srgbClr val="CDD8DE"/>
                    </a:solidFill>
                  </a:tcPr>
                </a:tc>
                <a:tc>
                  <a:txBody>
                    <a:bodyPr lIns="0" tIns="0" rIns="0" bIns="0">
                      <a:noAutofit/>
                    </a:bodyPr>
                    <a:p>
                      <a:pPr indent="0"/>
                      <a:r>
                        <a:rPr lang="en-US" b="1" i="1" sz="900">
                          <a:latin typeface="Tahoma"/>
                        </a:rPr>
                        <a:t>f</a:t>
                      </a:r>
                    </a:p>
                  </a:txBody>
                  <a:tcPr marL="0" marR="0" marT="0" marB="0" anchor="ctr">
                    <a:solidFill>
                      <a:srgbClr val="CDD8DE"/>
                    </a:solidFill>
                  </a:tcPr>
                </a:tc>
              </a:tr>
              <a:tr h="94488">
                <a:tc>
                  <a:txBody>
                    <a:bodyPr lIns="0" tIns="0" rIns="0" bIns="0">
                      <a:noAutofit/>
                    </a:bodyPr>
                    <a:p>
                      <a:pPr marL="228600" indent="0"/>
                      <a:r>
                        <a:rPr lang="en-US" i="1" sz="1150">
                          <a:latin typeface="Tahoma"/>
                        </a:rPr>
                        <a:t>X</a:t>
                      </a:r>
                    </a:p>
                  </a:txBody>
                  <a:tcPr marL="0" marR="0" marT="0" marB="0"/>
                </a:tc>
                <a:tc>
                  <a:txBody>
                    <a:bodyPr lIns="0" tIns="0" rIns="0" bIns="0">
                      <a:noAutofit/>
                    </a:bodyPr>
                    <a:p>
                      <a:pPr marL="571500" indent="0"/>
                      <a:r>
                        <a:rPr lang="en-US" i="1" sz="1150">
                          <a:latin typeface="Tahoma"/>
                        </a:rPr>
                        <a:t>X</a:t>
                      </a:r>
                    </a:p>
                  </a:txBody>
                  <a:tcPr marL="0" marR="0" marT="0" marB="0"/>
                </a:tc>
                <a:tc>
                  <a:txBody>
                    <a:bodyPr lIns="0" tIns="0" rIns="0" bIns="0">
                      <a:noAutofit/>
                    </a:bodyPr>
                    <a:p>
                      <a:pPr algn="r" indent="0"/>
                      <a:r>
                        <a:rPr lang="en-US" b="1" i="1" sz="600">
                          <a:latin typeface="Verdana"/>
                        </a:rPr>
                        <a:t>J</a:t>
                      </a:r>
                    </a:p>
                  </a:txBody>
                  <a:tcPr marL="0" marR="0" marT="0" marB="0"/>
                </a:tc>
                <a:tc>
                  <a:txBody>
                    <a:bodyPr lIns="0" tIns="0" rIns="0" bIns="0">
                      <a:noAutofit/>
                    </a:bodyPr>
                    <a:p>
                      <a:pPr algn="just" indent="0"/>
                      <a:r>
                        <a:rPr lang="en-US" sz="600" spc="50">
                          <a:solidFill>
                            <a:srgbClr val="333333"/>
                          </a:solidFill>
                          <a:latin typeface="Tahoma"/>
                        </a:rPr>
                        <a:t>V</a:t>
                      </a:r>
                      <a:r>
                        <a:rPr lang="en-US" sz="600" spc="50">
                          <a:solidFill>
                            <a:srgbClr val="6B7072"/>
                          </a:solidFill>
                          <a:latin typeface="Tahoma"/>
                        </a:rPr>
                        <a:t>_</a:t>
                      </a:r>
                    </a:p>
                  </a:txBody>
                  <a:tcPr marL="0" marR="0" marT="0" marB="0">
                    <a:solidFill>
                      <a:srgbClr val="CDD8DE"/>
                    </a:solidFill>
                  </a:tcPr>
                </a:tc>
                <a:tc>
                  <a:txBody>
                    <a:bodyPr lIns="0" tIns="0" rIns="0" bIns="0">
                      <a:noAutofit/>
                    </a:bodyPr>
                    <a:p>
                      <a:pPr algn="just" marL="368300" indent="0"/>
                      <a:r>
                        <a:rPr lang="en-US" sz="1050">
                          <a:solidFill>
                            <a:srgbClr val="6B7072"/>
                          </a:solidFill>
                          <a:latin typeface="Palatino Linotype"/>
                        </a:rPr>
                        <a:t>_</a:t>
                      </a:r>
                      <a:r>
                        <a:rPr lang="en-US" b="1" i="1" sz="900">
                          <a:solidFill>
                            <a:srgbClr val="4D5254"/>
                          </a:solidFill>
                          <a:latin typeface="Tahoma"/>
                        </a:rPr>
                        <a:t>J</a:t>
                      </a:r>
                    </a:p>
                  </a:txBody>
                  <a:tcPr marL="0" marR="0" marT="0" marB="0">
                    <a:solidFill>
                      <a:srgbClr val="CDD8DE"/>
                    </a:solidFill>
                  </a:tcPr>
                </a:tc>
                <a:tc>
                  <a:txBody>
                    <a:bodyPr lIns="0" tIns="0" rIns="0" bIns="0">
                      <a:noAutofit/>
                    </a:bodyPr>
                    <a:p>
                      <a:pPr algn="just" indent="0"/>
                      <a:r>
                        <a:rPr lang="en-US" sz="600" spc="50">
                          <a:solidFill>
                            <a:srgbClr val="4D5254"/>
                          </a:solidFill>
                          <a:latin typeface="Tahoma"/>
                        </a:rPr>
                        <a:t>%</a:t>
                      </a:r>
                      <a:r>
                        <a:rPr lang="en-US" sz="600" spc="50">
                          <a:solidFill>
                            <a:srgbClr val="6B7072"/>
                          </a:solidFill>
                          <a:latin typeface="Tahoma"/>
                        </a:rPr>
                        <a:t>_</a:t>
                      </a:r>
                    </a:p>
                  </a:txBody>
                  <a:tcPr marL="0" marR="0" marT="0" marB="0">
                    <a:solidFill>
                      <a:srgbClr val="CDD8DE"/>
                    </a:solidFill>
                  </a:tcPr>
                </a:tc>
                <a:tc>
                  <a:txBody>
                    <a:bodyPr lIns="0" tIns="0" rIns="0" bIns="0">
                      <a:noAutofit/>
                    </a:bodyPr>
                    <a:p>
                      <a:pPr algn="just" indent="0"/>
                      <a:r>
                        <a:rPr lang="en-US" sz="1050">
                          <a:solidFill>
                            <a:srgbClr val="6B7072"/>
                          </a:solidFill>
                          <a:latin typeface="Palatino Linotype"/>
                        </a:rPr>
                        <a:t>_</a:t>
                      </a:r>
                      <a:r>
                        <a:rPr lang="en-US" b="1" i="1" sz="900">
                          <a:solidFill>
                            <a:srgbClr val="4D5254"/>
                          </a:solidFill>
                          <a:latin typeface="Tahoma"/>
                        </a:rPr>
                        <a:t>J</a:t>
                      </a:r>
                    </a:p>
                  </a:txBody>
                  <a:tcPr marL="0" marR="0" marT="0" marB="0">
                    <a:solidFill>
                      <a:srgbClr val="CDD8DE"/>
                    </a:solidFill>
                  </a:tcPr>
                </a:tc>
                <a:tc>
                  <a:txBody>
                    <a:bodyPr lIns="0" tIns="0" rIns="0" bIns="0">
                      <a:noAutofit/>
                    </a:bodyPr>
                    <a:p>
                      <a:pPr indent="0"/>
                      <a:r>
                        <a:rPr lang="en-US" sz="600" spc="50">
                          <a:solidFill>
                            <a:srgbClr val="1E1F20"/>
                          </a:solidFill>
                          <a:latin typeface="Tahoma"/>
                        </a:rPr>
                        <a:t>V</a:t>
                      </a:r>
                    </a:p>
                  </a:txBody>
                  <a:tcPr marL="0" marR="0" marT="0" marB="0">
                    <a:solidFill>
                      <a:srgbClr val="CDD8DE"/>
                    </a:solidFill>
                  </a:tcPr>
                </a:tc>
              </a:tr>
            </a:tbl>
          </a:graphicData>
        </a:graphic>
      </p:graphicFrame>
      <p:sp>
        <p:nvSpPr>
          <p:cNvPr id="29" name=""/>
          <p:cNvSpPr/>
          <p:nvPr/>
        </p:nvSpPr>
        <p:spPr>
          <a:xfrm>
            <a:off x="5809488" y="5553456"/>
            <a:ext cx="341376" cy="85344"/>
          </a:xfrm>
          <a:prstGeom prst="rect">
            <a:avLst/>
          </a:prstGeom>
          <a:solidFill>
            <a:srgbClr val="CDD8DE"/>
          </a:solidFill>
        </p:spPr>
        <p:txBody>
          <a:bodyPr lIns="0" tIns="0" rIns="0" bIns="0" wrap="none">
            <a:noAutofit/>
          </a:bodyPr>
          <a:p>
            <a:pPr indent="0"/>
            <a:r>
              <a:rPr lang="en-US" sz="600" spc="50">
                <a:latin typeface="Tahoma"/>
              </a:rPr>
              <a:t>-53.14</a:t>
            </a:r>
          </a:p>
        </p:txBody>
      </p:sp>
      <p:sp>
        <p:nvSpPr>
          <p:cNvPr id="30" name=""/>
          <p:cNvSpPr/>
          <p:nvPr/>
        </p:nvSpPr>
        <p:spPr>
          <a:xfrm>
            <a:off x="6736080" y="5553456"/>
            <a:ext cx="365760" cy="85344"/>
          </a:xfrm>
          <a:prstGeom prst="rect">
            <a:avLst/>
          </a:prstGeom>
          <a:solidFill>
            <a:srgbClr val="CDD8DE"/>
          </a:solidFill>
        </p:spPr>
        <p:txBody>
          <a:bodyPr lIns="0" tIns="0" rIns="0" bIns="0" wrap="none">
            <a:noAutofit/>
          </a:bodyPr>
          <a:p>
            <a:pPr indent="0"/>
            <a:r>
              <a:rPr lang="en-US" sz="600" spc="50">
                <a:latin typeface="Tahoma"/>
              </a:rPr>
              <a:t>969.57</a:t>
            </a:r>
          </a:p>
        </p:txBody>
      </p:sp>
      <p:sp>
        <p:nvSpPr>
          <p:cNvPr id="31" name=""/>
          <p:cNvSpPr/>
          <p:nvPr/>
        </p:nvSpPr>
        <p:spPr>
          <a:xfrm>
            <a:off x="1280160" y="5888736"/>
            <a:ext cx="975360" cy="85344"/>
          </a:xfrm>
          <a:prstGeom prst="rect">
            <a:avLst/>
          </a:prstGeom>
        </p:spPr>
        <p:txBody>
          <a:bodyPr lIns="0" tIns="0" rIns="0" bIns="0" wrap="none">
            <a:noAutofit/>
          </a:bodyPr>
          <a:p>
            <a:pPr indent="0"/>
            <a:r>
              <a:rPr lang="en-US" b="1" sz="600">
                <a:solidFill>
                  <a:srgbClr val="333333"/>
                </a:solidFill>
                <a:latin typeface="Tahoma"/>
              </a:rPr>
              <a:t>Amount In Advance</a:t>
            </a:r>
          </a:p>
        </p:txBody>
      </p:sp>
      <p:sp>
        <p:nvSpPr>
          <p:cNvPr id="32" name=""/>
          <p:cNvSpPr/>
          <p:nvPr/>
        </p:nvSpPr>
        <p:spPr>
          <a:xfrm>
            <a:off x="2962656" y="5870448"/>
            <a:ext cx="231648" cy="85344"/>
          </a:xfrm>
          <a:prstGeom prst="rect">
            <a:avLst/>
          </a:prstGeom>
        </p:spPr>
        <p:txBody>
          <a:bodyPr lIns="0" tIns="0" rIns="0" bIns="0" wrap="none">
            <a:noAutofit/>
          </a:bodyPr>
          <a:p>
            <a:pPr indent="0"/>
            <a:r>
              <a:rPr lang="en-US" sz="600" spc="50">
                <a:solidFill>
                  <a:srgbClr val="333333"/>
                </a:solidFill>
                <a:latin typeface="Tahoma"/>
              </a:rPr>
              <a:t>0.00</a:t>
            </a:r>
          </a:p>
        </p:txBody>
      </p:sp>
      <p:sp>
        <p:nvSpPr>
          <p:cNvPr id="33" name=""/>
          <p:cNvSpPr/>
          <p:nvPr/>
        </p:nvSpPr>
        <p:spPr>
          <a:xfrm>
            <a:off x="3669792" y="5888736"/>
            <a:ext cx="499872" cy="85344"/>
          </a:xfrm>
          <a:prstGeom prst="rect">
            <a:avLst/>
          </a:prstGeom>
        </p:spPr>
        <p:txBody>
          <a:bodyPr lIns="0" tIns="0" rIns="0" bIns="0" wrap="none">
            <a:noAutofit/>
          </a:bodyPr>
          <a:p>
            <a:pPr indent="0"/>
            <a:r>
              <a:rPr lang="en-US" b="1" sz="600">
                <a:solidFill>
                  <a:srgbClr val="333333"/>
                </a:solidFill>
                <a:latin typeface="Tahoma"/>
              </a:rPr>
              <a:t>Due Date</a:t>
            </a:r>
          </a:p>
        </p:txBody>
      </p:sp>
      <p:sp>
        <p:nvSpPr>
          <p:cNvPr id="34" name=""/>
          <p:cNvSpPr/>
          <p:nvPr/>
        </p:nvSpPr>
        <p:spPr>
          <a:xfrm>
            <a:off x="4200144" y="5809488"/>
            <a:ext cx="1054608" cy="268224"/>
          </a:xfrm>
          <a:prstGeom prst="rect">
            <a:avLst/>
          </a:prstGeom>
        </p:spPr>
        <p:txBody>
          <a:bodyPr lIns="0" tIns="0" rIns="0" bIns="0" wrap="none">
            <a:noAutofit/>
          </a:bodyPr>
          <a:p>
            <a:pPr algn="ctr" indent="0"/>
            <a:r>
              <a:rPr lang="en-US" sz="600" spc="50">
                <a:solidFill>
                  <a:srgbClr val="333333"/>
                </a:solidFill>
                <a:latin typeface="Tahoma"/>
              </a:rPr>
              <a:t>2025-10-13</a:t>
            </a:r>
          </a:p>
        </p:txBody>
      </p:sp>
      <p:sp>
        <p:nvSpPr>
          <p:cNvPr id="35" name=""/>
          <p:cNvSpPr/>
          <p:nvPr/>
        </p:nvSpPr>
        <p:spPr>
          <a:xfrm>
            <a:off x="5309616" y="5882640"/>
            <a:ext cx="835152" cy="109728"/>
          </a:xfrm>
          <a:prstGeom prst="rect">
            <a:avLst/>
          </a:prstGeom>
        </p:spPr>
        <p:txBody>
          <a:bodyPr lIns="0" tIns="0" rIns="0" bIns="0" wrap="none">
            <a:noAutofit/>
          </a:bodyPr>
          <a:p>
            <a:pPr indent="0"/>
            <a:r>
              <a:rPr lang="en-US" b="1" sz="600">
                <a:solidFill>
                  <a:srgbClr val="333333"/>
                </a:solidFill>
                <a:latin typeface="Tahoma"/>
              </a:rPr>
              <a:t>Amount Payable</a:t>
            </a:r>
          </a:p>
        </p:txBody>
      </p:sp>
      <p:sp>
        <p:nvSpPr>
          <p:cNvPr id="36" name=""/>
          <p:cNvSpPr/>
          <p:nvPr/>
        </p:nvSpPr>
        <p:spPr>
          <a:xfrm>
            <a:off x="6175248" y="5809488"/>
            <a:ext cx="1018032" cy="268224"/>
          </a:xfrm>
          <a:prstGeom prst="rect">
            <a:avLst/>
          </a:prstGeom>
        </p:spPr>
        <p:txBody>
          <a:bodyPr lIns="0" tIns="0" rIns="0" bIns="0" wrap="none">
            <a:noAutofit/>
          </a:bodyPr>
          <a:p>
            <a:pPr algn="r" indent="0"/>
            <a:r>
              <a:rPr lang="en-US" sz="600" spc="50">
                <a:solidFill>
                  <a:srgbClr val="333333"/>
                </a:solidFill>
                <a:latin typeface="Tahoma"/>
              </a:rPr>
              <a:t>970.00</a:t>
            </a:r>
            <a:r>
              <a:rPr lang="en-US" sz="600" spc="50">
                <a:latin typeface="Tahoma"/>
              </a:rPr>
              <a:t>^</a:t>
            </a:r>
          </a:p>
        </p:txBody>
      </p:sp>
      <p:sp>
        <p:nvSpPr>
          <p:cNvPr id="37" name=""/>
          <p:cNvSpPr/>
          <p:nvPr/>
        </p:nvSpPr>
        <p:spPr>
          <a:xfrm>
            <a:off x="396240" y="6163056"/>
            <a:ext cx="469392" cy="85344"/>
          </a:xfrm>
          <a:prstGeom prst="rect">
            <a:avLst/>
          </a:prstGeom>
        </p:spPr>
        <p:txBody>
          <a:bodyPr lIns="0" tIns="0" rIns="0" bIns="0" wrap="none">
            <a:noAutofit/>
          </a:bodyPr>
          <a:p>
            <a:pPr indent="0"/>
            <a:r>
              <a:rPr lang="en-US" sz="600" spc="50">
                <a:solidFill>
                  <a:srgbClr val="333333"/>
                </a:solidFill>
                <a:latin typeface="Tahoma"/>
              </a:rPr>
              <a:t>MESSAGE</a:t>
            </a:r>
          </a:p>
        </p:txBody>
      </p:sp>
      <p:sp>
        <p:nvSpPr>
          <p:cNvPr id="38" name=""/>
          <p:cNvSpPr/>
          <p:nvPr/>
        </p:nvSpPr>
        <p:spPr>
          <a:xfrm>
            <a:off x="883920" y="6912864"/>
            <a:ext cx="1243584" cy="134112"/>
          </a:xfrm>
          <a:prstGeom prst="rect">
            <a:avLst/>
          </a:prstGeom>
        </p:spPr>
        <p:txBody>
          <a:bodyPr lIns="0" tIns="0" rIns="0" bIns="0" wrap="none">
            <a:noAutofit/>
          </a:bodyPr>
          <a:p>
            <a:pPr indent="0"/>
            <a:r>
              <a:rPr lang="en-US" sz="750">
                <a:solidFill>
                  <a:srgbClr val="0000FE"/>
                </a:solidFill>
                <a:latin typeface="Tahoma"/>
                <a:hlinkClick r:id="rLinkId3"/>
              </a:rPr>
              <a:t>www.ekurhuleni.gov.za</a:t>
            </a:r>
          </a:p>
        </p:txBody>
      </p:sp>
      <p:sp>
        <p:nvSpPr>
          <p:cNvPr id="39" name=""/>
          <p:cNvSpPr/>
          <p:nvPr/>
        </p:nvSpPr>
        <p:spPr>
          <a:xfrm>
            <a:off x="2109216" y="7242048"/>
            <a:ext cx="1670304" cy="109728"/>
          </a:xfrm>
          <a:prstGeom prst="rect">
            <a:avLst/>
          </a:prstGeom>
        </p:spPr>
        <p:txBody>
          <a:bodyPr lIns="0" tIns="0" rIns="0" bIns="0" wrap="none">
            <a:noAutofit/>
          </a:bodyPr>
          <a:p>
            <a:pPr indent="0"/>
            <a:r>
              <a:rPr lang="en-US" sz="600" spc="50">
                <a:latin typeface="Tahoma"/>
                <a:hlinkClick r:id="rLinkId4"/>
              </a:rPr>
              <a:t>www.siyakhokha.ekurhuleni.gov.za</a:t>
            </a:r>
          </a:p>
        </p:txBody>
      </p:sp>
      <p:sp>
        <p:nvSpPr>
          <p:cNvPr id="40" name=""/>
          <p:cNvSpPr/>
          <p:nvPr/>
        </p:nvSpPr>
        <p:spPr>
          <a:xfrm>
            <a:off x="2407920" y="7443216"/>
            <a:ext cx="1450848" cy="207264"/>
          </a:xfrm>
          <a:prstGeom prst="rect">
            <a:avLst/>
          </a:prstGeom>
        </p:spPr>
        <p:txBody>
          <a:bodyPr lIns="0" tIns="0" rIns="0" bIns="0">
            <a:noAutofit/>
          </a:bodyPr>
          <a:p>
            <a:pPr algn="just" indent="0">
              <a:lnSpc>
                <a:spcPts val="768"/>
              </a:lnSpc>
            </a:pPr>
            <a:r>
              <a:rPr lang="en-US" sz="600" spc="50">
                <a:solidFill>
                  <a:srgbClr val="333333"/>
                </a:solidFill>
                <a:latin typeface="Tahoma"/>
              </a:rPr>
              <a:t>Siya khokha Portal    </a:t>
            </a:r>
            <a:r>
              <a:rPr lang="en-US" cap="small" sz="600" spc="50">
                <a:latin typeface="Tahoma"/>
              </a:rPr>
              <a:t>j</a:t>
            </a:r>
          </a:p>
          <a:p>
            <a:pPr algn="just" indent="0">
              <a:lnSpc>
                <a:spcPts val="768"/>
              </a:lnSpc>
            </a:pPr>
            <a:r>
              <a:rPr lang="en-US" sz="600" spc="50">
                <a:latin typeface="Tahoma"/>
                <a:hlinkClick r:id="rLinkId5"/>
              </a:rPr>
              <a:t>siya khokha@ekurhuleni.gov.za</a:t>
            </a:r>
            <a:r>
              <a:rPr lang="en-US" baseline="30000" sz="600" spc="50">
                <a:latin typeface="Tahoma"/>
              </a:rPr>
              <a:t>t</a:t>
            </a:r>
          </a:p>
        </p:txBody>
      </p:sp>
      <p:sp>
        <p:nvSpPr>
          <p:cNvPr id="41" name=""/>
          <p:cNvSpPr/>
          <p:nvPr/>
        </p:nvSpPr>
        <p:spPr>
          <a:xfrm>
            <a:off x="4059936" y="7345680"/>
            <a:ext cx="1353312" cy="396240"/>
          </a:xfrm>
          <a:prstGeom prst="rect">
            <a:avLst/>
          </a:prstGeom>
        </p:spPr>
        <p:txBody>
          <a:bodyPr lIns="0" tIns="0" rIns="0" bIns="0">
            <a:noAutofit/>
          </a:bodyPr>
          <a:p>
            <a:pPr marR="342900" indent="0">
              <a:lnSpc>
                <a:spcPts val="768"/>
              </a:lnSpc>
            </a:pPr>
            <a:r>
              <a:rPr lang="en-US" sz="600" spc="50">
                <a:solidFill>
                  <a:srgbClr val="333333"/>
                </a:solidFill>
                <a:latin typeface="Tahoma"/>
              </a:rPr>
              <a:t>Phone: 0860 543 000 Email:</a:t>
            </a:r>
          </a:p>
          <a:p>
            <a:pPr algn="just" indent="0">
              <a:lnSpc>
                <a:spcPts val="768"/>
              </a:lnSpc>
            </a:pPr>
            <a:r>
              <a:rPr lang="en-US" sz="600" spc="50">
                <a:solidFill>
                  <a:srgbClr val="333333"/>
                </a:solidFill>
                <a:latin typeface="Tahoma"/>
                <a:hlinkClick r:id="rLinkId6"/>
              </a:rPr>
              <a:t>callcentre@ekurhuleni.gov.za</a:t>
            </a:r>
            <a:r>
              <a:rPr lang="en-US" sz="600" spc="50">
                <a:solidFill>
                  <a:srgbClr val="333333"/>
                </a:solidFill>
                <a:latin typeface="Tahoma"/>
              </a:rPr>
              <a:t> Twitter: @EMM_Call_Centre</a:t>
            </a:r>
          </a:p>
        </p:txBody>
      </p:sp>
      <p:sp>
        <p:nvSpPr>
          <p:cNvPr id="42" name=""/>
          <p:cNvSpPr/>
          <p:nvPr/>
        </p:nvSpPr>
        <p:spPr>
          <a:xfrm>
            <a:off x="920496" y="7748016"/>
            <a:ext cx="1200912" cy="103632"/>
          </a:xfrm>
          <a:prstGeom prst="rect">
            <a:avLst/>
          </a:prstGeom>
        </p:spPr>
        <p:txBody>
          <a:bodyPr lIns="0" tIns="0" rIns="0" bIns="0" wrap="none">
            <a:noAutofit/>
          </a:bodyPr>
          <a:p>
            <a:pPr indent="0"/>
            <a:r>
              <a:rPr lang="en-US" sz="600" spc="50">
                <a:solidFill>
                  <a:srgbClr val="333333"/>
                </a:solidFill>
                <a:latin typeface="Tahoma"/>
              </a:rPr>
              <a:t>a partnership that works</a:t>
            </a:r>
          </a:p>
        </p:txBody>
      </p:sp>
      <p:sp>
        <p:nvSpPr>
          <p:cNvPr id="43" name=""/>
          <p:cNvSpPr/>
          <p:nvPr/>
        </p:nvSpPr>
        <p:spPr>
          <a:xfrm>
            <a:off x="6571488" y="7168896"/>
            <a:ext cx="664464" cy="176784"/>
          </a:xfrm>
          <a:prstGeom prst="rect">
            <a:avLst/>
          </a:prstGeom>
        </p:spPr>
        <p:txBody>
          <a:bodyPr lIns="0" tIns="0" rIns="0" bIns="0">
            <a:noAutofit/>
          </a:bodyPr>
          <a:p>
            <a:pPr algn="r" indent="0"/>
            <a:r>
              <a:rPr lang="en-US" b="1" sz="600">
                <a:solidFill>
                  <a:srgbClr val="333333"/>
                </a:solidFill>
                <a:latin typeface="Tahoma"/>
              </a:rPr>
              <a:t>REMITTANCE</a:t>
            </a:r>
          </a:p>
          <a:p>
            <a:pPr algn="r" indent="0"/>
            <a:r>
              <a:rPr lang="en-US" b="1" sz="600">
                <a:solidFill>
                  <a:srgbClr val="333333"/>
                </a:solidFill>
                <a:latin typeface="Tahoma"/>
              </a:rPr>
              <a:t>ADVICE</a:t>
            </a:r>
          </a:p>
        </p:txBody>
      </p:sp>
      <p:sp>
        <p:nvSpPr>
          <p:cNvPr id="44" name=""/>
          <p:cNvSpPr/>
          <p:nvPr/>
        </p:nvSpPr>
        <p:spPr>
          <a:xfrm>
            <a:off x="6556248" y="7507224"/>
            <a:ext cx="627888" cy="152400"/>
          </a:xfrm>
          <a:prstGeom prst="rect">
            <a:avLst/>
          </a:prstGeom>
        </p:spPr>
        <p:txBody>
          <a:bodyPr lIns="0" tIns="0" rIns="0" bIns="0">
            <a:noAutofit/>
          </a:bodyPr>
          <a:p>
            <a:pPr algn="r" indent="0">
              <a:lnSpc>
                <a:spcPts val="720"/>
              </a:lnSpc>
            </a:pPr>
            <a:r>
              <a:rPr lang="en-US" b="1" sz="600">
                <a:solidFill>
                  <a:srgbClr val="333333"/>
                </a:solidFill>
                <a:latin typeface="Tahoma"/>
              </a:rPr>
              <a:t>VAT Reg No. 4280193493</a:t>
            </a:r>
          </a:p>
        </p:txBody>
      </p:sp>
      <p:sp>
        <p:nvSpPr>
          <p:cNvPr id="45" name=""/>
          <p:cNvSpPr/>
          <p:nvPr/>
        </p:nvSpPr>
        <p:spPr>
          <a:xfrm>
            <a:off x="1133856" y="8412480"/>
            <a:ext cx="2151888" cy="426720"/>
          </a:xfrm>
          <a:prstGeom prst="rect">
            <a:avLst/>
          </a:prstGeom>
        </p:spPr>
        <p:txBody>
          <a:bodyPr lIns="0" tIns="0" rIns="0" bIns="0">
            <a:noAutofit/>
          </a:bodyPr>
          <a:p>
            <a:pPr indent="0"/>
            <a:r>
              <a:rPr lang="en-US" sz="600" spc="50">
                <a:solidFill>
                  <a:srgbClr val="333333"/>
                </a:solidFill>
                <a:latin typeface="Tahoma"/>
              </a:rPr>
              <a:t>&gt; &gt;&gt;&gt;&gt;&gt;&gt; 9 1339 2608 2948</a:t>
            </a:r>
          </a:p>
          <a:p>
            <a:pPr indent="0"/>
            <a:r>
              <a:rPr lang="en-US" sz="600" spc="100">
                <a:solidFill>
                  <a:srgbClr val="333333"/>
                </a:solidFill>
                <a:latin typeface="Palatino Linotype"/>
              </a:rPr>
              <a:t>510</a:t>
            </a:r>
          </a:p>
          <a:p>
            <a:pPr algn="just" marL="800100" indent="0"/>
            <a:r>
              <a:rPr lang="en-US" i="1" sz="900" spc="-50">
                <a:solidFill>
                  <a:srgbClr val="333333"/>
                </a:solidFill>
                <a:latin typeface="Impact"/>
              </a:rPr>
              <a:t>(</a:t>
            </a:r>
            <a:r>
              <a:rPr lang="en-US" i="1" u="sng" sz="900" spc="-50">
                <a:solidFill>
                  <a:srgbClr val="333333"/>
                </a:solidFill>
                <a:latin typeface="Impact"/>
              </a:rPr>
              <a:t>P</a:t>
            </a:r>
            <a:r>
              <a:rPr lang="en-US" i="1" u="sng" baseline="30000" sz="900" spc="-50">
                <a:solidFill>
                  <a:srgbClr val="333333"/>
                </a:solidFill>
                <a:latin typeface="Impact"/>
              </a:rPr>
              <a:t>a</a:t>
            </a:r>
            <a:r>
              <a:rPr lang="en-US" i="1" u="sng" sz="900" spc="-50">
                <a:solidFill>
                  <a:srgbClr val="333333"/>
                </a:solidFill>
                <a:latin typeface="Impact"/>
              </a:rPr>
              <a:t> y@)</a:t>
            </a:r>
            <a:r>
              <a:rPr lang="en-US" sz="650" spc="100">
                <a:solidFill>
                  <a:srgbClr val="333333"/>
                </a:solidFill>
                <a:latin typeface="Palatino Linotype"/>
              </a:rPr>
              <a:t>    H5442608294851</a:t>
            </a:r>
          </a:p>
          <a:p>
            <a:pPr indent="0"/>
            <a:r>
              <a:rPr lang="en-US" sz="600" spc="50">
                <a:solidFill>
                  <a:srgbClr val="333333"/>
                </a:solidFill>
                <a:latin typeface="Tahoma"/>
              </a:rPr>
              <a:t>2608294851</a:t>
            </a:r>
          </a:p>
        </p:txBody>
      </p:sp>
      <p:graphicFrame>
        <p:nvGraphicFramePr>
          <p:cNvPr id="46" name=""/>
          <p:cNvGraphicFramePr>
            <a:graphicFrameLocks noGrp="1"/>
          </p:cNvGraphicFramePr>
          <p:nvPr/>
        </p:nvGraphicFramePr>
        <p:xfrm>
          <a:off x="3983736" y="7900416"/>
          <a:ext cx="3075432" cy="286512"/>
        </p:xfrm>
        <a:graphic>
          <a:graphicData uri="http://schemas.openxmlformats.org/drawingml/2006/table">
            <a:tbl>
              <a:tblPr/>
              <a:tblGrid>
                <a:gridCol w="1743456"/>
                <a:gridCol w="1331976"/>
              </a:tblGrid>
              <a:tr h="112776">
                <a:tc>
                  <a:txBody>
                    <a:bodyPr lIns="0" tIns="0" rIns="0" bIns="0">
                      <a:noAutofit/>
                    </a:bodyPr>
                    <a:p>
                      <a:pPr indent="0"/>
                      <a:r>
                        <a:rPr lang="en-US" sz="600" spc="50">
                          <a:solidFill>
                            <a:srgbClr val="333333"/>
                          </a:solidFill>
                          <a:latin typeface="Tahoma"/>
                        </a:rPr>
                        <a:t>Name</a:t>
                      </a:r>
                    </a:p>
                  </a:txBody>
                  <a:tcPr marL="0" marR="0" marT="0" marB="0" anchor="b"/>
                </a:tc>
                <a:tc>
                  <a:txBody>
                    <a:bodyPr lIns="0" tIns="0" rIns="0" bIns="0">
                      <a:noAutofit/>
                    </a:bodyPr>
                    <a:p>
                      <a:pPr algn="r" indent="0"/>
                      <a:r>
                        <a:rPr lang="en-US" sz="600" spc="50">
                          <a:latin typeface="Tahoma"/>
                        </a:rPr>
                        <a:t>\</a:t>
                      </a:r>
                    </a:p>
                  </a:txBody>
                  <a:tcPr marL="0" marR="0" marT="0" marB="0"/>
                </a:tc>
              </a:tr>
              <a:tr h="100584">
                <a:tc>
                  <a:txBody>
                    <a:bodyPr lIns="0" tIns="0" rIns="0" bIns="0">
                      <a:noAutofit/>
                    </a:bodyPr>
                    <a:p>
                      <a:pPr indent="0"/>
                      <a:r>
                        <a:rPr lang="en-US" sz="600" spc="50">
                          <a:solidFill>
                            <a:srgbClr val="333333"/>
                          </a:solidFill>
                          <a:latin typeface="Tahoma"/>
                        </a:rPr>
                        <a:t>M MKELA</a:t>
                      </a:r>
                    </a:p>
                  </a:txBody>
                  <a:tcPr marL="0" marR="0" marT="0" marB="0"/>
                </a:tc>
                <a:tc>
                  <a:txBody>
                    <a:bodyPr lIns="0" tIns="0" rIns="0" bIns="0">
                      <a:noAutofit/>
                    </a:bodyPr>
                    <a:p>
                      <a:endParaRPr sz="500"/>
                    </a:p>
                  </a:txBody>
                  <a:tcPr marL="0" marR="0" marT="0" marB="0"/>
                </a:tc>
              </a:tr>
              <a:tr h="73152">
                <a:tc>
                  <a:txBody>
                    <a:bodyPr lIns="0" tIns="0" rIns="0" bIns="0">
                      <a:noAutofit/>
                    </a:bodyPr>
                    <a:p>
                      <a:pPr indent="0"/>
                      <a:r>
                        <a:rPr lang="en-US" sz="600" spc="50">
                          <a:latin typeface="Tahoma"/>
                        </a:rPr>
                        <a:t>v</a:t>
                      </a:r>
                    </a:p>
                  </a:txBody>
                  <a:tcPr marL="0" marR="0" marT="0" marB="0" anchor="b"/>
                </a:tc>
                <a:tc>
                  <a:txBody>
                    <a:bodyPr lIns="0" tIns="0" rIns="0" bIns="0">
                      <a:noAutofit/>
                    </a:bodyPr>
                    <a:p>
                      <a:pPr algn="r" indent="0"/>
                      <a:r>
                        <a:rPr lang="en-US" sz="600" spc="50">
                          <a:latin typeface="Tahoma"/>
                        </a:rPr>
                        <a:t>y</a:t>
                      </a:r>
                    </a:p>
                  </a:txBody>
                  <a:tcPr marL="0" marR="0" marT="0" marB="0" anchor="b"/>
                </a:tc>
              </a:tr>
            </a:tbl>
          </a:graphicData>
        </a:graphic>
      </p:graphicFrame>
      <p:graphicFrame>
        <p:nvGraphicFramePr>
          <p:cNvPr id="47" name=""/>
          <p:cNvGraphicFramePr>
            <a:graphicFrameLocks noGrp="1"/>
          </p:cNvGraphicFramePr>
          <p:nvPr/>
        </p:nvGraphicFramePr>
        <p:xfrm>
          <a:off x="3983736" y="8235696"/>
          <a:ext cx="3075432" cy="283464"/>
        </p:xfrm>
        <a:graphic>
          <a:graphicData uri="http://schemas.openxmlformats.org/drawingml/2006/table">
            <a:tbl>
              <a:tblPr/>
              <a:tblGrid>
                <a:gridCol w="1914144"/>
                <a:gridCol w="1161288"/>
              </a:tblGrid>
              <a:tr h="109728">
                <a:tc>
                  <a:txBody>
                    <a:bodyPr lIns="0" tIns="0" rIns="0" bIns="0">
                      <a:noAutofit/>
                    </a:bodyPr>
                    <a:p>
                      <a:pPr indent="0"/>
                      <a:r>
                        <a:rPr lang="en-US" sz="600" spc="50">
                          <a:solidFill>
                            <a:srgbClr val="333333"/>
                          </a:solidFill>
                          <a:latin typeface="Tahoma"/>
                        </a:rPr>
                        <a:t>Account Number</a:t>
                      </a:r>
                    </a:p>
                  </a:txBody>
                  <a:tcPr marL="0" marR="0" marT="0" marB="0"/>
                </a:tc>
                <a:tc>
                  <a:txBody>
                    <a:bodyPr lIns="0" tIns="0" rIns="0" bIns="0">
                      <a:noAutofit/>
                    </a:bodyPr>
                    <a:p>
                      <a:pPr algn="r" indent="0"/>
                      <a:r>
                        <a:rPr lang="en-US" sz="600" spc="50">
                          <a:latin typeface="Tahoma"/>
                        </a:rPr>
                        <a:t>A</a:t>
                      </a:r>
                    </a:p>
                  </a:txBody>
                  <a:tcPr marL="0" marR="0" marT="0" marB="0"/>
                </a:tc>
              </a:tr>
              <a:tr h="103632">
                <a:tc>
                  <a:txBody>
                    <a:bodyPr lIns="0" tIns="0" rIns="0" bIns="0">
                      <a:noAutofit/>
                    </a:bodyPr>
                    <a:p>
                      <a:pPr indent="0"/>
                      <a:r>
                        <a:rPr lang="en-US" sz="600" spc="50">
                          <a:solidFill>
                            <a:srgbClr val="333333"/>
                          </a:solidFill>
                          <a:latin typeface="Tahoma"/>
                        </a:rPr>
                        <a:t>2608294851</a:t>
                      </a:r>
                    </a:p>
                  </a:txBody>
                  <a:tcPr marL="0" marR="0" marT="0" marB="0"/>
                </a:tc>
                <a:tc>
                  <a:txBody>
                    <a:bodyPr lIns="0" tIns="0" rIns="0" bIns="0">
                      <a:noAutofit/>
                    </a:bodyPr>
                    <a:p>
                      <a:endParaRPr sz="500"/>
                    </a:p>
                  </a:txBody>
                  <a:tcPr marL="0" marR="0" marT="0" marB="0"/>
                </a:tc>
              </a:tr>
              <a:tr h="70104">
                <a:tc>
                  <a:txBody>
                    <a:bodyPr lIns="0" tIns="0" rIns="0" bIns="0">
                      <a:noAutofit/>
                    </a:bodyPr>
                    <a:p>
                      <a:pPr algn="just" indent="0"/>
                      <a:r>
                        <a:rPr lang="en-US" sz="600" spc="50">
                          <a:latin typeface="Tahoma"/>
                        </a:rPr>
                        <a:t>\_</a:t>
                      </a:r>
                    </a:p>
                  </a:txBody>
                  <a:tcPr marL="0" marR="0" marT="0" marB="0" anchor="b"/>
                </a:tc>
                <a:tc>
                  <a:txBody>
                    <a:bodyPr lIns="0" tIns="0" rIns="0" bIns="0">
                      <a:noAutofit/>
                    </a:bodyPr>
                    <a:p>
                      <a:pPr algn="just" indent="0"/>
                      <a:r>
                        <a:rPr lang="en-US" sz="600" spc="50">
                          <a:latin typeface="Tahoma"/>
                        </a:rPr>
                        <a:t>_y</a:t>
                      </a:r>
                    </a:p>
                  </a:txBody>
                  <a:tcPr marL="0" marR="0" marT="0" marB="0" anchor="b"/>
                </a:tc>
              </a:tr>
            </a:tbl>
          </a:graphicData>
        </a:graphic>
      </p:graphicFrame>
      <p:graphicFrame>
        <p:nvGraphicFramePr>
          <p:cNvPr id="48" name=""/>
          <p:cNvGraphicFramePr>
            <a:graphicFrameLocks noGrp="1"/>
          </p:cNvGraphicFramePr>
          <p:nvPr/>
        </p:nvGraphicFramePr>
        <p:xfrm>
          <a:off x="3983736" y="8567928"/>
          <a:ext cx="3075432" cy="286512"/>
        </p:xfrm>
        <a:graphic>
          <a:graphicData uri="http://schemas.openxmlformats.org/drawingml/2006/table">
            <a:tbl>
              <a:tblPr/>
              <a:tblGrid>
                <a:gridCol w="1536192"/>
                <a:gridCol w="1539240"/>
              </a:tblGrid>
              <a:tr h="118872">
                <a:tc>
                  <a:txBody>
                    <a:bodyPr lIns="0" tIns="0" rIns="0" bIns="0">
                      <a:noAutofit/>
                    </a:bodyPr>
                    <a:p>
                      <a:pPr algn="ctr" marL="101600" indent="0"/>
                      <a:r>
                        <a:rPr lang="en-US" sz="600" spc="50">
                          <a:solidFill>
                            <a:srgbClr val="333333"/>
                          </a:solidFill>
                          <a:latin typeface="Tahoma"/>
                        </a:rPr>
                        <a:t>Due Date</a:t>
                      </a:r>
                    </a:p>
                  </a:txBody>
                  <a:tcPr marL="0" marR="0" marT="0" marB="0" anchor="b"/>
                </a:tc>
                <a:tc>
                  <a:txBody>
                    <a:bodyPr lIns="0" tIns="0" rIns="0" bIns="0">
                      <a:noAutofit/>
                    </a:bodyPr>
                    <a:p>
                      <a:pPr algn="ctr" marL="114300" indent="0"/>
                      <a:r>
                        <a:rPr lang="en-US" sz="600" spc="50">
                          <a:solidFill>
                            <a:srgbClr val="333333"/>
                          </a:solidFill>
                          <a:latin typeface="Tahoma"/>
                        </a:rPr>
                        <a:t>Amount Payable</a:t>
                      </a:r>
                    </a:p>
                  </a:txBody>
                  <a:tcPr marL="0" marR="0" marT="0" marB="0" anchor="b"/>
                </a:tc>
              </a:tr>
              <a:tr h="97536">
                <a:tc>
                  <a:txBody>
                    <a:bodyPr lIns="0" tIns="0" rIns="0" bIns="0">
                      <a:noAutofit/>
                    </a:bodyPr>
                    <a:p>
                      <a:pPr algn="ctr" indent="0"/>
                      <a:r>
                        <a:rPr lang="en-US" sz="600" spc="50">
                          <a:solidFill>
                            <a:srgbClr val="333333"/>
                          </a:solidFill>
                          <a:latin typeface="Tahoma"/>
                        </a:rPr>
                        <a:t>2025-10-13</a:t>
                      </a:r>
                    </a:p>
                  </a:txBody>
                  <a:tcPr marL="0" marR="0" marT="0" marB="0"/>
                </a:tc>
                <a:tc>
                  <a:txBody>
                    <a:bodyPr lIns="0" tIns="0" rIns="0" bIns="0">
                      <a:noAutofit/>
                    </a:bodyPr>
                    <a:p>
                      <a:pPr algn="ctr" indent="0"/>
                      <a:r>
                        <a:rPr lang="en-US" sz="600" spc="50">
                          <a:solidFill>
                            <a:srgbClr val="333333"/>
                          </a:solidFill>
                          <a:latin typeface="Tahoma"/>
                        </a:rPr>
                        <a:t>970.00</a:t>
                      </a:r>
                    </a:p>
                  </a:txBody>
                  <a:tcPr marL="0" marR="0" marT="0" marB="0"/>
                </a:tc>
              </a:tr>
              <a:tr h="70104">
                <a:tc>
                  <a:txBody>
                    <a:bodyPr lIns="0" tIns="0" rIns="0" bIns="0">
                      <a:noAutofit/>
                    </a:bodyPr>
                    <a:p>
                      <a:pPr indent="0"/>
                      <a:r>
                        <a:rPr lang="en-US" sz="600" spc="50">
                          <a:latin typeface="Tahoma"/>
                        </a:rPr>
                        <a:t>V</a:t>
                      </a:r>
                    </a:p>
                  </a:txBody>
                  <a:tcPr marL="0" marR="0" marT="0" marB="0"/>
                </a:tc>
                <a:tc>
                  <a:txBody>
                    <a:bodyPr lIns="0" tIns="0" rIns="0" bIns="0">
                      <a:noAutofit/>
                    </a:bodyPr>
                    <a:p>
                      <a:pPr algn="r" indent="0"/>
                      <a:r>
                        <a:rPr lang="en-US" b="1" i="1" sz="600">
                          <a:latin typeface="Verdana"/>
                        </a:rPr>
                        <a:t>J</a:t>
                      </a:r>
                    </a:p>
                  </a:txBody>
                  <a:tcPr marL="0" marR="0" marT="0" marB="0"/>
                </a:tc>
              </a:tr>
            </a:tbl>
          </a:graphicData>
        </a:graphic>
      </p:graphicFrame>
      <p:sp>
        <p:nvSpPr>
          <p:cNvPr id="49" name=""/>
          <p:cNvSpPr/>
          <p:nvPr/>
        </p:nvSpPr>
        <p:spPr>
          <a:xfrm>
            <a:off x="3493008" y="10518648"/>
            <a:ext cx="569976" cy="128016"/>
          </a:xfrm>
          <a:prstGeom prst="rect">
            <a:avLst/>
          </a:prstGeom>
        </p:spPr>
        <p:txBody>
          <a:bodyPr lIns="0" tIns="0" rIns="0" bIns="0" wrap="none">
            <a:noAutofit/>
          </a:bodyPr>
          <a:p>
            <a:pPr indent="0"/>
            <a:r>
              <a:rPr lang="en-US" sz="700" spc="50">
                <a:latin typeface="Tahoma"/>
              </a:rPr>
              <a:t>Page: 2 of 3</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graphicFrame>
        <p:nvGraphicFramePr>
          <p:cNvPr id="2" name=""/>
          <p:cNvGraphicFramePr>
            <a:graphicFrameLocks noGrp="1"/>
          </p:cNvGraphicFramePr>
          <p:nvPr/>
        </p:nvGraphicFramePr>
        <p:xfrm>
          <a:off x="359664" y="359664"/>
          <a:ext cx="6833616" cy="1469136"/>
        </p:xfrm>
        <a:graphic>
          <a:graphicData uri="http://schemas.openxmlformats.org/drawingml/2006/table">
            <a:tbl>
              <a:tblPr/>
              <a:tblGrid>
                <a:gridCol w="4005072"/>
                <a:gridCol w="2828544"/>
              </a:tblGrid>
              <a:tr h="252984">
                <a:tc gridSpan="2">
                  <a:txBody>
                    <a:bodyPr lIns="0" tIns="0" rIns="0" bIns="0">
                      <a:noAutofit/>
                    </a:bodyPr>
                    <a:p>
                      <a:pPr algn="ctr" indent="0"/>
                      <a:r>
                        <a:rPr lang="en-US" b="1" sz="750">
                          <a:solidFill>
                            <a:srgbClr val="333333"/>
                          </a:solidFill>
                          <a:latin typeface="Tahoma"/>
                        </a:rPr>
                        <a:t>EMERGENCY PHONE NUMBERS</a:t>
                      </a:r>
                    </a:p>
                  </a:txBody>
                  <a:tcPr marL="0" marR="0" marT="0" marB="0" anchor="ctr"/>
                </a:tc>
                <a:tc hMerge="1">
                  <a:txBody>
                    <a:bodyPr lIns="0" tIns="0" rIns="0" bIns="0">
                      <a:noAutofit/>
                    </a:bodyPr>
                    <a:p>
                      <a:endParaRPr sz="1200"/>
                    </a:p>
                  </a:txBody>
                  <a:tcPr marL="0" marR="0" marT="0" marB="0"/>
                </a:tc>
              </a:tr>
              <a:tr h="283464">
                <a:tc>
                  <a:txBody>
                    <a:bodyPr lIns="0" tIns="0" rIns="0" bIns="0">
                      <a:noAutofit/>
                    </a:bodyPr>
                    <a:p>
                      <a:pPr algn="ctr" indent="0">
                        <a:lnSpc>
                          <a:spcPts val="960"/>
                        </a:lnSpc>
                      </a:pPr>
                      <a:r>
                        <a:rPr lang="en-US" b="1" sz="750">
                          <a:solidFill>
                            <a:srgbClr val="333333"/>
                          </a:solidFill>
                          <a:latin typeface="Tahoma"/>
                        </a:rPr>
                        <a:t>Municipal Services Complaints Call Centre (Non-Life Threatening )</a:t>
                      </a:r>
                    </a:p>
                  </a:txBody>
                  <a:tcPr marL="0" marR="0" marT="0" marB="0" anchor="b"/>
                </a:tc>
                <a:tc>
                  <a:txBody>
                    <a:bodyPr lIns="0" tIns="0" rIns="0" bIns="0">
                      <a:noAutofit/>
                    </a:bodyPr>
                    <a:p>
                      <a:pPr algn="ctr" indent="0"/>
                      <a:r>
                        <a:rPr lang="en-US" b="1" sz="750">
                          <a:solidFill>
                            <a:srgbClr val="333333"/>
                          </a:solidFill>
                          <a:latin typeface="Tahoma"/>
                        </a:rPr>
                        <a:t>Life Threatening Emergencies</a:t>
                      </a:r>
                    </a:p>
                  </a:txBody>
                  <a:tcPr marL="0" marR="0" marT="0" marB="0" anchor="ctr"/>
                </a:tc>
              </a:tr>
              <a:tr h="213360">
                <a:tc>
                  <a:txBody>
                    <a:bodyPr lIns="0" tIns="0" rIns="0" bIns="0">
                      <a:noAutofit/>
                    </a:bodyPr>
                    <a:p>
                      <a:pPr algn="ctr" indent="0"/>
                      <a:r>
                        <a:rPr lang="en-US" b="1" sz="750">
                          <a:solidFill>
                            <a:srgbClr val="333333"/>
                          </a:solidFill>
                          <a:latin typeface="Tahoma"/>
                        </a:rPr>
                        <a:t>0860-543 000</a:t>
                      </a:r>
                    </a:p>
                  </a:txBody>
                  <a:tcPr marL="0" marR="0" marT="0" marB="0" anchor="ctr"/>
                </a:tc>
                <a:tc>
                  <a:txBody>
                    <a:bodyPr lIns="0" tIns="0" rIns="0" bIns="0">
                      <a:noAutofit/>
                    </a:bodyPr>
                    <a:p>
                      <a:pPr algn="ctr" indent="0"/>
                      <a:r>
                        <a:rPr lang="en-US" b="1" sz="750">
                          <a:solidFill>
                            <a:srgbClr val="333333"/>
                          </a:solidFill>
                          <a:latin typeface="Tahoma"/>
                        </a:rPr>
                        <a:t>011 458-0911 / 10177</a:t>
                      </a:r>
                    </a:p>
                  </a:txBody>
                  <a:tcPr marL="0" marR="0" marT="0" marB="0" anchor="ctr"/>
                </a:tc>
              </a:tr>
              <a:tr h="719328">
                <a:tc>
                  <a:txBody>
                    <a:bodyPr lIns="0" tIns="0" rIns="0" bIns="0">
                      <a:noAutofit/>
                    </a:bodyPr>
                    <a:p>
                      <a:pPr marL="165100" marR="2349500" indent="0">
                        <a:lnSpc>
                          <a:spcPts val="768"/>
                        </a:lnSpc>
                      </a:pPr>
                      <a:r>
                        <a:rPr lang="en-US" sz="600" spc="50">
                          <a:solidFill>
                            <a:srgbClr val="333333"/>
                          </a:solidFill>
                          <a:latin typeface="Tahoma"/>
                        </a:rPr>
                        <a:t>Electricity supply Water &amp; Sewerage supply Roads, Transport &amp; Civil Works Health &amp; Social Development Environment, Solid Waste &amp; Parks</a:t>
                      </a:r>
                    </a:p>
                  </a:txBody>
                  <a:tcPr marL="0" marR="0" marT="0" marB="0" anchor="ctr"/>
                </a:tc>
                <a:tc>
                  <a:txBody>
                    <a:bodyPr lIns="0" tIns="0" rIns="0" bIns="0">
                      <a:noAutofit/>
                    </a:bodyPr>
                    <a:p>
                      <a:pPr marL="152400" indent="0">
                        <a:lnSpc>
                          <a:spcPts val="768"/>
                        </a:lnSpc>
                      </a:pPr>
                      <a:r>
                        <a:rPr lang="en-US" sz="600" spc="50">
                          <a:solidFill>
                            <a:srgbClr val="333333"/>
                          </a:solidFill>
                          <a:latin typeface="Tahoma"/>
                        </a:rPr>
                        <a:t>All Fires</a:t>
                      </a:r>
                    </a:p>
                    <a:p>
                      <a:pPr marL="152400" marR="1346200" indent="0">
                        <a:lnSpc>
                          <a:spcPts val="768"/>
                        </a:lnSpc>
                      </a:pPr>
                      <a:r>
                        <a:rPr lang="en-US" sz="600" spc="50">
                          <a:solidFill>
                            <a:srgbClr val="333333"/>
                          </a:solidFill>
                          <a:latin typeface="Tahoma"/>
                        </a:rPr>
                        <a:t>Emergency Medical Assistance Metro Police Incidents / Disasters</a:t>
                      </a:r>
                    </a:p>
                  </a:txBody>
                  <a:tcPr marL="0" marR="0" marT="0" marB="0" anchor="ctr"/>
                </a:tc>
              </a:tr>
            </a:tbl>
          </a:graphicData>
        </a:graphic>
      </p:graphicFrame>
      <p:sp>
        <p:nvSpPr>
          <p:cNvPr id="3" name=""/>
          <p:cNvSpPr/>
          <p:nvPr/>
        </p:nvSpPr>
        <p:spPr>
          <a:xfrm>
            <a:off x="3185160" y="2054352"/>
            <a:ext cx="1179576" cy="109728"/>
          </a:xfrm>
          <a:prstGeom prst="rect">
            <a:avLst/>
          </a:prstGeom>
        </p:spPr>
        <p:txBody>
          <a:bodyPr lIns="0" tIns="0" rIns="0" bIns="0" wrap="none">
            <a:noAutofit/>
          </a:bodyPr>
          <a:p>
            <a:pPr algn="ctr" indent="0">
              <a:spcBef>
                <a:spcPts val="1260"/>
              </a:spcBef>
            </a:pPr>
            <a:r>
              <a:rPr lang="en-US" b="1" sz="750">
                <a:solidFill>
                  <a:srgbClr val="333333"/>
                </a:solidFill>
                <a:latin typeface="Tahoma"/>
              </a:rPr>
              <a:t>IMPORTANT NOTICE</a:t>
            </a:r>
          </a:p>
        </p:txBody>
      </p:sp>
      <p:sp>
        <p:nvSpPr>
          <p:cNvPr id="4" name=""/>
          <p:cNvSpPr/>
          <p:nvPr/>
        </p:nvSpPr>
        <p:spPr>
          <a:xfrm>
            <a:off x="347472" y="2508504"/>
            <a:ext cx="3334512" cy="3243072"/>
          </a:xfrm>
          <a:prstGeom prst="rect">
            <a:avLst/>
          </a:prstGeom>
        </p:spPr>
        <p:txBody>
          <a:bodyPr lIns="0" tIns="0" rIns="0" bIns="0">
            <a:noAutofit/>
          </a:bodyPr>
          <a:p>
            <a:pPr algn="just" indent="0">
              <a:spcAft>
                <a:spcPts val="420"/>
              </a:spcAft>
            </a:pPr>
            <a:r>
              <a:rPr lang="en-US" b="1" sz="500">
                <a:solidFill>
                  <a:srgbClr val="333333"/>
                </a:solidFill>
                <a:latin typeface="Tahoma"/>
              </a:rPr>
              <a:t>1.    PRE-TERMINATION NOTICE</a:t>
            </a:r>
          </a:p>
          <a:p>
            <a:pPr marL="241300" indent="0">
              <a:lnSpc>
                <a:spcPts val="672"/>
              </a:lnSpc>
              <a:spcAft>
                <a:spcPts val="420"/>
              </a:spcAft>
            </a:pPr>
            <a:r>
              <a:rPr lang="en-US" sz="500" spc="50">
                <a:solidFill>
                  <a:srgbClr val="333333"/>
                </a:solidFill>
                <a:latin typeface="Tahoma"/>
              </a:rPr>
              <a:t>PRE-TERMINATION NOTICE ISSUED IN TERMS OF SECTION 12.(1) OF THE ELECTRICAL SUPPLY BY-LAWS IN RESPECT OF CURRENT ACCOUNT AND DEBT BALANCE BROUGHT FORWARD.</a:t>
            </a:r>
          </a:p>
          <a:p>
            <a:pPr marL="241300" indent="0">
              <a:lnSpc>
                <a:spcPts val="672"/>
              </a:lnSpc>
              <a:spcAft>
                <a:spcPts val="420"/>
              </a:spcAft>
            </a:pPr>
            <a:r>
              <a:rPr lang="en-US" sz="500" spc="50">
                <a:solidFill>
                  <a:srgbClr val="333333"/>
                </a:solidFill>
                <a:latin typeface="Tahoma"/>
              </a:rPr>
              <a:t>FAILURE TO PAY THE AMOUNT PAYABLE BEFORE DUE DATE, MAY RESULT IN ELECTRICITY SUPPLY BEING DISCONNECTED AND PRE-PAID PURCHASES BLOCKED WITHOUT ANY FURTHER NOTICE.</a:t>
            </a:r>
          </a:p>
          <a:p>
            <a:pPr marL="241300" indent="0">
              <a:lnSpc>
                <a:spcPts val="672"/>
              </a:lnSpc>
              <a:spcAft>
                <a:spcPts val="420"/>
              </a:spcAft>
            </a:pPr>
            <a:r>
              <a:rPr lang="en-US" sz="500" spc="50">
                <a:solidFill>
                  <a:srgbClr val="333333"/>
                </a:solidFill>
                <a:latin typeface="Tahoma"/>
              </a:rPr>
              <a:t>PRESCRIBED FEE FOR DISCONNECTION AND RECONNECTION SHALL BE CHARGED AND YOUR DEPOSIT MAY BE INCREASED.</a:t>
            </a:r>
          </a:p>
          <a:p>
            <a:pPr marL="241300" indent="0">
              <a:spcAft>
                <a:spcPts val="420"/>
              </a:spcAft>
            </a:pPr>
            <a:r>
              <a:rPr lang="en-US" sz="500" spc="50">
                <a:solidFill>
                  <a:srgbClr val="333333"/>
                </a:solidFill>
                <a:latin typeface="Tahoma"/>
              </a:rPr>
              <a:t>IMMEDIATE RECONNECTION OF SUPPLY AFTER PAYMENT CANNOT BE ASSURED.</a:t>
            </a:r>
          </a:p>
          <a:p>
            <a:pPr marL="241300" indent="0">
              <a:lnSpc>
                <a:spcPts val="672"/>
              </a:lnSpc>
              <a:spcAft>
                <a:spcPts val="420"/>
              </a:spcAft>
            </a:pPr>
            <a:r>
              <a:rPr lang="en-US" sz="500" spc="50">
                <a:solidFill>
                  <a:srgbClr val="333333"/>
                </a:solidFill>
                <a:latin typeface="Tahoma"/>
              </a:rPr>
              <a:t>PRE-PAID ELECTRICITY - IN THE EVENT THAT MUNICIPAL SERVICES ACCOUNT IS IN ARREARS, PURCHASE OF PRE-PAID ELECTRICITY WILL BE BLOCKED ON VENDING SYSTEM UNTIL ALL ARREARS HAVE BEEN SETTLED IN FULL OR A SUITABLE ARRANGEMENT TO SETTLE THE BALANCE HAS BEEN MADE.</a:t>
            </a:r>
          </a:p>
          <a:p>
            <a:pPr algn="just" indent="0">
              <a:spcAft>
                <a:spcPts val="420"/>
              </a:spcAft>
            </a:pPr>
            <a:r>
              <a:rPr lang="en-US" b="1" sz="500">
                <a:solidFill>
                  <a:srgbClr val="333333"/>
                </a:solidFill>
                <a:latin typeface="Tahoma"/>
              </a:rPr>
              <a:t>2.    ALLOCATION OF PAYMENTS</a:t>
            </a:r>
          </a:p>
          <a:p>
            <a:pPr marL="241300" indent="0">
              <a:lnSpc>
                <a:spcPts val="672"/>
              </a:lnSpc>
              <a:spcAft>
                <a:spcPts val="420"/>
              </a:spcAft>
            </a:pPr>
            <a:r>
              <a:rPr lang="en-US" sz="500" spc="50">
                <a:solidFill>
                  <a:srgbClr val="333333"/>
                </a:solidFill>
                <a:latin typeface="Tahoma"/>
              </a:rPr>
              <a:t>PART PAYMENT OF YOUR ACCOUNT WILL BE ALLOCATED IN THE PRIORITY ORDER AS DETERMINED BY THE CITY OF EKURHULENI FROM TIME TO TIME.</a:t>
            </a:r>
          </a:p>
          <a:p>
            <a:pPr algn="just" indent="0">
              <a:lnSpc>
                <a:spcPts val="1344"/>
              </a:lnSpc>
            </a:pPr>
            <a:r>
              <a:rPr lang="en-US" b="1" sz="500">
                <a:solidFill>
                  <a:srgbClr val="333333"/>
                </a:solidFill>
                <a:latin typeface="Tahoma"/>
              </a:rPr>
              <a:t>3.    DEPOSITS</a:t>
            </a:r>
          </a:p>
          <a:p>
            <a:pPr marL="241300" indent="0">
              <a:lnSpc>
                <a:spcPts val="1344"/>
              </a:lnSpc>
            </a:pPr>
            <a:r>
              <a:rPr lang="en-US" sz="500" spc="50">
                <a:solidFill>
                  <a:srgbClr val="333333"/>
                </a:solidFill>
                <a:latin typeface="Tahoma"/>
              </a:rPr>
              <a:t>CONSUMER DEPOSITS ARE NOT TRANSFERABLE.</a:t>
            </a:r>
          </a:p>
          <a:p>
            <a:pPr algn="just" indent="0">
              <a:lnSpc>
                <a:spcPts val="1344"/>
              </a:lnSpc>
            </a:pPr>
            <a:r>
              <a:rPr lang="en-US" b="1" sz="500">
                <a:solidFill>
                  <a:srgbClr val="333333"/>
                </a:solidFill>
                <a:latin typeface="Tahoma"/>
              </a:rPr>
              <a:t>4.    FINALREADING</a:t>
            </a:r>
          </a:p>
          <a:p>
            <a:pPr marL="241300" indent="0">
              <a:lnSpc>
                <a:spcPts val="672"/>
              </a:lnSpc>
              <a:spcAft>
                <a:spcPts val="420"/>
              </a:spcAft>
            </a:pPr>
            <a:r>
              <a:rPr lang="en-US" sz="500" spc="50">
                <a:solidFill>
                  <a:srgbClr val="333333"/>
                </a:solidFill>
                <a:latin typeface="Tahoma"/>
              </a:rPr>
              <a:t>FINAL READING REQUESTS MUST BE APPLIED FOR IN WRITING AT LEAST 7 DAYS PRIOR TO PROPERTY BEING VACATED OR TERMINATION DATE.</a:t>
            </a:r>
          </a:p>
          <a:p>
            <a:pPr algn="just" indent="0">
              <a:spcAft>
                <a:spcPts val="420"/>
              </a:spcAft>
            </a:pPr>
            <a:r>
              <a:rPr lang="en-US" b="1" sz="500">
                <a:solidFill>
                  <a:srgbClr val="333333"/>
                </a:solidFill>
                <a:latin typeface="Tahoma"/>
              </a:rPr>
              <a:t>5.    INTEREST</a:t>
            </a:r>
          </a:p>
          <a:p>
            <a:pPr marL="241300" indent="0">
              <a:lnSpc>
                <a:spcPts val="672"/>
              </a:lnSpc>
            </a:pPr>
            <a:r>
              <a:rPr lang="en-US" sz="500" spc="50">
                <a:solidFill>
                  <a:srgbClr val="333333"/>
                </a:solidFill>
                <a:latin typeface="Tahoma"/>
              </a:rPr>
              <a:t>INTEREST WILL BE CHARGED ON ARREAR ACCOUNT IF PAYMENT IS NOT RECEIPTED ON OR BEFORE ACCOUNT DUE DATE.</a:t>
            </a:r>
          </a:p>
        </p:txBody>
      </p:sp>
      <p:sp>
        <p:nvSpPr>
          <p:cNvPr id="5" name=""/>
          <p:cNvSpPr/>
          <p:nvPr/>
        </p:nvSpPr>
        <p:spPr>
          <a:xfrm>
            <a:off x="3849624" y="2395728"/>
            <a:ext cx="3340608" cy="4181856"/>
          </a:xfrm>
          <a:prstGeom prst="rect">
            <a:avLst/>
          </a:prstGeom>
        </p:spPr>
        <p:txBody>
          <a:bodyPr lIns="0" tIns="0" rIns="0" bIns="0">
            <a:noAutofit/>
          </a:bodyPr>
          <a:p>
            <a:pPr algn="just" indent="0">
              <a:spcAft>
                <a:spcPts val="420"/>
              </a:spcAft>
            </a:pPr>
            <a:r>
              <a:rPr lang="en-US" b="1" sz="500">
                <a:solidFill>
                  <a:srgbClr val="333333"/>
                </a:solidFill>
                <a:latin typeface="Tahoma"/>
              </a:rPr>
              <a:t>6.    PAYMENT METHODS</a:t>
            </a:r>
          </a:p>
          <a:p>
            <a:pPr algn="just" indent="0">
              <a:spcAft>
                <a:spcPts val="420"/>
              </a:spcAft>
            </a:pPr>
            <a:r>
              <a:rPr lang="en-US" b="1" sz="500">
                <a:solidFill>
                  <a:srgbClr val="333333"/>
                </a:solidFill>
                <a:latin typeface="Tahoma"/>
              </a:rPr>
              <a:t>6.1    OFFICIAL BANKER - STANDARD BANK</a:t>
            </a:r>
          </a:p>
          <a:p>
            <a:pPr marL="292100" indent="-292100">
              <a:lnSpc>
                <a:spcPts val="672"/>
              </a:lnSpc>
              <a:spcAft>
                <a:spcPts val="420"/>
              </a:spcAft>
            </a:pPr>
            <a:r>
              <a:rPr lang="en-US" b="1" sz="500">
                <a:solidFill>
                  <a:srgbClr val="333333"/>
                </a:solidFill>
                <a:latin typeface="Tahoma"/>
              </a:rPr>
              <a:t>6.2    DIRECT PAYMENTS AT STANDARD BANK BRANCH - </a:t>
            </a:r>
            <a:r>
              <a:rPr lang="en-US" sz="500" spc="50">
                <a:solidFill>
                  <a:srgbClr val="333333"/>
                </a:solidFill>
                <a:latin typeface="Tahoma"/>
              </a:rPr>
              <a:t>INDICATE ON DEPOSIT SLIP THE RELEVANT AUTHORITY TO CREDIT AND TEN-DIGIT MUNICIPAL SERVICES ACCOUNT NUMBER -</a:t>
            </a:r>
          </a:p>
          <a:p>
            <a:pPr marL="292100" marR="1727200" indent="0">
              <a:lnSpc>
                <a:spcPts val="672"/>
              </a:lnSpc>
              <a:spcAft>
                <a:spcPts val="420"/>
              </a:spcAft>
            </a:pPr>
            <a:r>
              <a:rPr lang="en-US" sz="500" spc="50">
                <a:solidFill>
                  <a:srgbClr val="333333"/>
                </a:solidFill>
                <a:latin typeface="Tahoma"/>
              </a:rPr>
              <a:t>CoE Alberton Direct Std Banking CoE Benoni Direct Std Banking CoE Boksburg Direct Std Banking CoE Brakpan Direct Std Banking CoE Edenvale Direct Std Banking CoE Germiston Direct Std Banking CoE Kempton Park Income Std CoE Nigel Direct Std Banking CoE Springs Direct Std Banking</a:t>
            </a:r>
          </a:p>
          <a:p>
            <a:pPr marL="292100" indent="-292100">
              <a:lnSpc>
                <a:spcPts val="648"/>
              </a:lnSpc>
              <a:spcAft>
                <a:spcPts val="420"/>
              </a:spcAft>
            </a:pPr>
            <a:r>
              <a:rPr lang="en-US" b="1" sz="500">
                <a:solidFill>
                  <a:srgbClr val="333333"/>
                </a:solidFill>
                <a:latin typeface="Tahoma"/>
              </a:rPr>
              <a:t>6.3</a:t>
            </a:r>
            <a:r>
              <a:rPr lang="en-US" sz="500" spc="50">
                <a:solidFill>
                  <a:srgbClr val="333333"/>
                </a:solidFill>
                <a:latin typeface="Tahoma"/>
              </a:rPr>
              <a:t>    ELECTRONIC PAYMENT : CITY OF EKURHULENI IS A LISTED BENEFICIARY ON ALL MAJOR INTERNET BANKING PLATFORMS. IT IS MANDATORY TO INCLUDE TEN DIGIT MUNICIPAL SERVICES ACCOUNT NUMBER</a:t>
            </a:r>
          </a:p>
          <a:p>
            <a:pPr marL="292100" indent="-292100">
              <a:lnSpc>
                <a:spcPts val="672"/>
              </a:lnSpc>
              <a:spcAft>
                <a:spcPts val="420"/>
              </a:spcAft>
            </a:pPr>
            <a:r>
              <a:rPr lang="en-US" b="1" sz="500">
                <a:solidFill>
                  <a:srgbClr val="333333"/>
                </a:solidFill>
                <a:latin typeface="Tahoma"/>
              </a:rPr>
              <a:t>6.4    SIYAKHOKHA - </a:t>
            </a:r>
            <a:r>
              <a:rPr lang="en-US" sz="500" spc="50">
                <a:solidFill>
                  <a:srgbClr val="333333"/>
                </a:solidFill>
                <a:latin typeface="Tahoma"/>
              </a:rPr>
              <a:t>VIEW STATEMENT AND MAKE PAYMENT ONLINE BY REGISTERING ON THE CITY OF EKURHULENI PORTAL </a:t>
            </a:r>
            <a:r>
              <a:rPr lang="en-US" sz="500" spc="50">
                <a:solidFill>
                  <a:srgbClr val="333333"/>
                </a:solidFill>
                <a:latin typeface="Tahoma"/>
                <a:hlinkClick r:id="rLinkId0"/>
              </a:rPr>
              <a:t>WWW.SIYAKHOKHA.EKURHULENI.GOV.ZA</a:t>
            </a:r>
          </a:p>
          <a:p>
            <a:pPr marL="292100" indent="-292100">
              <a:lnSpc>
                <a:spcPts val="672"/>
              </a:lnSpc>
              <a:spcAft>
                <a:spcPts val="420"/>
              </a:spcAft>
            </a:pPr>
            <a:r>
              <a:rPr lang="en-US" b="1" cap="small" sz="500">
                <a:solidFill>
                  <a:srgbClr val="333333"/>
                </a:solidFill>
                <a:latin typeface="Tahoma"/>
              </a:rPr>
              <a:t>6.5    3</a:t>
            </a:r>
            <a:r>
              <a:rPr lang="en-US" b="1" baseline="30000" cap="small" sz="500">
                <a:solidFill>
                  <a:srgbClr val="333333"/>
                </a:solidFill>
                <a:latin typeface="Tahoma"/>
              </a:rPr>
              <a:t>rd</a:t>
            </a:r>
            <a:r>
              <a:rPr lang="en-US" b="1" cap="small" sz="500">
                <a:solidFill>
                  <a:srgbClr val="333333"/>
                </a:solidFill>
                <a:latin typeface="Tahoma"/>
              </a:rPr>
              <a:t> PARTY VENDORS : </a:t>
            </a:r>
            <a:r>
              <a:rPr lang="en-US" sz="500" spc="50">
                <a:solidFill>
                  <a:srgbClr val="333333"/>
                </a:solidFill>
                <a:latin typeface="Tahoma"/>
              </a:rPr>
              <a:t>SOUTH AFRICAN POST OFFICE (SAPO), EASYPAY, BLU PAY,</a:t>
            </a:r>
            <a:r>
              <a:rPr lang="en-US" sz="500" spc="50">
                <a:solidFill>
                  <a:srgbClr val="333333"/>
                </a:solidFill>
                <a:latin typeface="Tahoma"/>
                <a:hlinkClick r:id="rLinkId1"/>
              </a:rPr>
              <a:t> </a:t>
            </a:r>
            <a:r>
              <a:rPr lang="en-US" sz="500" spc="50">
                <a:solidFill>
                  <a:srgbClr val="337AB7"/>
                </a:solidFill>
                <a:latin typeface="Tahoma"/>
                <a:hlinkClick r:id="rLinkId1"/>
              </a:rPr>
              <a:t>PAY@</a:t>
            </a:r>
            <a:r>
              <a:rPr lang="en-US" sz="500" spc="50">
                <a:solidFill>
                  <a:srgbClr val="337AB7"/>
                </a:solidFill>
                <a:latin typeface="Tahoma"/>
              </a:rPr>
              <a:t> </a:t>
            </a:r>
            <a:r>
              <a:rPr lang="en-US" sz="500" spc="50">
                <a:solidFill>
                  <a:srgbClr val="333333"/>
                </a:solidFill>
                <a:latin typeface="Tahoma"/>
              </a:rPr>
              <a:t>- CONSUMER ACCOUNT STATEMENT MUST BE PRESENTED.</a:t>
            </a:r>
          </a:p>
          <a:p>
            <a:pPr marL="292100" indent="-292100">
              <a:lnSpc>
                <a:spcPts val="672"/>
              </a:lnSpc>
              <a:spcAft>
                <a:spcPts val="420"/>
              </a:spcAft>
            </a:pPr>
            <a:r>
              <a:rPr lang="en-US" b="1" sz="500">
                <a:solidFill>
                  <a:srgbClr val="333333"/>
                </a:solidFill>
                <a:latin typeface="Tahoma"/>
              </a:rPr>
              <a:t>6.6    DEBIT AND CREDIT CARDS - </a:t>
            </a:r>
            <a:r>
              <a:rPr lang="en-US" sz="500" spc="50">
                <a:solidFill>
                  <a:srgbClr val="333333"/>
                </a:solidFill>
                <a:latin typeface="Tahoma"/>
              </a:rPr>
              <a:t>AT ANY CITY OF EKURHULENI CUSTOMER CARE CENTRES AND PAYPOINTS.</a:t>
            </a:r>
          </a:p>
          <a:p>
            <a:pPr marL="292100" indent="-292100">
              <a:lnSpc>
                <a:spcPts val="672"/>
              </a:lnSpc>
              <a:spcAft>
                <a:spcPts val="420"/>
              </a:spcAft>
            </a:pPr>
            <a:r>
              <a:rPr lang="en-US" b="1" sz="500">
                <a:solidFill>
                  <a:srgbClr val="333333"/>
                </a:solidFill>
                <a:latin typeface="Tahoma"/>
              </a:rPr>
              <a:t>6.7    CASH PAYMENTS - </a:t>
            </a:r>
            <a:r>
              <a:rPr lang="en-US" sz="500" spc="50">
                <a:solidFill>
                  <a:srgbClr val="333333"/>
                </a:solidFill>
                <a:latin typeface="Tahoma"/>
              </a:rPr>
              <a:t>AT ANY CITY OF EKURHULENI CUSTOMER CARE CENTRES AND PAYPOINTS. MAXIMUM INDIVIDUAL DEPOSIT LIMITED TO R 30 000 PER TRANSACTION PER CUSTOMER ACCOUNT OR INDIVIDUAL DEPOSIT.</a:t>
            </a:r>
          </a:p>
          <a:p>
            <a:pPr marL="292100" indent="-292100">
              <a:lnSpc>
                <a:spcPts val="672"/>
              </a:lnSpc>
              <a:spcAft>
                <a:spcPts val="420"/>
              </a:spcAft>
            </a:pPr>
            <a:r>
              <a:rPr lang="en-US" b="1" sz="500">
                <a:solidFill>
                  <a:srgbClr val="333333"/>
                </a:solidFill>
                <a:latin typeface="Tahoma"/>
              </a:rPr>
              <a:t>6.8    NOTE - </a:t>
            </a:r>
            <a:r>
              <a:rPr lang="en-US" sz="500" spc="50">
                <a:solidFill>
                  <a:srgbClr val="333333"/>
                </a:solidFill>
                <a:latin typeface="Tahoma"/>
              </a:rPr>
              <a:t>ELECTRONIC PAYMENTS THROUGH FINANCIAL INSTITUTIONS OR ANY OTHER 3rd PARTY SYSTEM MUST BE EFFECTED NOT LATER THAN 7 DAYS PRIOR TO ACCOUNT DUE DATE. PAYMENT WILL ONLY BE DEEMED TO HAVE BEEN RECEIVED WHEN RECEIPTED THROUGH COUNCILS FINANCIAL SYSTEM.</a:t>
            </a:r>
          </a:p>
          <a:p>
            <a:pPr algn="just" indent="0">
              <a:spcAft>
                <a:spcPts val="420"/>
              </a:spcAft>
            </a:pPr>
            <a:r>
              <a:rPr lang="en-US" b="1" sz="500">
                <a:solidFill>
                  <a:srgbClr val="333333"/>
                </a:solidFill>
                <a:latin typeface="Tahoma"/>
              </a:rPr>
              <a:t>7.</a:t>
            </a:r>
            <a:r>
              <a:rPr lang="en-US" sz="500" spc="50">
                <a:solidFill>
                  <a:srgbClr val="333333"/>
                </a:solidFill>
                <a:latin typeface="Tahoma"/>
              </a:rPr>
              <a:t>    THIS STATEMENT MUST BE PRODUCED WHEN MAKING A PAYMENT.</a:t>
            </a:r>
          </a:p>
          <a:p>
            <a:pPr marL="292100" indent="-292100">
              <a:lnSpc>
                <a:spcPts val="672"/>
              </a:lnSpc>
              <a:spcAft>
                <a:spcPts val="420"/>
              </a:spcAft>
            </a:pPr>
            <a:r>
              <a:rPr lang="en-US" b="1" sz="500">
                <a:solidFill>
                  <a:srgbClr val="333333"/>
                </a:solidFill>
                <a:latin typeface="Tahoma"/>
              </a:rPr>
              <a:t>8.</a:t>
            </a:r>
            <a:r>
              <a:rPr lang="en-US" sz="500" spc="50">
                <a:solidFill>
                  <a:srgbClr val="333333"/>
                </a:solidFill>
                <a:latin typeface="Tahoma"/>
              </a:rPr>
              <a:t>    IF YOU DISAGREE WITH THE CONTENTS OF THIS ACCOUNT, PLEASE NOTIFY THE CHIEF FINANCIAL OFFICER IN WRITING, WITHIN A PERIOD OF 7 DAYS AFTER STATEMENT DATE.</a:t>
            </a:r>
          </a:p>
          <a:p>
            <a:pPr marL="292100" indent="-292100">
              <a:lnSpc>
                <a:spcPts val="672"/>
              </a:lnSpc>
            </a:pPr>
            <a:r>
              <a:rPr lang="en-US" b="1" sz="500">
                <a:solidFill>
                  <a:srgbClr val="333333"/>
                </a:solidFill>
                <a:latin typeface="Tahoma"/>
              </a:rPr>
              <a:t>9.</a:t>
            </a:r>
            <a:r>
              <a:rPr lang="en-US" sz="500" spc="50">
                <a:solidFill>
                  <a:srgbClr val="333333"/>
                </a:solidFill>
                <a:latin typeface="Tahoma"/>
              </a:rPr>
              <a:t>    NON-RECEIPT OF AN ACCOUNT DOES NOT EXEMPT ACCOUNT HOLDER FROM THE LIABILITY TO PAY ACCOUNT ON DUE DATE.</a:t>
            </a:r>
          </a:p>
        </p:txBody>
      </p:sp>
      <p:sp>
        <p:nvSpPr>
          <p:cNvPr id="6" name=""/>
          <p:cNvSpPr/>
          <p:nvPr/>
        </p:nvSpPr>
        <p:spPr>
          <a:xfrm>
            <a:off x="3493008" y="10518648"/>
            <a:ext cx="569976" cy="128016"/>
          </a:xfrm>
          <a:prstGeom prst="rect">
            <a:avLst/>
          </a:prstGeom>
        </p:spPr>
        <p:txBody>
          <a:bodyPr lIns="0" tIns="0" rIns="0" bIns="0" wrap="none">
            <a:noAutofit/>
          </a:bodyPr>
          <a:p>
            <a:pPr indent="0"/>
            <a:r>
              <a:rPr lang="en-US" sz="700" spc="50">
                <a:latin typeface="Tahoma"/>
              </a:rPr>
              <a:t>Page: 3 of 3</a:t>
            </a:r>
          </a:p>
        </p:txBody>
      </p:sp>
    </p:spTree>
  </p:cSld>
  <p:clrMapOvr>
    <a:overrideClrMapping bg1="lt1" tx1="dk1" bg2="lt2" tx2="dk2" accent1="accent1" accent2="accent2" accent3="accent3" accent4="accent4" accent5="accent5" accent6="accent6" hlink="hlink" folHlink="folHlink"/>
  </p:clrMapOvr>
</p:sld>
</file>

<file path=ppt/theme/theme.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